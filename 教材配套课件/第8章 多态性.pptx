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3" r:id="rId1"/>
    <p:sldMasterId id="2147484373" r:id="rId2"/>
  </p:sldMasterIdLst>
  <p:notesMasterIdLst>
    <p:notesMasterId r:id="rId59"/>
  </p:notesMasterIdLst>
  <p:handoutMasterIdLst>
    <p:handoutMasterId r:id="rId60"/>
  </p:handoutMasterIdLst>
  <p:sldIdLst>
    <p:sldId id="256" r:id="rId3"/>
    <p:sldId id="257" r:id="rId4"/>
    <p:sldId id="654" r:id="rId5"/>
    <p:sldId id="655" r:id="rId6"/>
    <p:sldId id="656" r:id="rId7"/>
    <p:sldId id="657" r:id="rId8"/>
    <p:sldId id="658" r:id="rId9"/>
    <p:sldId id="659" r:id="rId10"/>
    <p:sldId id="660" r:id="rId11"/>
    <p:sldId id="661" r:id="rId12"/>
    <p:sldId id="662" r:id="rId13"/>
    <p:sldId id="663" r:id="rId14"/>
    <p:sldId id="664" r:id="rId15"/>
    <p:sldId id="665" r:id="rId16"/>
    <p:sldId id="666" r:id="rId17"/>
    <p:sldId id="667" r:id="rId18"/>
    <p:sldId id="668" r:id="rId19"/>
    <p:sldId id="669" r:id="rId20"/>
    <p:sldId id="670" r:id="rId21"/>
    <p:sldId id="671" r:id="rId22"/>
    <p:sldId id="672" r:id="rId23"/>
    <p:sldId id="673" r:id="rId24"/>
    <p:sldId id="674" r:id="rId25"/>
    <p:sldId id="675" r:id="rId26"/>
    <p:sldId id="676" r:id="rId27"/>
    <p:sldId id="677" r:id="rId28"/>
    <p:sldId id="678" r:id="rId29"/>
    <p:sldId id="679" r:id="rId30"/>
    <p:sldId id="593" r:id="rId31"/>
    <p:sldId id="626" r:id="rId32"/>
    <p:sldId id="550" r:id="rId33"/>
    <p:sldId id="551" r:id="rId34"/>
    <p:sldId id="604" r:id="rId35"/>
    <p:sldId id="624" r:id="rId36"/>
    <p:sldId id="645" r:id="rId37"/>
    <p:sldId id="646" r:id="rId38"/>
    <p:sldId id="647" r:id="rId39"/>
    <p:sldId id="648" r:id="rId40"/>
    <p:sldId id="649" r:id="rId41"/>
    <p:sldId id="650" r:id="rId42"/>
    <p:sldId id="553" r:id="rId43"/>
    <p:sldId id="599" r:id="rId44"/>
    <p:sldId id="639" r:id="rId45"/>
    <p:sldId id="641" r:id="rId46"/>
    <p:sldId id="557" r:id="rId47"/>
    <p:sldId id="558" r:id="rId48"/>
    <p:sldId id="651" r:id="rId49"/>
    <p:sldId id="652" r:id="rId50"/>
    <p:sldId id="653" r:id="rId51"/>
    <p:sldId id="629" r:id="rId52"/>
    <p:sldId id="630" r:id="rId53"/>
    <p:sldId id="631" r:id="rId54"/>
    <p:sldId id="632" r:id="rId55"/>
    <p:sldId id="633" r:id="rId56"/>
    <p:sldId id="635" r:id="rId57"/>
    <p:sldId id="587" r:id="rId58"/>
  </p:sldIdLst>
  <p:sldSz cx="12195175" cy="6858000"/>
  <p:notesSz cx="7099300" cy="10234613"/>
  <p:defaultTex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3399"/>
    <a:srgbClr val="85FFFF"/>
    <a:srgbClr val="FFFF66"/>
    <a:srgbClr val="CCFFCC"/>
    <a:srgbClr val="66FFCC"/>
    <a:srgbClr val="00CC99"/>
    <a:srgbClr val="009999"/>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0012" autoAdjust="0"/>
  </p:normalViewPr>
  <p:slideViewPr>
    <p:cSldViewPr>
      <p:cViewPr varScale="1">
        <p:scale>
          <a:sx n="99" d="100"/>
          <a:sy n="99" d="100"/>
        </p:scale>
        <p:origin x="912" y="72"/>
      </p:cViewPr>
      <p:guideLst>
        <p:guide orient="horz" pos="2160"/>
        <p:guide pos="3841"/>
      </p:guideLst>
    </p:cSldViewPr>
  </p:slideViewPr>
  <p:outlineViewPr>
    <p:cViewPr>
      <p:scale>
        <a:sx n="33" d="100"/>
        <a:sy n="33" d="100"/>
      </p:scale>
      <p:origin x="0" y="0"/>
    </p:cViewPr>
  </p:outlineViewPr>
  <p:notesTextViewPr>
    <p:cViewPr>
      <p:scale>
        <a:sx n="150" d="100"/>
        <a:sy n="150" d="100"/>
      </p:scale>
      <p:origin x="0" y="0"/>
    </p:cViewPr>
  </p:notesTextViewPr>
  <p:sorterViewPr>
    <p:cViewPr varScale="1">
      <p:scale>
        <a:sx n="1" d="1"/>
        <a:sy n="1" d="1"/>
      </p:scale>
      <p:origin x="0" y="-11760"/>
    </p:cViewPr>
  </p:sorterViewPr>
  <p:notesViewPr>
    <p:cSldViewPr>
      <p:cViewPr>
        <p:scale>
          <a:sx n="100" d="100"/>
          <a:sy n="100" d="100"/>
        </p:scale>
        <p:origin x="-1008" y="2045"/>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defTabSz="990600">
              <a:defRPr sz="1300"/>
            </a:lvl1pPr>
          </a:lstStyle>
          <a:p>
            <a:pPr>
              <a:defRPr/>
            </a:pPr>
            <a:endParaRPr lang="en-US" altLang="zh-CN"/>
          </a:p>
        </p:txBody>
      </p:sp>
      <p:sp>
        <p:nvSpPr>
          <p:cNvPr id="84995" name="Rectangle 3"/>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algn="r" defTabSz="990600">
              <a:defRPr sz="1300"/>
            </a:lvl1pPr>
          </a:lstStyle>
          <a:p>
            <a:pPr>
              <a:defRPr/>
            </a:pPr>
            <a:endParaRPr lang="en-US" altLang="zh-CN"/>
          </a:p>
        </p:txBody>
      </p:sp>
      <p:sp>
        <p:nvSpPr>
          <p:cNvPr id="84996" name="Rectangle 4"/>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defTabSz="990600">
              <a:defRPr sz="1300"/>
            </a:lvl1pPr>
          </a:lstStyle>
          <a:p>
            <a:pPr>
              <a:defRPr/>
            </a:pPr>
            <a:endParaRPr lang="en-US" altLang="zh-CN"/>
          </a:p>
        </p:txBody>
      </p:sp>
      <p:sp>
        <p:nvSpPr>
          <p:cNvPr id="84997" name="Rectangle 5"/>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algn="r" defTabSz="990600">
              <a:defRPr sz="1300"/>
            </a:lvl1pPr>
          </a:lstStyle>
          <a:p>
            <a:fld id="{14D005BF-63A0-4483-8FAD-880F52E6CAF4}" type="slidenum">
              <a:rPr lang="en-US" altLang="zh-CN"/>
              <a:pPr/>
              <a:t>‹#›</a:t>
            </a:fld>
            <a:endParaRPr lang="en-US" altLang="zh-CN"/>
          </a:p>
        </p:txBody>
      </p:sp>
    </p:spTree>
    <p:extLst>
      <p:ext uri="{BB962C8B-B14F-4D97-AF65-F5344CB8AC3E}">
        <p14:creationId xmlns:p14="http://schemas.microsoft.com/office/powerpoint/2010/main" val="8614600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defTabSz="990600">
              <a:defRPr sz="1300"/>
            </a:lvl1pPr>
          </a:lstStyle>
          <a:p>
            <a:pPr>
              <a:defRPr/>
            </a:pPr>
            <a:endParaRPr lang="en-US" altLang="zh-CN"/>
          </a:p>
        </p:txBody>
      </p:sp>
      <p:sp>
        <p:nvSpPr>
          <p:cNvPr id="27651" name="Rectangle 3"/>
          <p:cNvSpPr>
            <a:spLocks noGrp="1" noChangeArrowheads="1"/>
          </p:cNvSpPr>
          <p:nvPr>
            <p:ph type="dt" idx="1"/>
          </p:nvPr>
        </p:nvSpPr>
        <p:spPr bwMode="auto">
          <a:xfrm>
            <a:off x="4022725"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algn="r" defTabSz="990600">
              <a:defRPr sz="1300"/>
            </a:lvl1pPr>
          </a:lstStyle>
          <a:p>
            <a:pPr>
              <a:defRPr/>
            </a:pPr>
            <a:endParaRPr lang="en-US" altLang="zh-CN"/>
          </a:p>
        </p:txBody>
      </p:sp>
      <p:sp>
        <p:nvSpPr>
          <p:cNvPr id="52228" name="Rectangle 4"/>
          <p:cNvSpPr>
            <a:spLocks noGrp="1" noRot="1" noChangeAspect="1" noChangeArrowheads="1" noTextEdit="1"/>
          </p:cNvSpPr>
          <p:nvPr>
            <p:ph type="sldImg" idx="2"/>
          </p:nvPr>
        </p:nvSpPr>
        <p:spPr bwMode="auto">
          <a:xfrm>
            <a:off x="139700" y="768350"/>
            <a:ext cx="6821488"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p:cNvSpPr>
            <a:spLocks noGrp="1" noChangeArrowheads="1"/>
          </p:cNvSpPr>
          <p:nvPr>
            <p:ph type="body" sz="quarter" idx="3"/>
          </p:nvPr>
        </p:nvSpPr>
        <p:spPr bwMode="auto">
          <a:xfrm>
            <a:off x="946150" y="4860925"/>
            <a:ext cx="5207000" cy="4605338"/>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p:cNvSpPr>
            <a:spLocks noGrp="1" noChangeArrowheads="1"/>
          </p:cNvSpPr>
          <p:nvPr>
            <p:ph type="ftr" sz="quarter" idx="4"/>
          </p:nvPr>
        </p:nvSpPr>
        <p:spPr bwMode="auto">
          <a:xfrm>
            <a:off x="0"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defTabSz="990600">
              <a:defRPr sz="1300"/>
            </a:lvl1pPr>
          </a:lstStyle>
          <a:p>
            <a:pPr>
              <a:defRPr/>
            </a:pPr>
            <a:endParaRPr lang="en-US" altLang="zh-CN"/>
          </a:p>
        </p:txBody>
      </p:sp>
      <p:sp>
        <p:nvSpPr>
          <p:cNvPr id="27655" name="Rectangle 7"/>
          <p:cNvSpPr>
            <a:spLocks noGrp="1" noChangeArrowheads="1"/>
          </p:cNvSpPr>
          <p:nvPr>
            <p:ph type="sldNum" sz="quarter" idx="5"/>
          </p:nvPr>
        </p:nvSpPr>
        <p:spPr bwMode="auto">
          <a:xfrm>
            <a:off x="4022725"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algn="r" defTabSz="990600">
              <a:defRPr sz="1300"/>
            </a:lvl1pPr>
          </a:lstStyle>
          <a:p>
            <a:fld id="{A4F75F4E-4E28-4180-82AE-D5E2C76DB5F5}" type="slidenum">
              <a:rPr lang="en-US" altLang="zh-CN"/>
              <a:pPr/>
              <a:t>‹#›</a:t>
            </a:fld>
            <a:endParaRPr lang="en-US" altLang="zh-CN"/>
          </a:p>
        </p:txBody>
      </p:sp>
    </p:spTree>
    <p:extLst>
      <p:ext uri="{BB962C8B-B14F-4D97-AF65-F5344CB8AC3E}">
        <p14:creationId xmlns:p14="http://schemas.microsoft.com/office/powerpoint/2010/main" val="13909142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46F37AC3-9007-4534-9020-DB13AD50D18C}" type="slidenum">
              <a:rPr lang="en-US" altLang="zh-CN" sz="1300"/>
              <a:pPr eaLnBrk="1" hangingPunct="1"/>
              <a:t>1</a:t>
            </a:fld>
            <a:endParaRPr lang="en-US" altLang="zh-CN" sz="130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2734788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E3C47A15-DD77-4E1B-9CD1-9D31DADE6B5D}" type="slidenum">
              <a:rPr lang="en-US" altLang="zh-CN" sz="1300"/>
              <a:pPr eaLnBrk="1" hangingPunct="1"/>
              <a:t>2</a:t>
            </a:fld>
            <a:endParaRPr lang="en-US" altLang="zh-CN" sz="1300"/>
          </a:p>
        </p:txBody>
      </p:sp>
      <p:sp>
        <p:nvSpPr>
          <p:cNvPr id="54275" name="Rectangle 2"/>
          <p:cNvSpPr>
            <a:spLocks noGrp="1" noRot="1" noChangeAspect="1" noChangeArrowheads="1" noTextEdit="1"/>
          </p:cNvSpPr>
          <p:nvPr>
            <p:ph type="sldImg"/>
          </p:nvPr>
        </p:nvSpPr>
        <p:spPr>
          <a:ln/>
        </p:spPr>
      </p:sp>
      <p:sp>
        <p:nvSpPr>
          <p:cNvPr id="5427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42111889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A4F75F4E-4E28-4180-82AE-D5E2C76DB5F5}" type="slidenum">
              <a:rPr kumimoji="1" lang="en-US" altLang="zh-CN" sz="1300" b="0" i="0" u="none" strike="noStrike" kern="1200" cap="none" spc="0" normalizeH="0" baseline="0" noProof="0" smtClean="0">
                <a:ln>
                  <a:noFill/>
                </a:ln>
                <a:solidFill>
                  <a:srgbClr val="000000"/>
                </a:solidFill>
                <a:effectLst/>
                <a:uLnTx/>
                <a:uFillTx/>
                <a:latin typeface="Times New Roman" panose="02020603050405020304" pitchFamily="18" charset="0"/>
                <a:ea typeface="隶书" panose="02010509060101010101" pitchFamily="49"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9</a:t>
            </a:fld>
            <a:endPar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1909027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5632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r" defTabSz="990600" rtl="0" eaLnBrk="1" fontAlgn="base" latinLnBrk="0" hangingPunct="1">
              <a:lnSpc>
                <a:spcPct val="100000"/>
              </a:lnSpc>
              <a:spcBef>
                <a:spcPct val="0"/>
              </a:spcBef>
              <a:spcAft>
                <a:spcPct val="0"/>
              </a:spcAft>
              <a:buClrTx/>
              <a:buSzTx/>
              <a:buFontTx/>
              <a:buNone/>
              <a:tabLst/>
              <a:defRPr/>
            </a:pPr>
            <a:fld id="{EACE0218-00D6-46C9-B9D2-902DC86FCF71}" type="slidenum">
              <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16</a:t>
            </a:fld>
            <a:endPar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2906694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ln/>
        </p:spPr>
      </p:sp>
      <p:sp>
        <p:nvSpPr>
          <p:cNvPr id="5734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5734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r" defTabSz="990600" rtl="0" eaLnBrk="1" fontAlgn="base" latinLnBrk="0" hangingPunct="1">
              <a:lnSpc>
                <a:spcPct val="100000"/>
              </a:lnSpc>
              <a:spcBef>
                <a:spcPct val="0"/>
              </a:spcBef>
              <a:spcAft>
                <a:spcPct val="0"/>
              </a:spcAft>
              <a:buClrTx/>
              <a:buSzTx/>
              <a:buFontTx/>
              <a:buNone/>
              <a:tabLst/>
              <a:defRPr/>
            </a:pPr>
            <a:fld id="{519C58C8-6105-4E7D-ACA7-E2E5C92F8C04}" type="slidenum">
              <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26</a:t>
            </a:fld>
            <a:endPar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30049171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a:ln/>
        </p:spPr>
      </p:sp>
      <p:sp>
        <p:nvSpPr>
          <p:cNvPr id="5837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a:p>
        </p:txBody>
      </p:sp>
      <p:sp>
        <p:nvSpPr>
          <p:cNvPr id="5837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DEB3A051-F227-43DF-9645-1C32A2B27266}" type="slidenum">
              <a:rPr lang="en-US" altLang="zh-CN" sz="1300"/>
              <a:pPr eaLnBrk="1" hangingPunct="1"/>
              <a:t>33</a:t>
            </a:fld>
            <a:endParaRPr lang="en-US" altLang="zh-CN" sz="1300"/>
          </a:p>
        </p:txBody>
      </p:sp>
    </p:spTree>
    <p:extLst>
      <p:ext uri="{BB962C8B-B14F-4D97-AF65-F5344CB8AC3E}">
        <p14:creationId xmlns:p14="http://schemas.microsoft.com/office/powerpoint/2010/main" val="1381586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a:ln/>
        </p:spPr>
      </p:sp>
      <p:sp>
        <p:nvSpPr>
          <p:cNvPr id="5939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5939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925BA086-E91A-47A3-839B-9BF14561243C}" type="slidenum">
              <a:rPr lang="en-US" altLang="zh-CN" sz="1300"/>
              <a:pPr eaLnBrk="1" hangingPunct="1"/>
              <a:t>36</a:t>
            </a:fld>
            <a:endParaRPr lang="en-US" altLang="zh-CN" sz="1300"/>
          </a:p>
        </p:txBody>
      </p:sp>
    </p:spTree>
    <p:extLst>
      <p:ext uri="{BB962C8B-B14F-4D97-AF65-F5344CB8AC3E}">
        <p14:creationId xmlns:p14="http://schemas.microsoft.com/office/powerpoint/2010/main" val="19324213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a:ln/>
        </p:spPr>
      </p:sp>
      <p:sp>
        <p:nvSpPr>
          <p:cNvPr id="6144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6144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1B292483-6DA6-4E09-B6C2-D8B9D3965E70}" type="slidenum">
              <a:rPr lang="en-US" altLang="zh-CN" sz="1300"/>
              <a:pPr eaLnBrk="1" hangingPunct="1"/>
              <a:t>46</a:t>
            </a:fld>
            <a:endParaRPr lang="en-US" altLang="zh-CN" sz="1300"/>
          </a:p>
        </p:txBody>
      </p:sp>
    </p:spTree>
    <p:extLst>
      <p:ext uri="{BB962C8B-B14F-4D97-AF65-F5344CB8AC3E}">
        <p14:creationId xmlns:p14="http://schemas.microsoft.com/office/powerpoint/2010/main" val="292608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6042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FF5E1B04-1344-455A-8E0B-44353461F47B}" type="slidenum">
              <a:rPr lang="en-US" altLang="zh-CN" sz="1300"/>
              <a:pPr eaLnBrk="1" hangingPunct="1"/>
              <a:t>47</a:t>
            </a:fld>
            <a:endParaRPr lang="en-US" altLang="zh-CN" sz="1300"/>
          </a:p>
        </p:txBody>
      </p:sp>
    </p:spTree>
    <p:extLst>
      <p:ext uri="{BB962C8B-B14F-4D97-AF65-F5344CB8AC3E}">
        <p14:creationId xmlns:p14="http://schemas.microsoft.com/office/powerpoint/2010/main" val="2638870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6042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FF5E1B04-1344-455A-8E0B-44353461F47B}" type="slidenum">
              <a:rPr lang="en-US" altLang="zh-CN" sz="1300"/>
              <a:pPr eaLnBrk="1" hangingPunct="1"/>
              <a:t>48</a:t>
            </a:fld>
            <a:endParaRPr lang="en-US" altLang="zh-CN" sz="1300"/>
          </a:p>
        </p:txBody>
      </p:sp>
    </p:spTree>
    <p:extLst>
      <p:ext uri="{BB962C8B-B14F-4D97-AF65-F5344CB8AC3E}">
        <p14:creationId xmlns:p14="http://schemas.microsoft.com/office/powerpoint/2010/main" val="23592548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4F75F4E-4E28-4180-82AE-D5E2C76DB5F5}" type="slidenum">
              <a:rPr lang="en-US" altLang="zh-CN" smtClean="0"/>
              <a:pPr/>
              <a:t>50</a:t>
            </a:fld>
            <a:endParaRPr lang="en-US" altLang="zh-CN"/>
          </a:p>
        </p:txBody>
      </p:sp>
    </p:spTree>
    <p:extLst>
      <p:ext uri="{BB962C8B-B14F-4D97-AF65-F5344CB8AC3E}">
        <p14:creationId xmlns:p14="http://schemas.microsoft.com/office/powerpoint/2010/main" val="2382062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F75F4E-4E28-4180-82AE-D5E2C76DB5F5}" type="slidenum">
              <a:rPr lang="en-US" altLang="zh-CN" smtClean="0"/>
              <a:pPr/>
              <a:t>51</a:t>
            </a:fld>
            <a:endParaRPr lang="en-US" altLang="zh-CN"/>
          </a:p>
        </p:txBody>
      </p:sp>
    </p:spTree>
    <p:extLst>
      <p:ext uri="{BB962C8B-B14F-4D97-AF65-F5344CB8AC3E}">
        <p14:creationId xmlns:p14="http://schemas.microsoft.com/office/powerpoint/2010/main" val="11774401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dirty="0"/>
          </a:p>
        </p:txBody>
      </p:sp>
      <p:sp>
        <p:nvSpPr>
          <p:cNvPr id="6246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0AA7F032-7F13-471C-8D5A-F59D7CBF42CF}" type="slidenum">
              <a:rPr lang="en-US" altLang="zh-CN" sz="1300"/>
              <a:pPr eaLnBrk="1" hangingPunct="1"/>
              <a:t>56</a:t>
            </a:fld>
            <a:endParaRPr lang="en-US" altLang="zh-CN" sz="1300"/>
          </a:p>
        </p:txBody>
      </p:sp>
    </p:spTree>
    <p:extLst>
      <p:ext uri="{BB962C8B-B14F-4D97-AF65-F5344CB8AC3E}">
        <p14:creationId xmlns:p14="http://schemas.microsoft.com/office/powerpoint/2010/main" val="14705706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Picture 4" descr="E:\GLR_www\PPT\郑莉老师PPT\C++简单程序设计00.jpg">
            <a:extLst>
              <a:ext uri="{FF2B5EF4-FFF2-40B4-BE49-F238E27FC236}">
                <a16:creationId xmlns:a16="http://schemas.microsoft.com/office/drawing/2014/main" id="{125C1A51-9C54-423E-9761-81BFEC0AC55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5175"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7">
            <a:extLst>
              <a:ext uri="{FF2B5EF4-FFF2-40B4-BE49-F238E27FC236}">
                <a16:creationId xmlns:a16="http://schemas.microsoft.com/office/drawing/2014/main" id="{6E0B19F5-F941-4D51-9CFE-9E74E528CFB4}"/>
              </a:ext>
            </a:extLst>
          </p:cNvPr>
          <p:cNvSpPr>
            <a:spLocks noGrp="1"/>
          </p:cNvSpPr>
          <p:nvPr>
            <p:ph type="ctrTitle"/>
          </p:nvPr>
        </p:nvSpPr>
        <p:spPr>
          <a:xfrm>
            <a:off x="457319" y="2205658"/>
            <a:ext cx="11280537" cy="1470366"/>
          </a:xfrm>
        </p:spPr>
        <p:txBody>
          <a:bodyPr anchor="b"/>
          <a:lstStyle>
            <a:lvl1pPr algn="ctr">
              <a:defRPr sz="4400">
                <a:solidFill>
                  <a:schemeClr val="bg1"/>
                </a:solidFill>
              </a:defRPr>
            </a:lvl1pPr>
          </a:lstStyle>
          <a:p>
            <a:r>
              <a:rPr lang="zh-CN" altLang="en-US" dirty="0"/>
              <a:t>单击此处编辑母版标题样式</a:t>
            </a:r>
            <a:endParaRPr lang="en-US" dirty="0"/>
          </a:p>
        </p:txBody>
      </p:sp>
      <p:sp>
        <p:nvSpPr>
          <p:cNvPr id="6" name="副标题 8">
            <a:extLst>
              <a:ext uri="{FF2B5EF4-FFF2-40B4-BE49-F238E27FC236}">
                <a16:creationId xmlns:a16="http://schemas.microsoft.com/office/drawing/2014/main" id="{7A55050D-62F2-40E6-8F20-C8DDEE8F45F1}"/>
              </a:ext>
            </a:extLst>
          </p:cNvPr>
          <p:cNvSpPr>
            <a:spLocks noGrp="1"/>
          </p:cNvSpPr>
          <p:nvPr>
            <p:ph type="subTitle" idx="1"/>
          </p:nvPr>
        </p:nvSpPr>
        <p:spPr>
          <a:xfrm>
            <a:off x="2794727" y="4053053"/>
            <a:ext cx="6605720" cy="1753005"/>
          </a:xfrm>
        </p:spPr>
        <p:txBody>
          <a:bodyPr/>
          <a:lstStyle>
            <a:lvl1pPr marL="0" indent="0" algn="ctr">
              <a:buNone/>
              <a:defRPr sz="2400">
                <a:solidFill>
                  <a:schemeClr val="bg1"/>
                </a:solidFill>
                <a:latin typeface="宋体" panose="02010600030101010101" pitchFamily="2" charset="-122"/>
                <a:ea typeface="宋体" panose="02010600030101010101" pitchFamily="2" charset="-122"/>
              </a:defRPr>
            </a:lvl1pPr>
            <a:lvl2pPr marL="609265" indent="0" algn="ctr">
              <a:buNone/>
            </a:lvl2pPr>
            <a:lvl3pPr marL="1218529" indent="0" algn="ctr">
              <a:buNone/>
            </a:lvl3pPr>
            <a:lvl4pPr marL="1827794" indent="0" algn="ctr">
              <a:buNone/>
            </a:lvl4pPr>
            <a:lvl5pPr marL="2437059" indent="0" algn="ctr">
              <a:buNone/>
            </a:lvl5pPr>
            <a:lvl6pPr marL="3046324" indent="0" algn="ctr">
              <a:buNone/>
            </a:lvl6pPr>
            <a:lvl7pPr marL="3655588" indent="0" algn="ctr">
              <a:buNone/>
            </a:lvl7pPr>
            <a:lvl8pPr marL="4264853" indent="0" algn="ctr">
              <a:buNone/>
            </a:lvl8pPr>
            <a:lvl9pPr marL="4874118" indent="0" algn="ctr">
              <a:buNone/>
            </a:lvl9pPr>
          </a:lstStyle>
          <a:p>
            <a:r>
              <a:rPr lang="zh-CN" altLang="en-US" dirty="0"/>
              <a:t>单击此处编辑母版副标题样式</a:t>
            </a:r>
            <a:endParaRPr lang="en-US" dirty="0"/>
          </a:p>
        </p:txBody>
      </p:sp>
    </p:spTree>
    <p:extLst>
      <p:ext uri="{BB962C8B-B14F-4D97-AF65-F5344CB8AC3E}">
        <p14:creationId xmlns:p14="http://schemas.microsoft.com/office/powerpoint/2010/main" val="702092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52736"/>
            <a:ext cx="10975975" cy="1066800"/>
          </a:xfrm>
        </p:spPr>
        <p:txBody>
          <a:bodyPr/>
          <a:lstStyle/>
          <a:p>
            <a:r>
              <a:rPr lang="zh-CN" altLang="en-US" dirty="0"/>
              <a:t>单击此处编辑母版标题样式</a:t>
            </a:r>
            <a:endParaRPr lang="en-US" dirty="0"/>
          </a:p>
        </p:txBody>
      </p:sp>
      <p:sp>
        <p:nvSpPr>
          <p:cNvPr id="3" name="内容占位符 2"/>
          <p:cNvSpPr>
            <a:spLocks noGrp="1"/>
          </p:cNvSpPr>
          <p:nvPr>
            <p:ph idx="1"/>
          </p:nvPr>
        </p:nvSpPr>
        <p:spPr>
          <a:xfrm>
            <a:off x="609600" y="2276872"/>
            <a:ext cx="10975975" cy="4296966"/>
          </a:xfrm>
        </p:spPr>
        <p:txBody>
          <a:bodyPr/>
          <a:lstStyle>
            <a:lvl1pPr>
              <a:defRPr sz="2800"/>
            </a:lvl1pPr>
            <a:lvl2pPr>
              <a:defRPr sz="2400"/>
            </a:lvl2pPr>
            <a:lvl3pPr>
              <a:defRPr sz="1600"/>
            </a:lvl3pPr>
            <a:lvl4pPr>
              <a:defRPr sz="1400"/>
            </a:lvl4pPr>
            <a:lvl5pPr>
              <a:defRPr sz="12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灯片编号占位符 1">
            <a:extLst>
              <a:ext uri="{FF2B5EF4-FFF2-40B4-BE49-F238E27FC236}">
                <a16:creationId xmlns:a16="http://schemas.microsoft.com/office/drawing/2014/main" id="{AEB9DC7D-2E97-42E1-A0AE-7EDB51B51D3A}"/>
              </a:ext>
            </a:extLst>
          </p:cNvPr>
          <p:cNvSpPr>
            <a:spLocks noGrp="1"/>
          </p:cNvSpPr>
          <p:nvPr>
            <p:ph type="sldNum" sz="quarter" idx="4"/>
          </p:nvPr>
        </p:nvSpPr>
        <p:spPr>
          <a:xfrm>
            <a:off x="9232901" y="23978"/>
            <a:ext cx="2744787" cy="365125"/>
          </a:xfrm>
          <a:prstGeom prst="rect">
            <a:avLst/>
          </a:prstGeom>
        </p:spPr>
        <p:txBody>
          <a:bodyPr vert="horz" lIns="91440" tIns="45720" rIns="91440" bIns="45720" rtlCol="0" anchor="ctr"/>
          <a:lstStyle>
            <a:lvl1pPr algn="r">
              <a:defRPr sz="1800">
                <a:solidFill>
                  <a:schemeClr val="bg1"/>
                </a:solidFill>
              </a:defRPr>
            </a:lvl1pPr>
          </a:lstStyle>
          <a:p>
            <a:fld id="{C42A670E-4250-4C14-8323-982480E0B347}" type="slidenum">
              <a:rPr lang="zh-CN" altLang="en-US" smtClean="0"/>
              <a:pPr/>
              <a:t>‹#›</a:t>
            </a:fld>
            <a:endParaRPr lang="zh-CN" altLang="en-US"/>
          </a:p>
        </p:txBody>
      </p:sp>
    </p:spTree>
    <p:extLst>
      <p:ext uri="{BB962C8B-B14F-4D97-AF65-F5344CB8AC3E}">
        <p14:creationId xmlns:p14="http://schemas.microsoft.com/office/powerpoint/2010/main" val="3609134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13FC3A1A-9493-4DA0-A959-3E184EFFF96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2870"/>
            <a:ext cx="12195176"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a:xfrm>
            <a:off x="2353171" y="44624"/>
            <a:ext cx="9232404" cy="864096"/>
          </a:xfrm>
        </p:spPr>
        <p:txBody>
          <a:bodyPr/>
          <a:lstStyle>
            <a:lvl1pPr>
              <a:defRPr sz="3600">
                <a:solidFill>
                  <a:schemeClr val="tx1"/>
                </a:solidFill>
              </a:defRPr>
            </a:lvl1pPr>
          </a:lstStyle>
          <a:p>
            <a:r>
              <a:rPr lang="zh-CN" altLang="en-US" dirty="0"/>
              <a:t>单击此处编辑母版标题样式</a:t>
            </a:r>
            <a:endParaRPr lang="en-US" dirty="0"/>
          </a:p>
        </p:txBody>
      </p:sp>
      <p:sp>
        <p:nvSpPr>
          <p:cNvPr id="3" name="内容占位符 2"/>
          <p:cNvSpPr>
            <a:spLocks noGrp="1"/>
          </p:cNvSpPr>
          <p:nvPr>
            <p:ph idx="1"/>
          </p:nvPr>
        </p:nvSpPr>
        <p:spPr>
          <a:xfrm>
            <a:off x="2353171" y="1196752"/>
            <a:ext cx="9232404" cy="5377086"/>
          </a:xfrm>
        </p:spPr>
        <p:txBody>
          <a:bodyPr/>
          <a:lstStyle>
            <a:lvl1pPr marL="109537" indent="0">
              <a:spcBef>
                <a:spcPts val="0"/>
              </a:spcBef>
              <a:buNone/>
              <a:defRPr sz="2400"/>
            </a:lvl1pPr>
            <a:lvl2pPr marL="411162" indent="0">
              <a:spcBef>
                <a:spcPts val="0"/>
              </a:spcBef>
              <a:buNone/>
              <a:defRPr sz="2000"/>
            </a:lvl2pPr>
            <a:lvl3pPr marL="703263" indent="0">
              <a:spcBef>
                <a:spcPts val="0"/>
              </a:spcBef>
              <a:buNone/>
              <a:defRPr sz="1400"/>
            </a:lvl3pPr>
            <a:lvl4pPr marL="979488" indent="0">
              <a:spcBef>
                <a:spcPts val="0"/>
              </a:spcBef>
              <a:buNone/>
              <a:defRPr sz="1200"/>
            </a:lvl4pPr>
            <a:lvl5pPr marL="1206500" indent="0">
              <a:spcBef>
                <a:spcPts val="0"/>
              </a:spcBef>
              <a:buNone/>
              <a:defRPr sz="11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TextBox 17">
            <a:extLst>
              <a:ext uri="{FF2B5EF4-FFF2-40B4-BE49-F238E27FC236}">
                <a16:creationId xmlns:a16="http://schemas.microsoft.com/office/drawing/2014/main" id="{4E5FA296-6109-4A85-983B-E6C2CF3B7C9E}"/>
              </a:ext>
            </a:extLst>
          </p:cNvPr>
          <p:cNvSpPr txBox="1">
            <a:spLocks noChangeArrowheads="1"/>
          </p:cNvSpPr>
          <p:nvPr userDrawn="1"/>
        </p:nvSpPr>
        <p:spPr bwMode="auto">
          <a:xfrm>
            <a:off x="8689975" y="6597650"/>
            <a:ext cx="3287713" cy="261938"/>
          </a:xfrm>
          <a:prstGeom prst="rect">
            <a:avLst/>
          </a:prstGeom>
          <a:noFill/>
          <a:ln w="9525">
            <a:noFill/>
            <a:miter lim="800000"/>
            <a:headEnd/>
            <a:tailEnd/>
          </a:ln>
        </p:spPr>
        <p:txBody>
          <a:bodyPr>
            <a:spAutoFit/>
          </a:bodyPr>
          <a:lstStyle/>
          <a:p>
            <a:pPr>
              <a:defRPr/>
            </a:pPr>
            <a:r>
              <a:rPr lang="en-US" altLang="zh-CN" sz="1100" dirty="0">
                <a:latin typeface="微软雅黑" pitchFamily="34" charset="-122"/>
                <a:ea typeface="微软雅黑" pitchFamily="34" charset="-122"/>
              </a:rPr>
              <a:t>C++</a:t>
            </a:r>
            <a:r>
              <a:rPr lang="zh-CN" altLang="en-US" sz="1100" dirty="0">
                <a:latin typeface="微软雅黑" pitchFamily="34" charset="-122"/>
                <a:ea typeface="微软雅黑" pitchFamily="34" charset="-122"/>
              </a:rPr>
              <a:t>语言程序设计（第</a:t>
            </a:r>
            <a:r>
              <a:rPr lang="en-US" altLang="zh-CN" sz="1100" dirty="0">
                <a:latin typeface="微软雅黑" pitchFamily="34" charset="-122"/>
                <a:ea typeface="微软雅黑" pitchFamily="34" charset="-122"/>
              </a:rPr>
              <a:t>5</a:t>
            </a:r>
            <a:r>
              <a:rPr lang="zh-CN" altLang="en-US" sz="1100" dirty="0">
                <a:latin typeface="微软雅黑" pitchFamily="34" charset="-122"/>
                <a:ea typeface="微软雅黑" pitchFamily="34" charset="-122"/>
              </a:rPr>
              <a:t>版），郑莉，清华大学</a:t>
            </a:r>
          </a:p>
        </p:txBody>
      </p:sp>
    </p:spTree>
    <p:extLst>
      <p:ext uri="{BB962C8B-B14F-4D97-AF65-F5344CB8AC3E}">
        <p14:creationId xmlns:p14="http://schemas.microsoft.com/office/powerpoint/2010/main" val="2429179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1981201"/>
            <a:ext cx="10365899" cy="1362075"/>
          </a:xfrm>
        </p:spPr>
        <p:txBody>
          <a:bodyPr anchor="b">
            <a:noAutofit/>
          </a:bodyPr>
          <a:lstStyle>
            <a:lvl1pPr algn="l">
              <a:buNone/>
              <a:defRPr sz="4400" b="0"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zh-CN" altLang="en-US" dirty="0"/>
              <a:t>单击此处编辑母版标题样式</a:t>
            </a:r>
            <a:endParaRPr lang="en-US" dirty="0"/>
          </a:p>
        </p:txBody>
      </p:sp>
      <p:sp>
        <p:nvSpPr>
          <p:cNvPr id="3" name="文本占位符 2"/>
          <p:cNvSpPr>
            <a:spLocks noGrp="1"/>
          </p:cNvSpPr>
          <p:nvPr>
            <p:ph type="body" idx="1"/>
          </p:nvPr>
        </p:nvSpPr>
        <p:spPr>
          <a:xfrm>
            <a:off x="963335" y="3367088"/>
            <a:ext cx="10365899"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灯片编号占位符 1">
            <a:extLst>
              <a:ext uri="{FF2B5EF4-FFF2-40B4-BE49-F238E27FC236}">
                <a16:creationId xmlns:a16="http://schemas.microsoft.com/office/drawing/2014/main" id="{DE4C8DBC-6471-4E83-BE6E-311922CE3AB5}"/>
              </a:ext>
            </a:extLst>
          </p:cNvPr>
          <p:cNvSpPr>
            <a:spLocks noGrp="1"/>
          </p:cNvSpPr>
          <p:nvPr>
            <p:ph type="sldNum" sz="quarter" idx="4"/>
          </p:nvPr>
        </p:nvSpPr>
        <p:spPr>
          <a:xfrm>
            <a:off x="9232901" y="23978"/>
            <a:ext cx="2744787" cy="365125"/>
          </a:xfrm>
          <a:prstGeom prst="rect">
            <a:avLst/>
          </a:prstGeom>
        </p:spPr>
        <p:txBody>
          <a:bodyPr vert="horz" lIns="91440" tIns="45720" rIns="91440" bIns="45720" rtlCol="0" anchor="ctr"/>
          <a:lstStyle>
            <a:lvl1pPr algn="r">
              <a:defRPr sz="1800">
                <a:solidFill>
                  <a:schemeClr val="bg1"/>
                </a:solidFill>
              </a:defRPr>
            </a:lvl1pPr>
          </a:lstStyle>
          <a:p>
            <a:fld id="{C42A670E-4250-4C14-8323-982480E0B347}" type="slidenum">
              <a:rPr lang="zh-CN" altLang="en-US" smtClean="0"/>
              <a:pPr/>
              <a:t>‹#›</a:t>
            </a:fld>
            <a:endParaRPr lang="zh-CN" altLang="en-US"/>
          </a:p>
        </p:txBody>
      </p:sp>
    </p:spTree>
    <p:extLst>
      <p:ext uri="{BB962C8B-B14F-4D97-AF65-F5344CB8AC3E}">
        <p14:creationId xmlns:p14="http://schemas.microsoft.com/office/powerpoint/2010/main" val="1222699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609759" y="1785927"/>
            <a:ext cx="5386202"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内容占位符 3"/>
          <p:cNvSpPr>
            <a:spLocks noGrp="1"/>
          </p:cNvSpPr>
          <p:nvPr>
            <p:ph sz="half" idx="2"/>
          </p:nvPr>
        </p:nvSpPr>
        <p:spPr>
          <a:xfrm>
            <a:off x="6199214" y="1785927"/>
            <a:ext cx="5386202"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日期占位符 4"/>
          <p:cNvSpPr>
            <a:spLocks noGrp="1"/>
          </p:cNvSpPr>
          <p:nvPr>
            <p:ph type="dt" sz="half" idx="10"/>
          </p:nvPr>
        </p:nvSpPr>
        <p:spPr>
          <a:xfrm>
            <a:off x="8783638" y="612775"/>
            <a:ext cx="1277937" cy="457200"/>
          </a:xfrm>
          <a:prstGeom prst="rect">
            <a:avLst/>
          </a:prstGeom>
        </p:spPr>
        <p:txBody>
          <a:bodyPr/>
          <a:lstStyle>
            <a:lvl1pPr>
              <a:defRPr/>
            </a:lvl1pPr>
          </a:lstStyle>
          <a:p>
            <a:pPr>
              <a:defRPr/>
            </a:pPr>
            <a:endParaRPr lang="en-US" altLang="zh-CN"/>
          </a:p>
        </p:txBody>
      </p:sp>
      <p:sp>
        <p:nvSpPr>
          <p:cNvPr id="6" name="页脚占位符 5"/>
          <p:cNvSpPr>
            <a:spLocks noGrp="1"/>
          </p:cNvSpPr>
          <p:nvPr>
            <p:ph type="ftr" sz="quarter" idx="11"/>
          </p:nvPr>
        </p:nvSpPr>
        <p:spPr>
          <a:xfrm>
            <a:off x="7011988" y="612775"/>
            <a:ext cx="1768475" cy="457200"/>
          </a:xfrm>
          <a:prstGeom prst="rect">
            <a:avLst/>
          </a:prstGeom>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F800F21B-5F9E-4DB6-92EB-09A53204F80C}" type="slidenum">
              <a:rPr lang="en-US" altLang="zh-CN"/>
              <a:pPr/>
              <a:t>‹#›</a:t>
            </a:fld>
            <a:endParaRPr lang="en-US" altLang="zh-CN" dirty="0"/>
          </a:p>
        </p:txBody>
      </p:sp>
    </p:spTree>
    <p:extLst>
      <p:ext uri="{BB962C8B-B14F-4D97-AF65-F5344CB8AC3E}">
        <p14:creationId xmlns:p14="http://schemas.microsoft.com/office/powerpoint/2010/main" val="3031762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8133" y="428604"/>
            <a:ext cx="11178910" cy="1069848"/>
          </a:xfrm>
        </p:spPr>
        <p:txBody>
          <a:bodyPr/>
          <a:lstStyle>
            <a:lvl1pPr>
              <a:defRPr sz="4000" b="0" i="0" cap="none" baseline="0"/>
            </a:lvl1pPr>
          </a:lstStyle>
          <a:p>
            <a:r>
              <a:rPr lang="zh-CN" altLang="en-US"/>
              <a:t>单击此处编辑母版标题样式</a:t>
            </a:r>
            <a:endParaRPr lang="en-US"/>
          </a:p>
        </p:txBody>
      </p:sp>
      <p:sp>
        <p:nvSpPr>
          <p:cNvPr id="3" name="文本占位符 2"/>
          <p:cNvSpPr>
            <a:spLocks noGrp="1"/>
          </p:cNvSpPr>
          <p:nvPr>
            <p:ph type="body" idx="1"/>
          </p:nvPr>
        </p:nvSpPr>
        <p:spPr>
          <a:xfrm>
            <a:off x="508132" y="1500174"/>
            <a:ext cx="5390267"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6296607" y="1500174"/>
            <a:ext cx="5390437"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508132" y="1928803"/>
            <a:ext cx="5390267"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内容占位符 5"/>
          <p:cNvSpPr>
            <a:spLocks noGrp="1"/>
          </p:cNvSpPr>
          <p:nvPr>
            <p:ph sz="quarter" idx="4"/>
          </p:nvPr>
        </p:nvSpPr>
        <p:spPr>
          <a:xfrm>
            <a:off x="6292711" y="1928803"/>
            <a:ext cx="5390437"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灯片编号占位符 26"/>
          <p:cNvSpPr>
            <a:spLocks noGrp="1"/>
          </p:cNvSpPr>
          <p:nvPr>
            <p:ph type="sldNum" sz="quarter" idx="10"/>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E0689DF4-4FE6-446A-BFDF-E4B3A3A05BDC}" type="slidenum">
              <a:rPr lang="en-US" altLang="zh-CN"/>
              <a:pPr/>
              <a:t>‹#›</a:t>
            </a:fld>
            <a:endParaRPr lang="en-US" altLang="zh-CN"/>
          </a:p>
        </p:txBody>
      </p:sp>
    </p:spTree>
    <p:extLst>
      <p:ext uri="{BB962C8B-B14F-4D97-AF65-F5344CB8AC3E}">
        <p14:creationId xmlns:p14="http://schemas.microsoft.com/office/powerpoint/2010/main" val="2261318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1143000"/>
            <a:ext cx="10975658" cy="1069848"/>
          </a:xfrm>
        </p:spPr>
        <p:txBody>
          <a:bodyPr/>
          <a:lstStyle>
            <a:lvl1pPr>
              <a:defRPr sz="4000">
                <a:solidFill>
                  <a:schemeClr val="tx2"/>
                </a:solidFill>
              </a:defRPr>
            </a:lvl1pPr>
          </a:lstStyle>
          <a:p>
            <a:r>
              <a:rPr lang="zh-CN" altLang="en-US"/>
              <a:t>单击此处编辑母版标题样式</a:t>
            </a:r>
            <a:endParaRPr lang="en-US"/>
          </a:p>
        </p:txBody>
      </p:sp>
      <p:sp>
        <p:nvSpPr>
          <p:cNvPr id="3" name="日期占位符 2"/>
          <p:cNvSpPr>
            <a:spLocks noGrp="1"/>
          </p:cNvSpPr>
          <p:nvPr>
            <p:ph type="dt" sz="half" idx="10"/>
          </p:nvPr>
        </p:nvSpPr>
        <p:spPr>
          <a:xfrm>
            <a:off x="8780463" y="612775"/>
            <a:ext cx="1276350" cy="457200"/>
          </a:xfrm>
          <a:prstGeom prst="rect">
            <a:avLst/>
          </a:prstGeom>
        </p:spPr>
        <p:txBody>
          <a:bodyPr/>
          <a:lstStyle>
            <a:lvl1pPr>
              <a:defRPr/>
            </a:lvl1pPr>
          </a:lstStyle>
          <a:p>
            <a:pPr>
              <a:defRPr/>
            </a:pPr>
            <a:endParaRPr lang="en-US" altLang="zh-CN"/>
          </a:p>
        </p:txBody>
      </p:sp>
      <p:sp>
        <p:nvSpPr>
          <p:cNvPr id="4" name="页脚占位符 3"/>
          <p:cNvSpPr>
            <a:spLocks noGrp="1"/>
          </p:cNvSpPr>
          <p:nvPr>
            <p:ph type="ftr" sz="quarter" idx="11"/>
          </p:nvPr>
        </p:nvSpPr>
        <p:spPr>
          <a:xfrm>
            <a:off x="7011988" y="612775"/>
            <a:ext cx="1768475" cy="457200"/>
          </a:xfrm>
          <a:prstGeom prst="rect">
            <a:avLst/>
          </a:prstGeom>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5B7E32BA-68D5-4BD4-82D3-C0B00ED1048C}" type="slidenum">
              <a:rPr lang="en-US" altLang="zh-CN"/>
              <a:pPr/>
              <a:t>‹#›</a:t>
            </a:fld>
            <a:endParaRPr lang="en-US" altLang="zh-CN"/>
          </a:p>
        </p:txBody>
      </p:sp>
    </p:spTree>
    <p:extLst>
      <p:ext uri="{BB962C8B-B14F-4D97-AF65-F5344CB8AC3E}">
        <p14:creationId xmlns:p14="http://schemas.microsoft.com/office/powerpoint/2010/main" val="2790213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783638" y="612775"/>
            <a:ext cx="1277937" cy="457200"/>
          </a:xfrm>
          <a:prstGeom prst="rect">
            <a:avLst/>
          </a:prstGeom>
        </p:spPr>
        <p:txBody>
          <a:bodyPr/>
          <a:lstStyle>
            <a:lvl1pPr>
              <a:defRPr/>
            </a:lvl1pPr>
          </a:lstStyle>
          <a:p>
            <a:pPr>
              <a:defRPr/>
            </a:pPr>
            <a:endParaRPr lang="en-US" altLang="zh-CN"/>
          </a:p>
        </p:txBody>
      </p:sp>
      <p:sp>
        <p:nvSpPr>
          <p:cNvPr id="3" name="页脚占位符 2"/>
          <p:cNvSpPr>
            <a:spLocks noGrp="1"/>
          </p:cNvSpPr>
          <p:nvPr>
            <p:ph type="ftr" sz="quarter" idx="11"/>
          </p:nvPr>
        </p:nvSpPr>
        <p:spPr>
          <a:xfrm>
            <a:off x="7011988" y="612775"/>
            <a:ext cx="1768475" cy="457200"/>
          </a:xfrm>
          <a:prstGeom prst="rect">
            <a:avLst/>
          </a:prstGeom>
        </p:spPr>
        <p:txBody>
          <a:bodyPr/>
          <a:lstStyle>
            <a:lvl1pPr>
              <a:defRPr/>
            </a:lvl1pPr>
          </a:lstStyle>
          <a:p>
            <a:pPr>
              <a:defRPr/>
            </a:pPr>
            <a:endParaRPr lang="en-US" altLang="zh-CN"/>
          </a:p>
        </p:txBody>
      </p:sp>
      <p:sp>
        <p:nvSpPr>
          <p:cNvPr id="4" name="灯片编号占位符 3"/>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8F0EF290-CA46-4455-AC91-1A7C284B5050}" type="slidenum">
              <a:rPr lang="en-US" altLang="zh-CN"/>
              <a:pPr/>
              <a:t>‹#›</a:t>
            </a:fld>
            <a:endParaRPr lang="en-US" altLang="zh-CN"/>
          </a:p>
        </p:txBody>
      </p:sp>
    </p:spTree>
    <p:extLst>
      <p:ext uri="{BB962C8B-B14F-4D97-AF65-F5344CB8AC3E}">
        <p14:creationId xmlns:p14="http://schemas.microsoft.com/office/powerpoint/2010/main" val="3142458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7139853" y="1101970"/>
            <a:ext cx="4512215" cy="877824"/>
          </a:xfrm>
        </p:spPr>
        <p:txBody>
          <a:bodyPr anchor="b"/>
          <a:lstStyle>
            <a:lvl1pPr algn="l">
              <a:buNone/>
              <a:defRPr sz="1800" b="1"/>
            </a:lvl1pPr>
          </a:lstStyle>
          <a:p>
            <a:r>
              <a:rPr lang="zh-CN" altLang="en-US"/>
              <a:t>单击此处编辑母版标题样式</a:t>
            </a:r>
            <a:endParaRPr lang="en-US"/>
          </a:p>
        </p:txBody>
      </p:sp>
      <p:sp>
        <p:nvSpPr>
          <p:cNvPr id="3" name="文本占位符 2"/>
          <p:cNvSpPr>
            <a:spLocks noGrp="1"/>
          </p:cNvSpPr>
          <p:nvPr>
            <p:ph type="body" idx="2"/>
          </p:nvPr>
        </p:nvSpPr>
        <p:spPr>
          <a:xfrm>
            <a:off x="7139853" y="2010727"/>
            <a:ext cx="4512215"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zh-CN" altLang="en-US"/>
              <a:t>单击此处编辑母版文本样式</a:t>
            </a:r>
          </a:p>
        </p:txBody>
      </p:sp>
      <p:sp>
        <p:nvSpPr>
          <p:cNvPr id="4" name="内容占位符 3"/>
          <p:cNvSpPr>
            <a:spLocks noGrp="1"/>
          </p:cNvSpPr>
          <p:nvPr>
            <p:ph sz="half" idx="1"/>
          </p:nvPr>
        </p:nvSpPr>
        <p:spPr>
          <a:xfrm>
            <a:off x="203253" y="776287"/>
            <a:ext cx="6804908" cy="5852160"/>
          </a:xfrm>
        </p:spPr>
        <p:txBody>
          <a:bodyPr/>
          <a:lstStyle>
            <a:lvl1pPr>
              <a:defRPr sz="3200"/>
            </a:lvl1pPr>
            <a:lvl2pPr>
              <a:defRPr sz="2800"/>
            </a:lvl2pPr>
            <a:lvl3pPr>
              <a:defRPr sz="2400"/>
            </a:lvl3pPr>
            <a:lvl4pPr>
              <a:defRPr sz="2000"/>
            </a:lvl4pPr>
            <a:lvl5pPr>
              <a:defRPr sz="20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p:cNvSpPr>
            <a:spLocks noGrp="1"/>
          </p:cNvSpPr>
          <p:nvPr>
            <p:ph type="dt" sz="half" idx="10"/>
          </p:nvPr>
        </p:nvSpPr>
        <p:spPr>
          <a:xfrm>
            <a:off x="8783638" y="612775"/>
            <a:ext cx="1277937" cy="457200"/>
          </a:xfrm>
          <a:prstGeom prst="rect">
            <a:avLst/>
          </a:prstGeom>
        </p:spPr>
        <p:txBody>
          <a:bodyPr/>
          <a:lstStyle>
            <a:lvl1pPr>
              <a:defRPr/>
            </a:lvl1pPr>
          </a:lstStyle>
          <a:p>
            <a:pPr>
              <a:defRPr/>
            </a:pPr>
            <a:endParaRPr lang="en-US" altLang="zh-CN"/>
          </a:p>
        </p:txBody>
      </p:sp>
      <p:sp>
        <p:nvSpPr>
          <p:cNvPr id="6" name="页脚占位符 5"/>
          <p:cNvSpPr>
            <a:spLocks noGrp="1"/>
          </p:cNvSpPr>
          <p:nvPr>
            <p:ph type="ftr" sz="quarter" idx="11"/>
          </p:nvPr>
        </p:nvSpPr>
        <p:spPr>
          <a:xfrm>
            <a:off x="7011988" y="612775"/>
            <a:ext cx="1768475" cy="457200"/>
          </a:xfrm>
          <a:prstGeom prst="rect">
            <a:avLst/>
          </a:prstGeom>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020FEFAB-924E-463A-B583-086758B417E8}" type="slidenum">
              <a:rPr lang="en-US" altLang="zh-CN"/>
              <a:pPr/>
              <a:t>‹#›</a:t>
            </a:fld>
            <a:endParaRPr lang="en-US" altLang="zh-CN"/>
          </a:p>
        </p:txBody>
      </p:sp>
    </p:spTree>
    <p:extLst>
      <p:ext uri="{BB962C8B-B14F-4D97-AF65-F5344CB8AC3E}">
        <p14:creationId xmlns:p14="http://schemas.microsoft.com/office/powerpoint/2010/main" val="861036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7255802" y="1109161"/>
            <a:ext cx="782608" cy="4681637"/>
          </a:xfrm>
        </p:spPr>
        <p:txBody>
          <a:bodyPr vert="vert270" lIns="45720" tIns="0" rIns="45720" anchor="t"/>
          <a:lstStyle>
            <a:lvl1pPr algn="ctr">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538368" y="1143000"/>
            <a:ext cx="6097588"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zh-CN" altLang="en-US" noProof="0"/>
              <a:t>单击图标添加图片</a:t>
            </a:r>
            <a:endParaRPr lang="en-US" noProof="0" dirty="0"/>
          </a:p>
        </p:txBody>
      </p:sp>
      <p:sp>
        <p:nvSpPr>
          <p:cNvPr id="4" name="文本占位符 3"/>
          <p:cNvSpPr>
            <a:spLocks noGrp="1"/>
          </p:cNvSpPr>
          <p:nvPr>
            <p:ph type="body" sz="half" idx="2"/>
          </p:nvPr>
        </p:nvSpPr>
        <p:spPr>
          <a:xfrm>
            <a:off x="8120038" y="3274309"/>
            <a:ext cx="34553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zh-CN" altLang="en-US"/>
              <a:t>单击此处编辑母版文本样式</a:t>
            </a:r>
          </a:p>
        </p:txBody>
      </p:sp>
      <p:sp>
        <p:nvSpPr>
          <p:cNvPr id="5" name="日期占位符 4"/>
          <p:cNvSpPr>
            <a:spLocks noGrp="1"/>
          </p:cNvSpPr>
          <p:nvPr>
            <p:ph type="dt" sz="half" idx="10"/>
          </p:nvPr>
        </p:nvSpPr>
        <p:spPr>
          <a:xfrm>
            <a:off x="8783638" y="612775"/>
            <a:ext cx="1277937" cy="457200"/>
          </a:xfrm>
          <a:prstGeom prst="rect">
            <a:avLst/>
          </a:prstGeom>
        </p:spPr>
        <p:txBody>
          <a:bodyPr/>
          <a:lstStyle>
            <a:lvl1pPr>
              <a:defRPr/>
            </a:lvl1pPr>
          </a:lstStyle>
          <a:p>
            <a:pPr>
              <a:defRPr/>
            </a:pPr>
            <a:endParaRPr lang="en-US" altLang="zh-CN"/>
          </a:p>
        </p:txBody>
      </p:sp>
      <p:sp>
        <p:nvSpPr>
          <p:cNvPr id="6" name="页脚占位符 5"/>
          <p:cNvSpPr>
            <a:spLocks noGrp="1"/>
          </p:cNvSpPr>
          <p:nvPr>
            <p:ph type="ftr" sz="quarter" idx="11"/>
          </p:nvPr>
        </p:nvSpPr>
        <p:spPr>
          <a:xfrm>
            <a:off x="7011988" y="612775"/>
            <a:ext cx="1768475" cy="457200"/>
          </a:xfrm>
          <a:prstGeom prst="rect">
            <a:avLst/>
          </a:prstGeom>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583B4E9A-089E-4EAB-A73A-7D2CE0345253}" type="slidenum">
              <a:rPr lang="en-US" altLang="zh-CN"/>
              <a:pPr/>
              <a:t>‹#›</a:t>
            </a:fld>
            <a:endParaRPr lang="en-US" altLang="zh-CN"/>
          </a:p>
        </p:txBody>
      </p:sp>
    </p:spTree>
    <p:extLst>
      <p:ext uri="{BB962C8B-B14F-4D97-AF65-F5344CB8AC3E}">
        <p14:creationId xmlns:p14="http://schemas.microsoft.com/office/powerpoint/2010/main" val="2725092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a:xfrm>
            <a:off x="8783638" y="612775"/>
            <a:ext cx="1277937" cy="457200"/>
          </a:xfrm>
          <a:prstGeom prst="rect">
            <a:avLst/>
          </a:prstGeo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7011988" y="612775"/>
            <a:ext cx="1768475" cy="457200"/>
          </a:xfrm>
          <a:prstGeom prst="rect">
            <a:avLst/>
          </a:prstGeo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DDD4884B-9927-4987-80B6-0765AB36579A}" type="slidenum">
              <a:rPr lang="en-US" altLang="zh-CN"/>
              <a:pPr/>
              <a:t>‹#›</a:t>
            </a:fld>
            <a:endParaRPr lang="en-US" altLang="zh-CN"/>
          </a:p>
        </p:txBody>
      </p:sp>
    </p:spTree>
    <p:extLst>
      <p:ext uri="{BB962C8B-B14F-4D97-AF65-F5344CB8AC3E}">
        <p14:creationId xmlns:p14="http://schemas.microsoft.com/office/powerpoint/2010/main" val="1892968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4755" y="1143000"/>
            <a:ext cx="2540661" cy="54864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609759" y="1143000"/>
            <a:ext cx="833337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a:xfrm>
            <a:off x="8783638" y="612775"/>
            <a:ext cx="1277937" cy="457200"/>
          </a:xfrm>
          <a:prstGeom prst="rect">
            <a:avLst/>
          </a:prstGeo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7011988" y="612775"/>
            <a:ext cx="1768475" cy="457200"/>
          </a:xfrm>
          <a:prstGeom prst="rect">
            <a:avLst/>
          </a:prstGeo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EB99F07F-5AA1-4D4B-844C-F4D10350815C}" type="slidenum">
              <a:rPr lang="en-US" altLang="zh-CN"/>
              <a:pPr/>
              <a:t>‹#›</a:t>
            </a:fld>
            <a:endParaRPr lang="en-US" altLang="zh-CN"/>
          </a:p>
        </p:txBody>
      </p:sp>
    </p:spTree>
    <p:extLst>
      <p:ext uri="{BB962C8B-B14F-4D97-AF65-F5344CB8AC3E}">
        <p14:creationId xmlns:p14="http://schemas.microsoft.com/office/powerpoint/2010/main" val="19853596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Picture 4" descr="E:\GLR_www\PPT\郑莉老师PPT\C++简单程序设计00.jpg">
            <a:extLst>
              <a:ext uri="{FF2B5EF4-FFF2-40B4-BE49-F238E27FC236}">
                <a16:creationId xmlns:a16="http://schemas.microsoft.com/office/drawing/2014/main" id="{8F2439C3-A137-4EC5-B8FE-B6424A885E8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5175"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标题 7"/>
          <p:cNvSpPr>
            <a:spLocks noGrp="1"/>
          </p:cNvSpPr>
          <p:nvPr>
            <p:ph type="ctrTitle"/>
          </p:nvPr>
        </p:nvSpPr>
        <p:spPr>
          <a:xfrm>
            <a:off x="457319" y="2132856"/>
            <a:ext cx="11280537" cy="147002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853" tIns="60926" rIns="121853" bIns="60926" numCol="1" anchor="b" anchorCtr="0" compatLnSpc="1">
            <a:prstTxWarp prst="textNoShape">
              <a:avLst/>
            </a:prstTxWarp>
          </a:bodyPr>
          <a:lstStyle>
            <a:lvl1pPr>
              <a:defRPr lang="en-US" sz="4400">
                <a:solidFill>
                  <a:schemeClr val="bg1"/>
                </a:solidFill>
                <a:latin typeface="微软雅黑" panose="020B0503020204020204" pitchFamily="34" charset="-122"/>
                <a:ea typeface="微软雅黑" panose="020B0503020204020204" pitchFamily="34" charset="-122"/>
              </a:defRPr>
            </a:lvl1pPr>
          </a:lstStyle>
          <a:p>
            <a:pPr lvl="0" algn="ctr"/>
            <a:r>
              <a:rPr lang="zh-CN" altLang="en-US" dirty="0"/>
              <a:t>单击此处编辑母版标题样式</a:t>
            </a:r>
            <a:endParaRPr lang="en-US" dirty="0"/>
          </a:p>
        </p:txBody>
      </p:sp>
      <p:sp>
        <p:nvSpPr>
          <p:cNvPr id="9" name="副标题 8"/>
          <p:cNvSpPr>
            <a:spLocks noGrp="1"/>
          </p:cNvSpPr>
          <p:nvPr>
            <p:ph type="subTitle" idx="1"/>
          </p:nvPr>
        </p:nvSpPr>
        <p:spPr>
          <a:xfrm>
            <a:off x="2785219" y="4005064"/>
            <a:ext cx="6605720" cy="164747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853" tIns="60926" rIns="121853" bIns="60926" numCol="1" anchor="t" anchorCtr="0" compatLnSpc="1">
            <a:prstTxWarp prst="textNoShape">
              <a:avLst/>
            </a:prstTxWarp>
          </a:bodyPr>
          <a:lstStyle>
            <a:lvl1pPr>
              <a:defRPr lang="en-US" sz="2400" dirty="0">
                <a:solidFill>
                  <a:schemeClr val="bg1"/>
                </a:solidFill>
                <a:latin typeface="宋体" panose="02010600030101010101" pitchFamily="2" charset="-122"/>
                <a:ea typeface="宋体" panose="02010600030101010101" pitchFamily="2" charset="-122"/>
              </a:defRPr>
            </a:lvl1pPr>
          </a:lstStyle>
          <a:p>
            <a:pPr marL="0" lvl="0" indent="0" algn="ctr">
              <a:spcBef>
                <a:spcPts val="400"/>
              </a:spcBef>
              <a:buNone/>
            </a:pPr>
            <a:r>
              <a:rPr lang="zh-CN" altLang="en-US" dirty="0"/>
              <a:t>单击此处编辑母版副标题样式</a:t>
            </a:r>
            <a:endParaRPr lang="en-US" dirty="0"/>
          </a:p>
        </p:txBody>
      </p:sp>
    </p:spTree>
    <p:extLst>
      <p:ext uri="{BB962C8B-B14F-4D97-AF65-F5344CB8AC3E}">
        <p14:creationId xmlns:p14="http://schemas.microsoft.com/office/powerpoint/2010/main" val="14624478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52736"/>
            <a:ext cx="10975975" cy="1066800"/>
          </a:xfrm>
        </p:spPr>
        <p:txBody>
          <a:bodyPr/>
          <a:lstStyle>
            <a:lvl1pPr>
              <a:defRPr>
                <a:solidFill>
                  <a:srgbClr val="003399"/>
                </a:solidFill>
              </a:defRPr>
            </a:lvl1pPr>
          </a:lstStyle>
          <a:p>
            <a:r>
              <a:rPr lang="zh-CN" altLang="en-US" dirty="0"/>
              <a:t>单击此处编辑母版标题样式</a:t>
            </a:r>
            <a:endParaRPr lang="en-US" dirty="0"/>
          </a:p>
        </p:txBody>
      </p:sp>
      <p:sp>
        <p:nvSpPr>
          <p:cNvPr id="3" name="内容占位符 2"/>
          <p:cNvSpPr>
            <a:spLocks noGrp="1"/>
          </p:cNvSpPr>
          <p:nvPr>
            <p:ph idx="1"/>
          </p:nvPr>
        </p:nvSpPr>
        <p:spPr>
          <a:xfrm>
            <a:off x="609600" y="2276872"/>
            <a:ext cx="10975975" cy="4296966"/>
          </a:xfrm>
        </p:spPr>
        <p:txBody>
          <a:bodyPr/>
          <a:lstStyle>
            <a:lvl1pPr>
              <a:defRPr sz="2800"/>
            </a:lvl1pPr>
            <a:lvl2pPr>
              <a:defRPr sz="2400"/>
            </a:lvl2pPr>
            <a:lvl3pPr>
              <a:defRPr sz="1600"/>
            </a:lvl3pPr>
            <a:lvl4pPr>
              <a:defRPr sz="1400"/>
            </a:lvl4pPr>
            <a:lvl5pPr>
              <a:defRPr sz="12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灯片编号占位符 6">
            <a:extLst>
              <a:ext uri="{FF2B5EF4-FFF2-40B4-BE49-F238E27FC236}">
                <a16:creationId xmlns:a16="http://schemas.microsoft.com/office/drawing/2014/main" id="{37425493-6A48-40B0-B1F4-4B16F1CF74BD}"/>
              </a:ext>
            </a:extLst>
          </p:cNvPr>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F800F21B-5F9E-4DB6-92EB-09A53204F80C}" type="slidenum">
              <a:rPr lang="en-US" altLang="zh-CN"/>
              <a:pPr/>
              <a:t>‹#›</a:t>
            </a:fld>
            <a:endParaRPr lang="en-US" altLang="zh-CN"/>
          </a:p>
        </p:txBody>
      </p:sp>
    </p:spTree>
    <p:extLst>
      <p:ext uri="{BB962C8B-B14F-4D97-AF65-F5344CB8AC3E}">
        <p14:creationId xmlns:p14="http://schemas.microsoft.com/office/powerpoint/2010/main" val="9391613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F0E33799-6A55-44DA-AC5A-C99348168F4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2870"/>
            <a:ext cx="12195176"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a:xfrm>
            <a:off x="2353171" y="44624"/>
            <a:ext cx="9232404" cy="864096"/>
          </a:xfrm>
        </p:spPr>
        <p:txBody>
          <a:bodyPr/>
          <a:lstStyle>
            <a:lvl1pPr>
              <a:defRPr sz="3600"/>
            </a:lvl1pPr>
          </a:lstStyle>
          <a:p>
            <a:r>
              <a:rPr lang="zh-CN" altLang="en-US" dirty="0"/>
              <a:t>单击此处编辑母版标题样式</a:t>
            </a:r>
            <a:endParaRPr lang="en-US" dirty="0"/>
          </a:p>
        </p:txBody>
      </p:sp>
      <p:sp>
        <p:nvSpPr>
          <p:cNvPr id="3" name="内容占位符 2"/>
          <p:cNvSpPr>
            <a:spLocks noGrp="1"/>
          </p:cNvSpPr>
          <p:nvPr>
            <p:ph idx="1"/>
          </p:nvPr>
        </p:nvSpPr>
        <p:spPr>
          <a:xfrm>
            <a:off x="2353171" y="1052736"/>
            <a:ext cx="9232404" cy="5521102"/>
          </a:xfrm>
        </p:spPr>
        <p:txBody>
          <a:bodyPr/>
          <a:lstStyle>
            <a:lvl1pPr marL="109537" indent="0">
              <a:spcBef>
                <a:spcPts val="0"/>
              </a:spcBef>
              <a:buNone/>
              <a:defRPr sz="2400"/>
            </a:lvl1pPr>
            <a:lvl2pPr marL="411162" indent="0">
              <a:spcBef>
                <a:spcPts val="0"/>
              </a:spcBef>
              <a:buNone/>
              <a:defRPr sz="2000"/>
            </a:lvl2pPr>
            <a:lvl3pPr marL="703263" indent="0">
              <a:spcBef>
                <a:spcPts val="0"/>
              </a:spcBef>
              <a:buNone/>
              <a:defRPr sz="1400"/>
            </a:lvl3pPr>
            <a:lvl4pPr marL="979488" indent="0">
              <a:spcBef>
                <a:spcPts val="0"/>
              </a:spcBef>
              <a:buNone/>
              <a:defRPr sz="1200"/>
            </a:lvl4pPr>
            <a:lvl5pPr marL="1206500" indent="0">
              <a:spcBef>
                <a:spcPts val="0"/>
              </a:spcBef>
              <a:buNone/>
              <a:defRPr sz="11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extLst>
      <p:ext uri="{BB962C8B-B14F-4D97-AF65-F5344CB8AC3E}">
        <p14:creationId xmlns:p14="http://schemas.microsoft.com/office/powerpoint/2010/main" val="7536183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1981201"/>
            <a:ext cx="10365899" cy="1362075"/>
          </a:xfrm>
        </p:spPr>
        <p:txBody>
          <a:bodyPr anchor="b">
            <a:noAutofit/>
          </a:bodyPr>
          <a:lstStyle>
            <a:lvl1pPr algn="l">
              <a:buNone/>
              <a:defRPr sz="4400" b="0"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zh-CN" altLang="en-US" dirty="0"/>
              <a:t>单击此处编辑母版标题样式</a:t>
            </a:r>
            <a:endParaRPr lang="en-US" dirty="0"/>
          </a:p>
        </p:txBody>
      </p:sp>
      <p:sp>
        <p:nvSpPr>
          <p:cNvPr id="3" name="文本占位符 2"/>
          <p:cNvSpPr>
            <a:spLocks noGrp="1"/>
          </p:cNvSpPr>
          <p:nvPr>
            <p:ph type="body" idx="1"/>
          </p:nvPr>
        </p:nvSpPr>
        <p:spPr>
          <a:xfrm>
            <a:off x="963335" y="3367088"/>
            <a:ext cx="10365899"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灯片编号占位符 6">
            <a:extLst>
              <a:ext uri="{FF2B5EF4-FFF2-40B4-BE49-F238E27FC236}">
                <a16:creationId xmlns:a16="http://schemas.microsoft.com/office/drawing/2014/main" id="{7DDE0932-B529-4119-9ADF-C6F557CFB207}"/>
              </a:ext>
            </a:extLst>
          </p:cNvPr>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F800F21B-5F9E-4DB6-92EB-09A53204F80C}" type="slidenum">
              <a:rPr lang="en-US" altLang="zh-CN"/>
              <a:pPr/>
              <a:t>‹#›</a:t>
            </a:fld>
            <a:endParaRPr lang="en-US" altLang="zh-CN"/>
          </a:p>
        </p:txBody>
      </p:sp>
    </p:spTree>
    <p:extLst>
      <p:ext uri="{BB962C8B-B14F-4D97-AF65-F5344CB8AC3E}">
        <p14:creationId xmlns:p14="http://schemas.microsoft.com/office/powerpoint/2010/main" val="1041743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609759" y="1785927"/>
            <a:ext cx="5386202"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内容占位符 3"/>
          <p:cNvSpPr>
            <a:spLocks noGrp="1"/>
          </p:cNvSpPr>
          <p:nvPr>
            <p:ph sz="half" idx="2"/>
          </p:nvPr>
        </p:nvSpPr>
        <p:spPr>
          <a:xfrm>
            <a:off x="6199214" y="1785927"/>
            <a:ext cx="5386202"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日期占位符 4"/>
          <p:cNvSpPr>
            <a:spLocks noGrp="1"/>
          </p:cNvSpPr>
          <p:nvPr>
            <p:ph type="dt" sz="half" idx="10"/>
          </p:nvPr>
        </p:nvSpPr>
        <p:spPr>
          <a:xfrm>
            <a:off x="8783638" y="612775"/>
            <a:ext cx="1277937" cy="457200"/>
          </a:xfrm>
          <a:prstGeom prst="rect">
            <a:avLst/>
          </a:prstGeom>
        </p:spPr>
        <p:txBody>
          <a:bodyPr/>
          <a:lstStyle>
            <a:lvl1pPr>
              <a:defRPr/>
            </a:lvl1pPr>
          </a:lstStyle>
          <a:p>
            <a:pPr>
              <a:defRPr/>
            </a:pPr>
            <a:endParaRPr lang="en-US" altLang="zh-CN"/>
          </a:p>
        </p:txBody>
      </p:sp>
      <p:sp>
        <p:nvSpPr>
          <p:cNvPr id="6" name="页脚占位符 5"/>
          <p:cNvSpPr>
            <a:spLocks noGrp="1"/>
          </p:cNvSpPr>
          <p:nvPr>
            <p:ph type="ftr" sz="quarter" idx="11"/>
          </p:nvPr>
        </p:nvSpPr>
        <p:spPr>
          <a:xfrm>
            <a:off x="7011988" y="612775"/>
            <a:ext cx="1768475" cy="457200"/>
          </a:xfrm>
          <a:prstGeom prst="rect">
            <a:avLst/>
          </a:prstGeom>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F800F21B-5F9E-4DB6-92EB-09A53204F80C}" type="slidenum">
              <a:rPr lang="en-US" altLang="zh-CN"/>
              <a:pPr/>
              <a:t>‹#›</a:t>
            </a:fld>
            <a:endParaRPr lang="en-US" altLang="zh-CN"/>
          </a:p>
        </p:txBody>
      </p:sp>
    </p:spTree>
    <p:extLst>
      <p:ext uri="{BB962C8B-B14F-4D97-AF65-F5344CB8AC3E}">
        <p14:creationId xmlns:p14="http://schemas.microsoft.com/office/powerpoint/2010/main" val="7921315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8133" y="428604"/>
            <a:ext cx="11178910" cy="1069848"/>
          </a:xfrm>
        </p:spPr>
        <p:txBody>
          <a:bodyPr/>
          <a:lstStyle>
            <a:lvl1pPr>
              <a:defRPr sz="4000" b="0" i="0" cap="none" baseline="0"/>
            </a:lvl1pPr>
          </a:lstStyle>
          <a:p>
            <a:r>
              <a:rPr lang="zh-CN" altLang="en-US"/>
              <a:t>单击此处编辑母版标题样式</a:t>
            </a:r>
            <a:endParaRPr lang="en-US"/>
          </a:p>
        </p:txBody>
      </p:sp>
      <p:sp>
        <p:nvSpPr>
          <p:cNvPr id="3" name="文本占位符 2"/>
          <p:cNvSpPr>
            <a:spLocks noGrp="1"/>
          </p:cNvSpPr>
          <p:nvPr>
            <p:ph type="body" idx="1"/>
          </p:nvPr>
        </p:nvSpPr>
        <p:spPr>
          <a:xfrm>
            <a:off x="508132" y="1500174"/>
            <a:ext cx="5390267"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6296607" y="1500174"/>
            <a:ext cx="5390437"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508132" y="1928803"/>
            <a:ext cx="5390267"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内容占位符 5"/>
          <p:cNvSpPr>
            <a:spLocks noGrp="1"/>
          </p:cNvSpPr>
          <p:nvPr>
            <p:ph sz="quarter" idx="4"/>
          </p:nvPr>
        </p:nvSpPr>
        <p:spPr>
          <a:xfrm>
            <a:off x="6292711" y="1928803"/>
            <a:ext cx="5390437"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灯片编号占位符 26"/>
          <p:cNvSpPr>
            <a:spLocks noGrp="1"/>
          </p:cNvSpPr>
          <p:nvPr>
            <p:ph type="sldNum" sz="quarter" idx="10"/>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E0689DF4-4FE6-446A-BFDF-E4B3A3A05BDC}" type="slidenum">
              <a:rPr lang="en-US" altLang="zh-CN"/>
              <a:pPr/>
              <a:t>‹#›</a:t>
            </a:fld>
            <a:endParaRPr lang="en-US" altLang="zh-CN"/>
          </a:p>
        </p:txBody>
      </p:sp>
    </p:spTree>
    <p:extLst>
      <p:ext uri="{BB962C8B-B14F-4D97-AF65-F5344CB8AC3E}">
        <p14:creationId xmlns:p14="http://schemas.microsoft.com/office/powerpoint/2010/main" val="19544213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1143000"/>
            <a:ext cx="10975658" cy="1069848"/>
          </a:xfrm>
        </p:spPr>
        <p:txBody>
          <a:bodyPr/>
          <a:lstStyle>
            <a:lvl1pPr>
              <a:defRPr sz="4000">
                <a:solidFill>
                  <a:schemeClr val="tx2"/>
                </a:solidFill>
              </a:defRPr>
            </a:lvl1pPr>
          </a:lstStyle>
          <a:p>
            <a:r>
              <a:rPr lang="zh-CN" altLang="en-US"/>
              <a:t>单击此处编辑母版标题样式</a:t>
            </a:r>
            <a:endParaRPr lang="en-US"/>
          </a:p>
        </p:txBody>
      </p:sp>
      <p:sp>
        <p:nvSpPr>
          <p:cNvPr id="3" name="日期占位符 2"/>
          <p:cNvSpPr>
            <a:spLocks noGrp="1"/>
          </p:cNvSpPr>
          <p:nvPr>
            <p:ph type="dt" sz="half" idx="10"/>
          </p:nvPr>
        </p:nvSpPr>
        <p:spPr>
          <a:xfrm>
            <a:off x="8780463" y="612775"/>
            <a:ext cx="1276350" cy="457200"/>
          </a:xfrm>
          <a:prstGeom prst="rect">
            <a:avLst/>
          </a:prstGeom>
        </p:spPr>
        <p:txBody>
          <a:bodyPr/>
          <a:lstStyle>
            <a:lvl1pPr>
              <a:defRPr/>
            </a:lvl1pPr>
          </a:lstStyle>
          <a:p>
            <a:pPr>
              <a:defRPr/>
            </a:pPr>
            <a:endParaRPr lang="en-US" altLang="zh-CN"/>
          </a:p>
        </p:txBody>
      </p:sp>
      <p:sp>
        <p:nvSpPr>
          <p:cNvPr id="4" name="页脚占位符 3"/>
          <p:cNvSpPr>
            <a:spLocks noGrp="1"/>
          </p:cNvSpPr>
          <p:nvPr>
            <p:ph type="ftr" sz="quarter" idx="11"/>
          </p:nvPr>
        </p:nvSpPr>
        <p:spPr>
          <a:xfrm>
            <a:off x="7011988" y="612775"/>
            <a:ext cx="1768475" cy="457200"/>
          </a:xfrm>
          <a:prstGeom prst="rect">
            <a:avLst/>
          </a:prstGeom>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5B7E32BA-68D5-4BD4-82D3-C0B00ED1048C}" type="slidenum">
              <a:rPr lang="en-US" altLang="zh-CN"/>
              <a:pPr/>
              <a:t>‹#›</a:t>
            </a:fld>
            <a:endParaRPr lang="en-US" altLang="zh-CN"/>
          </a:p>
        </p:txBody>
      </p:sp>
    </p:spTree>
    <p:extLst>
      <p:ext uri="{BB962C8B-B14F-4D97-AF65-F5344CB8AC3E}">
        <p14:creationId xmlns:p14="http://schemas.microsoft.com/office/powerpoint/2010/main" val="32618892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783638" y="612775"/>
            <a:ext cx="1277937" cy="457200"/>
          </a:xfrm>
          <a:prstGeom prst="rect">
            <a:avLst/>
          </a:prstGeom>
        </p:spPr>
        <p:txBody>
          <a:bodyPr/>
          <a:lstStyle>
            <a:lvl1pPr>
              <a:defRPr/>
            </a:lvl1pPr>
          </a:lstStyle>
          <a:p>
            <a:pPr>
              <a:defRPr/>
            </a:pPr>
            <a:endParaRPr lang="en-US" altLang="zh-CN"/>
          </a:p>
        </p:txBody>
      </p:sp>
      <p:sp>
        <p:nvSpPr>
          <p:cNvPr id="3" name="页脚占位符 2"/>
          <p:cNvSpPr>
            <a:spLocks noGrp="1"/>
          </p:cNvSpPr>
          <p:nvPr>
            <p:ph type="ftr" sz="quarter" idx="11"/>
          </p:nvPr>
        </p:nvSpPr>
        <p:spPr>
          <a:xfrm>
            <a:off x="7011988" y="612775"/>
            <a:ext cx="1768475" cy="457200"/>
          </a:xfrm>
          <a:prstGeom prst="rect">
            <a:avLst/>
          </a:prstGeom>
        </p:spPr>
        <p:txBody>
          <a:bodyPr/>
          <a:lstStyle>
            <a:lvl1pPr>
              <a:defRPr/>
            </a:lvl1pPr>
          </a:lstStyle>
          <a:p>
            <a:pPr>
              <a:defRPr/>
            </a:pPr>
            <a:endParaRPr lang="en-US" altLang="zh-CN"/>
          </a:p>
        </p:txBody>
      </p:sp>
      <p:sp>
        <p:nvSpPr>
          <p:cNvPr id="4" name="灯片编号占位符 3"/>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8F0EF290-CA46-4455-AC91-1A7C284B5050}" type="slidenum">
              <a:rPr lang="en-US" altLang="zh-CN"/>
              <a:pPr/>
              <a:t>‹#›</a:t>
            </a:fld>
            <a:endParaRPr lang="en-US" altLang="zh-CN"/>
          </a:p>
        </p:txBody>
      </p:sp>
    </p:spTree>
    <p:extLst>
      <p:ext uri="{BB962C8B-B14F-4D97-AF65-F5344CB8AC3E}">
        <p14:creationId xmlns:p14="http://schemas.microsoft.com/office/powerpoint/2010/main" val="32423543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7139853" y="1101970"/>
            <a:ext cx="4512215" cy="877824"/>
          </a:xfrm>
        </p:spPr>
        <p:txBody>
          <a:bodyPr anchor="b"/>
          <a:lstStyle>
            <a:lvl1pPr algn="l">
              <a:buNone/>
              <a:defRPr sz="1800" b="1"/>
            </a:lvl1pPr>
          </a:lstStyle>
          <a:p>
            <a:r>
              <a:rPr lang="zh-CN" altLang="en-US"/>
              <a:t>单击此处编辑母版标题样式</a:t>
            </a:r>
            <a:endParaRPr lang="en-US"/>
          </a:p>
        </p:txBody>
      </p:sp>
      <p:sp>
        <p:nvSpPr>
          <p:cNvPr id="3" name="文本占位符 2"/>
          <p:cNvSpPr>
            <a:spLocks noGrp="1"/>
          </p:cNvSpPr>
          <p:nvPr>
            <p:ph type="body" idx="2"/>
          </p:nvPr>
        </p:nvSpPr>
        <p:spPr>
          <a:xfrm>
            <a:off x="7139853" y="2010727"/>
            <a:ext cx="4512215"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zh-CN" altLang="en-US"/>
              <a:t>单击此处编辑母版文本样式</a:t>
            </a:r>
          </a:p>
        </p:txBody>
      </p:sp>
      <p:sp>
        <p:nvSpPr>
          <p:cNvPr id="4" name="内容占位符 3"/>
          <p:cNvSpPr>
            <a:spLocks noGrp="1"/>
          </p:cNvSpPr>
          <p:nvPr>
            <p:ph sz="half" idx="1"/>
          </p:nvPr>
        </p:nvSpPr>
        <p:spPr>
          <a:xfrm>
            <a:off x="203253" y="776287"/>
            <a:ext cx="6804908" cy="5852160"/>
          </a:xfrm>
        </p:spPr>
        <p:txBody>
          <a:bodyPr/>
          <a:lstStyle>
            <a:lvl1pPr>
              <a:defRPr sz="3200"/>
            </a:lvl1pPr>
            <a:lvl2pPr>
              <a:defRPr sz="2800"/>
            </a:lvl2pPr>
            <a:lvl3pPr>
              <a:defRPr sz="2400"/>
            </a:lvl3pPr>
            <a:lvl4pPr>
              <a:defRPr sz="2000"/>
            </a:lvl4pPr>
            <a:lvl5pPr>
              <a:defRPr sz="20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p:cNvSpPr>
            <a:spLocks noGrp="1"/>
          </p:cNvSpPr>
          <p:nvPr>
            <p:ph type="dt" sz="half" idx="10"/>
          </p:nvPr>
        </p:nvSpPr>
        <p:spPr>
          <a:xfrm>
            <a:off x="8783638" y="612775"/>
            <a:ext cx="1277937" cy="457200"/>
          </a:xfrm>
          <a:prstGeom prst="rect">
            <a:avLst/>
          </a:prstGeom>
        </p:spPr>
        <p:txBody>
          <a:bodyPr/>
          <a:lstStyle>
            <a:lvl1pPr>
              <a:defRPr/>
            </a:lvl1pPr>
          </a:lstStyle>
          <a:p>
            <a:pPr>
              <a:defRPr/>
            </a:pPr>
            <a:endParaRPr lang="en-US" altLang="zh-CN"/>
          </a:p>
        </p:txBody>
      </p:sp>
      <p:sp>
        <p:nvSpPr>
          <p:cNvPr id="6" name="页脚占位符 5"/>
          <p:cNvSpPr>
            <a:spLocks noGrp="1"/>
          </p:cNvSpPr>
          <p:nvPr>
            <p:ph type="ftr" sz="quarter" idx="11"/>
          </p:nvPr>
        </p:nvSpPr>
        <p:spPr>
          <a:xfrm>
            <a:off x="7011988" y="612775"/>
            <a:ext cx="1768475" cy="457200"/>
          </a:xfrm>
          <a:prstGeom prst="rect">
            <a:avLst/>
          </a:prstGeom>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020FEFAB-924E-463A-B583-086758B417E8}" type="slidenum">
              <a:rPr lang="en-US" altLang="zh-CN"/>
              <a:pPr/>
              <a:t>‹#›</a:t>
            </a:fld>
            <a:endParaRPr lang="en-US" altLang="zh-CN"/>
          </a:p>
        </p:txBody>
      </p:sp>
    </p:spTree>
    <p:extLst>
      <p:ext uri="{BB962C8B-B14F-4D97-AF65-F5344CB8AC3E}">
        <p14:creationId xmlns:p14="http://schemas.microsoft.com/office/powerpoint/2010/main" val="1300060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7255802" y="1109161"/>
            <a:ext cx="782608" cy="4681637"/>
          </a:xfrm>
        </p:spPr>
        <p:txBody>
          <a:bodyPr vert="vert270" lIns="45720" tIns="0" rIns="45720" anchor="t"/>
          <a:lstStyle>
            <a:lvl1pPr algn="ctr">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538368" y="1143000"/>
            <a:ext cx="6097588"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zh-CN" altLang="en-US" noProof="0"/>
              <a:t>单击图标添加图片</a:t>
            </a:r>
            <a:endParaRPr lang="en-US" noProof="0" dirty="0"/>
          </a:p>
        </p:txBody>
      </p:sp>
      <p:sp>
        <p:nvSpPr>
          <p:cNvPr id="4" name="文本占位符 3"/>
          <p:cNvSpPr>
            <a:spLocks noGrp="1"/>
          </p:cNvSpPr>
          <p:nvPr>
            <p:ph type="body" sz="half" idx="2"/>
          </p:nvPr>
        </p:nvSpPr>
        <p:spPr>
          <a:xfrm>
            <a:off x="8120038" y="3274309"/>
            <a:ext cx="34553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zh-CN" altLang="en-US"/>
              <a:t>单击此处编辑母版文本样式</a:t>
            </a:r>
          </a:p>
        </p:txBody>
      </p:sp>
      <p:sp>
        <p:nvSpPr>
          <p:cNvPr id="5" name="日期占位符 4"/>
          <p:cNvSpPr>
            <a:spLocks noGrp="1"/>
          </p:cNvSpPr>
          <p:nvPr>
            <p:ph type="dt" sz="half" idx="10"/>
          </p:nvPr>
        </p:nvSpPr>
        <p:spPr>
          <a:xfrm>
            <a:off x="8783638" y="612775"/>
            <a:ext cx="1277937" cy="457200"/>
          </a:xfrm>
          <a:prstGeom prst="rect">
            <a:avLst/>
          </a:prstGeom>
        </p:spPr>
        <p:txBody>
          <a:bodyPr/>
          <a:lstStyle>
            <a:lvl1pPr>
              <a:defRPr/>
            </a:lvl1pPr>
          </a:lstStyle>
          <a:p>
            <a:pPr>
              <a:defRPr/>
            </a:pPr>
            <a:endParaRPr lang="en-US" altLang="zh-CN"/>
          </a:p>
        </p:txBody>
      </p:sp>
      <p:sp>
        <p:nvSpPr>
          <p:cNvPr id="6" name="页脚占位符 5"/>
          <p:cNvSpPr>
            <a:spLocks noGrp="1"/>
          </p:cNvSpPr>
          <p:nvPr>
            <p:ph type="ftr" sz="quarter" idx="11"/>
          </p:nvPr>
        </p:nvSpPr>
        <p:spPr>
          <a:xfrm>
            <a:off x="7011988" y="612775"/>
            <a:ext cx="1768475" cy="457200"/>
          </a:xfrm>
          <a:prstGeom prst="rect">
            <a:avLst/>
          </a:prstGeom>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583B4E9A-089E-4EAB-A73A-7D2CE0345253}" type="slidenum">
              <a:rPr lang="en-US" altLang="zh-CN"/>
              <a:pPr/>
              <a:t>‹#›</a:t>
            </a:fld>
            <a:endParaRPr lang="en-US" altLang="zh-CN"/>
          </a:p>
        </p:txBody>
      </p:sp>
    </p:spTree>
    <p:extLst>
      <p:ext uri="{BB962C8B-B14F-4D97-AF65-F5344CB8AC3E}">
        <p14:creationId xmlns:p14="http://schemas.microsoft.com/office/powerpoint/2010/main" val="34835688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a:xfrm>
            <a:off x="8783638" y="612775"/>
            <a:ext cx="1277937" cy="457200"/>
          </a:xfrm>
          <a:prstGeom prst="rect">
            <a:avLst/>
          </a:prstGeo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7011988" y="612775"/>
            <a:ext cx="1768475" cy="457200"/>
          </a:xfrm>
          <a:prstGeom prst="rect">
            <a:avLst/>
          </a:prstGeo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DDD4884B-9927-4987-80B6-0765AB36579A}" type="slidenum">
              <a:rPr lang="en-US" altLang="zh-CN"/>
              <a:pPr/>
              <a:t>‹#›</a:t>
            </a:fld>
            <a:endParaRPr lang="en-US" altLang="zh-CN"/>
          </a:p>
        </p:txBody>
      </p:sp>
    </p:spTree>
    <p:extLst>
      <p:ext uri="{BB962C8B-B14F-4D97-AF65-F5344CB8AC3E}">
        <p14:creationId xmlns:p14="http://schemas.microsoft.com/office/powerpoint/2010/main" val="8428827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4755" y="1143000"/>
            <a:ext cx="2540661" cy="54864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609759" y="1143000"/>
            <a:ext cx="833337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a:xfrm>
            <a:off x="8783638" y="612775"/>
            <a:ext cx="1277937" cy="457200"/>
          </a:xfrm>
          <a:prstGeom prst="rect">
            <a:avLst/>
          </a:prstGeo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7011988" y="612775"/>
            <a:ext cx="1768475" cy="457200"/>
          </a:xfrm>
          <a:prstGeom prst="rect">
            <a:avLst/>
          </a:prstGeo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a:defRPr/>
            </a:lvl1pPr>
          </a:lstStyle>
          <a:p>
            <a:fld id="{EB99F07F-5AA1-4D4B-844C-F4D10350815C}" type="slidenum">
              <a:rPr lang="en-US" altLang="zh-CN"/>
              <a:pPr/>
              <a:t>‹#›</a:t>
            </a:fld>
            <a:endParaRPr lang="en-US" altLang="zh-CN"/>
          </a:p>
        </p:txBody>
      </p:sp>
    </p:spTree>
    <p:extLst>
      <p:ext uri="{BB962C8B-B14F-4D97-AF65-F5344CB8AC3E}">
        <p14:creationId xmlns:p14="http://schemas.microsoft.com/office/powerpoint/2010/main" val="386353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标题占位符 21"/>
          <p:cNvSpPr>
            <a:spLocks noGrp="1"/>
          </p:cNvSpPr>
          <p:nvPr>
            <p:ph type="title"/>
          </p:nvPr>
        </p:nvSpPr>
        <p:spPr bwMode="auto">
          <a:xfrm>
            <a:off x="609600" y="576263"/>
            <a:ext cx="109759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endParaRPr lang="en-US" altLang="zh-CN" dirty="0"/>
          </a:p>
        </p:txBody>
      </p:sp>
      <p:sp>
        <p:nvSpPr>
          <p:cNvPr id="1027" name="文本占位符 12"/>
          <p:cNvSpPr>
            <a:spLocks noGrp="1"/>
          </p:cNvSpPr>
          <p:nvPr>
            <p:ph type="body" idx="1"/>
          </p:nvPr>
        </p:nvSpPr>
        <p:spPr bwMode="auto">
          <a:xfrm>
            <a:off x="609600" y="1785938"/>
            <a:ext cx="10975975"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28" name="TextBox 17"/>
          <p:cNvSpPr txBox="1">
            <a:spLocks noChangeArrowheads="1"/>
          </p:cNvSpPr>
          <p:nvPr/>
        </p:nvSpPr>
        <p:spPr bwMode="auto">
          <a:xfrm>
            <a:off x="8689975" y="6597650"/>
            <a:ext cx="3287713" cy="261938"/>
          </a:xfrm>
          <a:prstGeom prst="rect">
            <a:avLst/>
          </a:prstGeom>
          <a:noFill/>
          <a:ln w="9525">
            <a:noFill/>
            <a:miter lim="800000"/>
            <a:headEnd/>
            <a:tailEnd/>
          </a:ln>
        </p:spPr>
        <p:txBody>
          <a:bodyPr>
            <a:spAutoFit/>
          </a:bodyPr>
          <a:lstStyle/>
          <a:p>
            <a:pPr>
              <a:defRPr/>
            </a:pPr>
            <a:r>
              <a:rPr lang="en-US" altLang="zh-CN" sz="1100" dirty="0">
                <a:latin typeface="微软雅黑" pitchFamily="34" charset="-122"/>
                <a:ea typeface="微软雅黑" pitchFamily="34" charset="-122"/>
              </a:rPr>
              <a:t>C++</a:t>
            </a:r>
            <a:r>
              <a:rPr lang="zh-CN" altLang="en-US" sz="1100" dirty="0">
                <a:latin typeface="微软雅黑" pitchFamily="34" charset="-122"/>
                <a:ea typeface="微软雅黑" pitchFamily="34" charset="-122"/>
              </a:rPr>
              <a:t>语言程序设计（第</a:t>
            </a:r>
            <a:r>
              <a:rPr lang="en-US" altLang="zh-CN" sz="1100" dirty="0">
                <a:latin typeface="微软雅黑" pitchFamily="34" charset="-122"/>
                <a:ea typeface="微软雅黑" pitchFamily="34" charset="-122"/>
              </a:rPr>
              <a:t>5</a:t>
            </a:r>
            <a:r>
              <a:rPr lang="zh-CN" altLang="en-US" sz="1100" dirty="0">
                <a:latin typeface="微软雅黑" pitchFamily="34" charset="-122"/>
                <a:ea typeface="微软雅黑" pitchFamily="34" charset="-122"/>
              </a:rPr>
              <a:t>版），郑莉，清华大学</a:t>
            </a:r>
          </a:p>
        </p:txBody>
      </p:sp>
      <p:sp>
        <p:nvSpPr>
          <p:cNvPr id="2" name="灯片编号占位符 1">
            <a:extLst>
              <a:ext uri="{FF2B5EF4-FFF2-40B4-BE49-F238E27FC236}">
                <a16:creationId xmlns:a16="http://schemas.microsoft.com/office/drawing/2014/main" id="{73F54325-B8E5-4EBF-9F1E-1F72FDEA11B4}"/>
              </a:ext>
            </a:extLst>
          </p:cNvPr>
          <p:cNvSpPr>
            <a:spLocks noGrp="1"/>
          </p:cNvSpPr>
          <p:nvPr>
            <p:ph type="sldNum" sz="quarter" idx="4"/>
          </p:nvPr>
        </p:nvSpPr>
        <p:spPr>
          <a:xfrm>
            <a:off x="9232901" y="23978"/>
            <a:ext cx="2744787" cy="365125"/>
          </a:xfrm>
          <a:prstGeom prst="rect">
            <a:avLst/>
          </a:prstGeom>
        </p:spPr>
        <p:txBody>
          <a:bodyPr vert="horz" lIns="91440" tIns="45720" rIns="91440" bIns="45720" rtlCol="0" anchor="ctr"/>
          <a:lstStyle>
            <a:lvl1pPr algn="r">
              <a:defRPr sz="1800">
                <a:solidFill>
                  <a:schemeClr val="bg1"/>
                </a:solidFill>
              </a:defRPr>
            </a:lvl1pPr>
          </a:lstStyle>
          <a:p>
            <a:fld id="{C42A670E-4250-4C14-8323-982480E0B347}"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4361" r:id="rId1"/>
    <p:sldLayoutId id="2147484362" r:id="rId2"/>
    <p:sldLayoutId id="2147484372" r:id="rId3"/>
    <p:sldLayoutId id="2147484363" r:id="rId4"/>
    <p:sldLayoutId id="2147484364" r:id="rId5"/>
    <p:sldLayoutId id="2147484365" r:id="rId6"/>
    <p:sldLayoutId id="2147484366" r:id="rId7"/>
    <p:sldLayoutId id="2147484367" r:id="rId8"/>
    <p:sldLayoutId id="2147484368" r:id="rId9"/>
    <p:sldLayoutId id="2147484369" r:id="rId10"/>
    <p:sldLayoutId id="2147484370" r:id="rId11"/>
    <p:sldLayoutId id="2147484371" r:id="rId12"/>
  </p:sldLayoutIdLst>
  <p:hf hdr="0" ftr="0" dt="0"/>
  <p:txStyles>
    <p:titleStyle>
      <a:lvl1pPr algn="l" rtl="0" eaLnBrk="0" fontAlgn="base" hangingPunct="0">
        <a:spcBef>
          <a:spcPct val="0"/>
        </a:spcBef>
        <a:spcAft>
          <a:spcPct val="0"/>
        </a:spcAft>
        <a:defRPr sz="4000" kern="1200">
          <a:solidFill>
            <a:srgbClr val="003399"/>
          </a:solidFill>
          <a:latin typeface="微软雅黑" pitchFamily="34" charset="-122"/>
          <a:ea typeface="微软雅黑" pitchFamily="34" charset="-122"/>
          <a:cs typeface="+mj-cs"/>
        </a:defRPr>
      </a:lvl1pPr>
      <a:lvl2pPr algn="l" rtl="0" eaLnBrk="0" fontAlgn="base" hangingPunct="0">
        <a:spcBef>
          <a:spcPct val="0"/>
        </a:spcBef>
        <a:spcAft>
          <a:spcPct val="0"/>
        </a:spcAft>
        <a:defRPr sz="4000">
          <a:solidFill>
            <a:schemeClr val="tx2"/>
          </a:solidFill>
          <a:latin typeface="微软雅黑" pitchFamily="34" charset="-122"/>
          <a:ea typeface="微软雅黑" pitchFamily="34" charset="-122"/>
        </a:defRPr>
      </a:lvl2pPr>
      <a:lvl3pPr algn="l" rtl="0" eaLnBrk="0" fontAlgn="base" hangingPunct="0">
        <a:spcBef>
          <a:spcPct val="0"/>
        </a:spcBef>
        <a:spcAft>
          <a:spcPct val="0"/>
        </a:spcAft>
        <a:defRPr sz="4000">
          <a:solidFill>
            <a:schemeClr val="tx2"/>
          </a:solidFill>
          <a:latin typeface="微软雅黑" pitchFamily="34" charset="-122"/>
          <a:ea typeface="微软雅黑" pitchFamily="34" charset="-122"/>
        </a:defRPr>
      </a:lvl3pPr>
      <a:lvl4pPr algn="l" rtl="0" eaLnBrk="0" fontAlgn="base" hangingPunct="0">
        <a:spcBef>
          <a:spcPct val="0"/>
        </a:spcBef>
        <a:spcAft>
          <a:spcPct val="0"/>
        </a:spcAft>
        <a:defRPr sz="4000">
          <a:solidFill>
            <a:schemeClr val="tx2"/>
          </a:solidFill>
          <a:latin typeface="微软雅黑" pitchFamily="34" charset="-122"/>
          <a:ea typeface="微软雅黑" pitchFamily="34" charset="-122"/>
        </a:defRPr>
      </a:lvl4pPr>
      <a:lvl5pPr algn="l" rtl="0" eaLnBrk="0" fontAlgn="base" hangingPunct="0">
        <a:spcBef>
          <a:spcPct val="0"/>
        </a:spcBef>
        <a:spcAft>
          <a:spcPct val="0"/>
        </a:spcAft>
        <a:defRPr sz="4000">
          <a:solidFill>
            <a:schemeClr val="tx2"/>
          </a:solidFill>
          <a:latin typeface="微软雅黑" pitchFamily="34" charset="-122"/>
          <a:ea typeface="微软雅黑" pitchFamily="34" charset="-122"/>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p:titleStyle>
    <p:bodyStyle>
      <a:lvl1pPr marL="365125" indent="-255588" algn="l" rtl="0" eaLnBrk="0" fontAlgn="base" hangingPunct="0">
        <a:spcBef>
          <a:spcPts val="300"/>
        </a:spcBef>
        <a:spcAft>
          <a:spcPct val="0"/>
        </a:spcAft>
        <a:buClr>
          <a:srgbClr val="A04DA3"/>
        </a:buClr>
        <a:buFont typeface="Georgia" panose="02040502050405020303" pitchFamily="18" charset="0"/>
        <a:buChar char="•"/>
        <a:defRPr sz="4400" kern="1200">
          <a:solidFill>
            <a:schemeClr val="tx1"/>
          </a:solidFill>
          <a:latin typeface="微软雅黑" pitchFamily="34" charset="-122"/>
          <a:ea typeface="微软雅黑" pitchFamily="34" charset="-122"/>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4000" kern="1200">
          <a:solidFill>
            <a:schemeClr val="accent1"/>
          </a:solidFill>
          <a:latin typeface="微软雅黑" pitchFamily="34" charset="-122"/>
          <a:ea typeface="微软雅黑" pitchFamily="34" charset="-122"/>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800" kern="1200">
          <a:solidFill>
            <a:schemeClr val="accent1"/>
          </a:solidFill>
          <a:latin typeface="微软雅黑" pitchFamily="34" charset="-122"/>
          <a:ea typeface="微软雅黑" pitchFamily="34" charset="-122"/>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微软雅黑" pitchFamily="34" charset="-122"/>
          <a:ea typeface="微软雅黑" pitchFamily="34" charset="-122"/>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微软雅黑" pitchFamily="34" charset="-122"/>
          <a:ea typeface="微软雅黑" pitchFamily="34" charset="-122"/>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标题占位符 21"/>
          <p:cNvSpPr>
            <a:spLocks noGrp="1"/>
          </p:cNvSpPr>
          <p:nvPr>
            <p:ph type="title"/>
          </p:nvPr>
        </p:nvSpPr>
        <p:spPr bwMode="auto">
          <a:xfrm>
            <a:off x="609600" y="576263"/>
            <a:ext cx="109759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文本占位符 12"/>
          <p:cNvSpPr>
            <a:spLocks noGrp="1"/>
          </p:cNvSpPr>
          <p:nvPr>
            <p:ph type="body" idx="1"/>
          </p:nvPr>
        </p:nvSpPr>
        <p:spPr bwMode="auto">
          <a:xfrm>
            <a:off x="609600" y="1785938"/>
            <a:ext cx="10975975"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28" name="TextBox 17"/>
          <p:cNvSpPr txBox="1">
            <a:spLocks noChangeArrowheads="1"/>
          </p:cNvSpPr>
          <p:nvPr/>
        </p:nvSpPr>
        <p:spPr bwMode="auto">
          <a:xfrm>
            <a:off x="8689975" y="6597650"/>
            <a:ext cx="3287713" cy="261938"/>
          </a:xfrm>
          <a:prstGeom prst="rect">
            <a:avLst/>
          </a:prstGeom>
          <a:noFill/>
          <a:ln w="9525">
            <a:noFill/>
            <a:miter lim="800000"/>
            <a:headEnd/>
            <a:tailEnd/>
          </a:ln>
        </p:spPr>
        <p:txBody>
          <a:bodyPr>
            <a:spAutoFit/>
          </a:bodyPr>
          <a:lstStyle/>
          <a:p>
            <a:pPr>
              <a:defRPr/>
            </a:pPr>
            <a:r>
              <a:rPr lang="en-US" altLang="zh-CN" sz="1100" dirty="0">
                <a:latin typeface="微软雅黑" pitchFamily="34" charset="-122"/>
                <a:ea typeface="微软雅黑" pitchFamily="34" charset="-122"/>
              </a:rPr>
              <a:t>C++</a:t>
            </a:r>
            <a:r>
              <a:rPr lang="zh-CN" altLang="en-US" sz="1100" dirty="0">
                <a:latin typeface="微软雅黑" pitchFamily="34" charset="-122"/>
                <a:ea typeface="微软雅黑" pitchFamily="34" charset="-122"/>
              </a:rPr>
              <a:t>语言程序设计（第</a:t>
            </a:r>
            <a:r>
              <a:rPr lang="en-US" altLang="zh-CN" sz="1100" dirty="0">
                <a:latin typeface="微软雅黑" pitchFamily="34" charset="-122"/>
                <a:ea typeface="微软雅黑" pitchFamily="34" charset="-122"/>
              </a:rPr>
              <a:t>5</a:t>
            </a:r>
            <a:r>
              <a:rPr lang="zh-CN" altLang="en-US" sz="1100" dirty="0">
                <a:latin typeface="微软雅黑" pitchFamily="34" charset="-122"/>
                <a:ea typeface="微软雅黑" pitchFamily="34" charset="-122"/>
              </a:rPr>
              <a:t>版），郑莉，清华大学</a:t>
            </a:r>
          </a:p>
        </p:txBody>
      </p:sp>
      <p:sp>
        <p:nvSpPr>
          <p:cNvPr id="2" name="灯片编号占位符 1">
            <a:extLst>
              <a:ext uri="{FF2B5EF4-FFF2-40B4-BE49-F238E27FC236}">
                <a16:creationId xmlns:a16="http://schemas.microsoft.com/office/drawing/2014/main" id="{9F261FA9-F75E-4FB9-8AAD-5C4010452CB3}"/>
              </a:ext>
            </a:extLst>
          </p:cNvPr>
          <p:cNvSpPr>
            <a:spLocks noGrp="1"/>
          </p:cNvSpPr>
          <p:nvPr>
            <p:ph type="sldNum" sz="quarter" idx="4"/>
          </p:nvPr>
        </p:nvSpPr>
        <p:spPr>
          <a:xfrm>
            <a:off x="9232901" y="49692"/>
            <a:ext cx="2744787" cy="365125"/>
          </a:xfrm>
          <a:prstGeom prst="rect">
            <a:avLst/>
          </a:prstGeom>
        </p:spPr>
        <p:txBody>
          <a:bodyPr vert="horz" lIns="91440" tIns="45720" rIns="91440" bIns="45720" rtlCol="0" anchor="ctr"/>
          <a:lstStyle>
            <a:lvl1pPr algn="r">
              <a:defRPr sz="1800">
                <a:solidFill>
                  <a:schemeClr val="bg1"/>
                </a:solidFill>
              </a:defRPr>
            </a:lvl1pPr>
          </a:lstStyle>
          <a:p>
            <a:fld id="{EC069982-7ACB-446A-A05B-FEB31546ECF4}" type="slidenum">
              <a:rPr lang="zh-CN" altLang="en-US" smtClean="0"/>
              <a:pPr/>
              <a:t>‹#›</a:t>
            </a:fld>
            <a:endParaRPr lang="zh-CN" altLang="en-US" dirty="0"/>
          </a:p>
        </p:txBody>
      </p:sp>
    </p:spTree>
    <p:extLst>
      <p:ext uri="{BB962C8B-B14F-4D97-AF65-F5344CB8AC3E}">
        <p14:creationId xmlns:p14="http://schemas.microsoft.com/office/powerpoint/2010/main" val="117064720"/>
      </p:ext>
    </p:extLst>
  </p:cSld>
  <p:clrMap bg1="lt1" tx1="dk1" bg2="lt2" tx2="dk2" accent1="accent1" accent2="accent2" accent3="accent3" accent4="accent4" accent5="accent5" accent6="accent6" hlink="hlink" folHlink="folHlink"/>
  <p:sldLayoutIdLst>
    <p:sldLayoutId id="2147484374" r:id="rId1"/>
    <p:sldLayoutId id="2147484375" r:id="rId2"/>
    <p:sldLayoutId id="2147484376" r:id="rId3"/>
    <p:sldLayoutId id="2147484377" r:id="rId4"/>
    <p:sldLayoutId id="2147484378" r:id="rId5"/>
    <p:sldLayoutId id="2147484379" r:id="rId6"/>
    <p:sldLayoutId id="2147484380" r:id="rId7"/>
    <p:sldLayoutId id="2147484381" r:id="rId8"/>
    <p:sldLayoutId id="2147484382" r:id="rId9"/>
    <p:sldLayoutId id="2147484383" r:id="rId10"/>
    <p:sldLayoutId id="2147484384" r:id="rId11"/>
    <p:sldLayoutId id="2147484385" r:id="rId12"/>
  </p:sldLayoutIdLst>
  <p:hf hdr="0" ftr="0" dt="0"/>
  <p:txStyles>
    <p:titleStyle>
      <a:lvl1pPr algn="l" rtl="0" eaLnBrk="0" fontAlgn="base" hangingPunct="0">
        <a:spcBef>
          <a:spcPct val="0"/>
        </a:spcBef>
        <a:spcAft>
          <a:spcPct val="0"/>
        </a:spcAft>
        <a:defRPr sz="4000" kern="1200">
          <a:solidFill>
            <a:schemeClr val="tx2"/>
          </a:solidFill>
          <a:latin typeface="微软雅黑" pitchFamily="34" charset="-122"/>
          <a:ea typeface="微软雅黑" pitchFamily="34" charset="-122"/>
          <a:cs typeface="+mj-cs"/>
        </a:defRPr>
      </a:lvl1pPr>
      <a:lvl2pPr algn="l" rtl="0" eaLnBrk="0" fontAlgn="base" hangingPunct="0">
        <a:spcBef>
          <a:spcPct val="0"/>
        </a:spcBef>
        <a:spcAft>
          <a:spcPct val="0"/>
        </a:spcAft>
        <a:defRPr sz="4000">
          <a:solidFill>
            <a:schemeClr val="tx2"/>
          </a:solidFill>
          <a:latin typeface="微软雅黑" pitchFamily="34" charset="-122"/>
          <a:ea typeface="微软雅黑" pitchFamily="34" charset="-122"/>
        </a:defRPr>
      </a:lvl2pPr>
      <a:lvl3pPr algn="l" rtl="0" eaLnBrk="0" fontAlgn="base" hangingPunct="0">
        <a:spcBef>
          <a:spcPct val="0"/>
        </a:spcBef>
        <a:spcAft>
          <a:spcPct val="0"/>
        </a:spcAft>
        <a:defRPr sz="4000">
          <a:solidFill>
            <a:schemeClr val="tx2"/>
          </a:solidFill>
          <a:latin typeface="微软雅黑" pitchFamily="34" charset="-122"/>
          <a:ea typeface="微软雅黑" pitchFamily="34" charset="-122"/>
        </a:defRPr>
      </a:lvl3pPr>
      <a:lvl4pPr algn="l" rtl="0" eaLnBrk="0" fontAlgn="base" hangingPunct="0">
        <a:spcBef>
          <a:spcPct val="0"/>
        </a:spcBef>
        <a:spcAft>
          <a:spcPct val="0"/>
        </a:spcAft>
        <a:defRPr sz="4000">
          <a:solidFill>
            <a:schemeClr val="tx2"/>
          </a:solidFill>
          <a:latin typeface="微软雅黑" pitchFamily="34" charset="-122"/>
          <a:ea typeface="微软雅黑" pitchFamily="34" charset="-122"/>
        </a:defRPr>
      </a:lvl4pPr>
      <a:lvl5pPr algn="l" rtl="0" eaLnBrk="0" fontAlgn="base" hangingPunct="0">
        <a:spcBef>
          <a:spcPct val="0"/>
        </a:spcBef>
        <a:spcAft>
          <a:spcPct val="0"/>
        </a:spcAft>
        <a:defRPr sz="4000">
          <a:solidFill>
            <a:schemeClr val="tx2"/>
          </a:solidFill>
          <a:latin typeface="微软雅黑" pitchFamily="34" charset="-122"/>
          <a:ea typeface="微软雅黑" pitchFamily="34" charset="-122"/>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p:titleStyle>
    <p:bodyStyle>
      <a:lvl1pPr marL="365125" indent="-255588" algn="l" rtl="0" eaLnBrk="0" fontAlgn="base" hangingPunct="0">
        <a:spcBef>
          <a:spcPts val="300"/>
        </a:spcBef>
        <a:spcAft>
          <a:spcPct val="0"/>
        </a:spcAft>
        <a:buClr>
          <a:srgbClr val="A04DA3"/>
        </a:buClr>
        <a:buFont typeface="Georgia" panose="02040502050405020303" pitchFamily="18" charset="0"/>
        <a:buChar char="•"/>
        <a:defRPr sz="4400" kern="1200">
          <a:solidFill>
            <a:schemeClr val="tx1"/>
          </a:solidFill>
          <a:latin typeface="微软雅黑" pitchFamily="34" charset="-122"/>
          <a:ea typeface="微软雅黑" pitchFamily="34" charset="-122"/>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4000" kern="1200">
          <a:solidFill>
            <a:schemeClr val="accent1"/>
          </a:solidFill>
          <a:latin typeface="微软雅黑" pitchFamily="34" charset="-122"/>
          <a:ea typeface="微软雅黑" pitchFamily="34" charset="-122"/>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800" kern="1200">
          <a:solidFill>
            <a:schemeClr val="accent1"/>
          </a:solidFill>
          <a:latin typeface="微软雅黑" pitchFamily="34" charset="-122"/>
          <a:ea typeface="微软雅黑" pitchFamily="34" charset="-122"/>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微软雅黑" pitchFamily="34" charset="-122"/>
          <a:ea typeface="微软雅黑" pitchFamily="34" charset="-122"/>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微软雅黑" pitchFamily="34" charset="-122"/>
          <a:ea typeface="微软雅黑" pitchFamily="34" charset="-122"/>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ctrTitle"/>
          </p:nvPr>
        </p:nvSpPr>
        <p:spPr/>
        <p:txBody>
          <a:bodyPr/>
          <a:lstStyle/>
          <a:p>
            <a:r>
              <a:rPr lang="zh-CN" altLang="zh-CN" dirty="0"/>
              <a:t>第</a:t>
            </a:r>
            <a:r>
              <a:rPr lang="zh-CN" altLang="en-US" dirty="0"/>
              <a:t> </a:t>
            </a:r>
            <a:r>
              <a:rPr lang="en-US" altLang="zh-CN" dirty="0"/>
              <a:t>8 </a:t>
            </a:r>
            <a:r>
              <a:rPr lang="zh-CN" altLang="zh-CN" dirty="0"/>
              <a:t>章</a:t>
            </a:r>
            <a:r>
              <a:rPr lang="en-US" altLang="zh-CN" dirty="0"/>
              <a:t> </a:t>
            </a:r>
            <a:r>
              <a:rPr lang="zh-CN" altLang="en-US" dirty="0"/>
              <a:t>多态性</a:t>
            </a:r>
          </a:p>
        </p:txBody>
      </p:sp>
      <p:sp>
        <p:nvSpPr>
          <p:cNvPr id="10245" name="Rectangle 3"/>
          <p:cNvSpPr>
            <a:spLocks noGrp="1" noChangeArrowheads="1"/>
          </p:cNvSpPr>
          <p:nvPr>
            <p:ph type="subTitle" idx="1"/>
          </p:nvPr>
        </p:nvSpPr>
        <p:spPr/>
        <p:txBody>
          <a:bodyPr/>
          <a:lstStyle/>
          <a:p>
            <a:r>
              <a:rPr lang="zh-CN" altLang="en-US" dirty="0"/>
              <a:t>郑 莉  清华大学</a:t>
            </a:r>
          </a:p>
        </p:txBody>
      </p:sp>
      <p:sp>
        <p:nvSpPr>
          <p:cNvPr id="6" name="Rectangle 3"/>
          <p:cNvSpPr txBox="1">
            <a:spLocks noChangeArrowheads="1"/>
          </p:cNvSpPr>
          <p:nvPr/>
        </p:nvSpPr>
        <p:spPr bwMode="auto">
          <a:xfrm>
            <a:off x="6241853" y="6014784"/>
            <a:ext cx="5688210" cy="671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3" rIns="91427" bIns="45713"/>
          <a:lstStyle>
            <a:lvl1pPr marL="61913"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ts val="300"/>
              </a:spcBef>
              <a:buClr>
                <a:srgbClr val="A04DA3"/>
              </a:buClr>
            </a:pPr>
            <a:r>
              <a:rPr kumimoji="0" lang="zh-CN" altLang="en-US" sz="1600" dirty="0">
                <a:solidFill>
                  <a:schemeClr val="bg1"/>
                </a:solidFill>
                <a:latin typeface="+mn-ea"/>
                <a:ea typeface="+mn-ea"/>
              </a:rPr>
              <a:t>教材：</a:t>
            </a:r>
            <a:r>
              <a:rPr kumimoji="0" lang="en-US" altLang="zh-CN" sz="1600" dirty="0">
                <a:solidFill>
                  <a:schemeClr val="bg1"/>
                </a:solidFill>
                <a:latin typeface="+mn-ea"/>
                <a:ea typeface="+mn-ea"/>
              </a:rPr>
              <a:t>C++</a:t>
            </a:r>
            <a:r>
              <a:rPr kumimoji="0" lang="zh-CN" altLang="en-US" sz="1600" dirty="0">
                <a:solidFill>
                  <a:schemeClr val="bg1"/>
                </a:solidFill>
                <a:latin typeface="+mn-ea"/>
                <a:ea typeface="+mn-ea"/>
              </a:rPr>
              <a:t>语言程序设计（第</a:t>
            </a:r>
            <a:r>
              <a:rPr kumimoji="0" lang="en-US" altLang="zh-CN" sz="1600" dirty="0">
                <a:solidFill>
                  <a:schemeClr val="bg1"/>
                </a:solidFill>
                <a:latin typeface="+mn-ea"/>
                <a:ea typeface="+mn-ea"/>
              </a:rPr>
              <a:t>5</a:t>
            </a:r>
            <a:r>
              <a:rPr kumimoji="0" lang="zh-CN" altLang="en-US" sz="1600" dirty="0">
                <a:solidFill>
                  <a:schemeClr val="bg1"/>
                </a:solidFill>
                <a:latin typeface="+mn-ea"/>
                <a:ea typeface="+mn-ea"/>
              </a:rPr>
              <a:t>版） 郑莉  清华大学出版社</a:t>
            </a:r>
            <a:endParaRPr kumimoji="0" lang="en-US" altLang="zh-CN" sz="1600" dirty="0">
              <a:solidFill>
                <a:schemeClr val="bg1"/>
              </a:solidFill>
              <a:latin typeface="+mn-ea"/>
              <a:ea typeface="+mn-ea"/>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p:txBody>
          <a:bodyPr/>
          <a:lstStyle/>
          <a:p>
            <a:r>
              <a:rPr lang="zh-CN" altLang="en-US"/>
              <a:t>目录</a:t>
            </a:r>
          </a:p>
        </p:txBody>
      </p:sp>
      <p:sp>
        <p:nvSpPr>
          <p:cNvPr id="4100" name="Rectangle 5"/>
          <p:cNvSpPr>
            <a:spLocks noGrp="1" noChangeArrowheads="1"/>
          </p:cNvSpPr>
          <p:nvPr>
            <p:ph idx="1"/>
          </p:nvPr>
        </p:nvSpPr>
        <p:spPr/>
        <p:txBody>
          <a:bodyPr/>
          <a:lstStyle/>
          <a:p>
            <a:r>
              <a:rPr lang="zh-CN" altLang="en-US" dirty="0"/>
              <a:t>运算符重载</a:t>
            </a:r>
            <a:endParaRPr lang="en-US" altLang="zh-CN" dirty="0"/>
          </a:p>
          <a:p>
            <a:r>
              <a:rPr lang="zh-CN" altLang="en-US" dirty="0"/>
              <a:t>虚函数</a:t>
            </a:r>
            <a:endParaRPr lang="en-US" altLang="zh-CN" dirty="0"/>
          </a:p>
          <a:p>
            <a:r>
              <a:rPr lang="zh-CN" altLang="en-US" dirty="0"/>
              <a:t>抽象类</a:t>
            </a:r>
            <a:endParaRPr lang="en-US" altLang="zh-CN" dirty="0"/>
          </a:p>
        </p:txBody>
      </p:sp>
      <p:sp>
        <p:nvSpPr>
          <p:cNvPr id="4" name="灯片编号占位符 3">
            <a:extLst>
              <a:ext uri="{FF2B5EF4-FFF2-40B4-BE49-F238E27FC236}">
                <a16:creationId xmlns:a16="http://schemas.microsoft.com/office/drawing/2014/main" id="{8A63EE13-C6AD-4B00-84DA-D3FB8A7535D3}"/>
              </a:ext>
            </a:extLst>
          </p:cNvPr>
          <p:cNvSpPr>
            <a:spLocks noGrp="1"/>
          </p:cNvSpPr>
          <p:nvPr>
            <p:ph type="sldNum" sz="quarter" idx="4"/>
          </p:nvPr>
        </p:nvSpPr>
        <p:spPr/>
        <p:txBody>
          <a:bodyPr/>
          <a:lstStyle/>
          <a:p>
            <a:fld id="{C42A670E-4250-4C14-8323-982480E0B347}" type="slidenum">
              <a:rPr lang="zh-CN" altLang="en-US" smtClean="0"/>
              <a:pPr/>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运算符重载概述</a:t>
            </a:r>
          </a:p>
        </p:txBody>
      </p:sp>
      <p:sp>
        <p:nvSpPr>
          <p:cNvPr id="8" name="文本占位符 7">
            <a:extLst>
              <a:ext uri="{FF2B5EF4-FFF2-40B4-BE49-F238E27FC236}">
                <a16:creationId xmlns:a16="http://schemas.microsoft.com/office/drawing/2014/main" id="{1ACC7C8B-4A76-43B1-9E97-2FD96CD72F0A}"/>
              </a:ext>
            </a:extLst>
          </p:cNvPr>
          <p:cNvSpPr>
            <a:spLocks noGrp="1"/>
          </p:cNvSpPr>
          <p:nvPr>
            <p:ph type="body" idx="1"/>
          </p:nvPr>
        </p:nvSpPr>
        <p:spPr/>
        <p:txBody>
          <a:bodyPr/>
          <a:lstStyle/>
          <a:p>
            <a:endParaRPr lang="zh-CN" altLang="en-US"/>
          </a:p>
        </p:txBody>
      </p:sp>
      <p:sp>
        <p:nvSpPr>
          <p:cNvPr id="9" name="灯片编号占位符 8">
            <a:extLst>
              <a:ext uri="{FF2B5EF4-FFF2-40B4-BE49-F238E27FC236}">
                <a16:creationId xmlns:a16="http://schemas.microsoft.com/office/drawing/2014/main" id="{333AD110-9C38-407D-AF4B-F1084E0ADCB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00F21B-5F9E-4DB6-92EB-09A53204F80C}" type="slidenum">
              <a:rPr kumimoji="1" lang="en-US" altLang="zh-CN" sz="1800" b="0" i="0" u="none" strike="noStrike" kern="1200" cap="none" spc="0" normalizeH="0" baseline="0" noProof="0" smtClean="0">
                <a:ln>
                  <a:noFill/>
                </a:ln>
                <a:solidFill>
                  <a:prstClr val="white"/>
                </a:solidFill>
                <a:effectLst/>
                <a:uLnTx/>
                <a:uFillTx/>
                <a:latin typeface="Times New Roman" panose="02020603050405020304" pitchFamily="18" charset="0"/>
                <a:ea typeface="隶书" panose="020105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1"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1565205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思考</a:t>
            </a:r>
          </a:p>
        </p:txBody>
      </p:sp>
      <p:sp>
        <p:nvSpPr>
          <p:cNvPr id="3" name="内容占位符 2"/>
          <p:cNvSpPr>
            <a:spLocks noGrp="1"/>
          </p:cNvSpPr>
          <p:nvPr>
            <p:ph idx="1"/>
          </p:nvPr>
        </p:nvSpPr>
        <p:spPr/>
        <p:txBody>
          <a:bodyPr/>
          <a:lstStyle/>
          <a:p>
            <a:r>
              <a:rPr lang="zh-CN" altLang="en-US"/>
              <a:t>有如下复数类定义：</a:t>
            </a:r>
            <a:endParaRPr lang="en-US" altLang="zh-CN"/>
          </a:p>
          <a:p>
            <a:pPr marL="365760" indent="-256032" eaLnBrk="1" fontAlgn="auto" hangingPunct="1">
              <a:spcBef>
                <a:spcPts val="0"/>
              </a:spcBef>
              <a:spcAft>
                <a:spcPts val="0"/>
              </a:spcAft>
              <a:buClr>
                <a:schemeClr val="accent3"/>
              </a:buClr>
              <a:buFont typeface="Georgia"/>
              <a:buNone/>
              <a:defRPr/>
            </a:pPr>
            <a:r>
              <a:rPr lang="en-US" altLang="zh-CN" sz="2000"/>
              <a:t>class Complex {</a:t>
            </a:r>
            <a:endParaRPr lang="zh-CN" altLang="en-US" sz="2000"/>
          </a:p>
          <a:p>
            <a:pPr marL="365760" indent="-256032" eaLnBrk="1" fontAlgn="auto" hangingPunct="1">
              <a:spcBef>
                <a:spcPts val="0"/>
              </a:spcBef>
              <a:spcAft>
                <a:spcPts val="0"/>
              </a:spcAft>
              <a:buClr>
                <a:schemeClr val="accent3"/>
              </a:buClr>
              <a:buFont typeface="Georgia"/>
              <a:buNone/>
              <a:defRPr/>
            </a:pPr>
            <a:r>
              <a:rPr lang="en-US" altLang="zh-CN" sz="2000"/>
              <a:t>public:</a:t>
            </a:r>
            <a:endParaRPr lang="zh-CN" altLang="en-US" sz="2000"/>
          </a:p>
          <a:p>
            <a:pPr marL="365760" indent="-256032" eaLnBrk="1" fontAlgn="auto" hangingPunct="1">
              <a:spcBef>
                <a:spcPts val="0"/>
              </a:spcBef>
              <a:spcAft>
                <a:spcPts val="0"/>
              </a:spcAft>
              <a:buClr>
                <a:schemeClr val="accent3"/>
              </a:buClr>
              <a:buFont typeface="Georgia"/>
              <a:buNone/>
              <a:defRPr/>
            </a:pPr>
            <a:r>
              <a:rPr lang="zh-CN" altLang="en-US" sz="2000"/>
              <a:t>	</a:t>
            </a:r>
            <a:r>
              <a:rPr lang="en-US" altLang="zh-CN" sz="2000"/>
              <a:t>Complex(double r = 0.0, double i = 0.0) : real(r), imag(i) { }</a:t>
            </a:r>
            <a:endParaRPr lang="zh-CN" altLang="en-US" sz="2000"/>
          </a:p>
          <a:p>
            <a:pPr marL="365760" indent="-256032" eaLnBrk="1" fontAlgn="auto" hangingPunct="1">
              <a:spcBef>
                <a:spcPts val="0"/>
              </a:spcBef>
              <a:spcAft>
                <a:spcPts val="0"/>
              </a:spcAft>
              <a:buClr>
                <a:schemeClr val="accent3"/>
              </a:buClr>
              <a:buFont typeface="Georgia"/>
              <a:buNone/>
              <a:defRPr/>
            </a:pPr>
            <a:r>
              <a:rPr lang="zh-CN" altLang="en-US" sz="2000"/>
              <a:t>	</a:t>
            </a:r>
            <a:r>
              <a:rPr lang="en-US" altLang="zh-CN" sz="2000"/>
              <a:t>void display() const;	//</a:t>
            </a:r>
            <a:r>
              <a:rPr lang="zh-CN" altLang="en-US" sz="2000"/>
              <a:t>输出复数</a:t>
            </a:r>
          </a:p>
          <a:p>
            <a:pPr marL="365760" indent="-256032" eaLnBrk="1" fontAlgn="auto" hangingPunct="1">
              <a:spcBef>
                <a:spcPts val="0"/>
              </a:spcBef>
              <a:spcAft>
                <a:spcPts val="0"/>
              </a:spcAft>
              <a:buClr>
                <a:schemeClr val="accent3"/>
              </a:buClr>
              <a:buFont typeface="Georgia"/>
              <a:buNone/>
              <a:defRPr/>
            </a:pPr>
            <a:r>
              <a:rPr lang="en-US" altLang="zh-CN" sz="2000"/>
              <a:t>private:</a:t>
            </a:r>
            <a:endParaRPr lang="zh-CN" altLang="en-US" sz="2000"/>
          </a:p>
          <a:p>
            <a:pPr marL="365760" indent="-256032" eaLnBrk="1" fontAlgn="auto" hangingPunct="1">
              <a:spcBef>
                <a:spcPts val="0"/>
              </a:spcBef>
              <a:spcAft>
                <a:spcPts val="0"/>
              </a:spcAft>
              <a:buClr>
                <a:schemeClr val="accent3"/>
              </a:buClr>
              <a:buFont typeface="Georgia"/>
              <a:buNone/>
              <a:defRPr/>
            </a:pPr>
            <a:r>
              <a:rPr lang="zh-CN" altLang="en-US" sz="2000"/>
              <a:t>	</a:t>
            </a:r>
            <a:r>
              <a:rPr lang="en-US" altLang="zh-CN" sz="2000"/>
              <a:t>double real;	//</a:t>
            </a:r>
            <a:r>
              <a:rPr lang="zh-CN" altLang="en-US" sz="2000"/>
              <a:t>复数实部</a:t>
            </a:r>
          </a:p>
          <a:p>
            <a:pPr marL="365760" indent="-256032" eaLnBrk="1" fontAlgn="auto" hangingPunct="1">
              <a:spcBef>
                <a:spcPts val="0"/>
              </a:spcBef>
              <a:spcAft>
                <a:spcPts val="0"/>
              </a:spcAft>
              <a:buClr>
                <a:schemeClr val="accent3"/>
              </a:buClr>
              <a:buFont typeface="Georgia"/>
              <a:buNone/>
              <a:defRPr/>
            </a:pPr>
            <a:r>
              <a:rPr lang="zh-CN" altLang="en-US" sz="2000"/>
              <a:t>	</a:t>
            </a:r>
            <a:r>
              <a:rPr lang="en-US" altLang="zh-CN" sz="2000"/>
              <a:t>double imag;	//</a:t>
            </a:r>
            <a:r>
              <a:rPr lang="zh-CN" altLang="en-US" sz="2000"/>
              <a:t>复数虚部</a:t>
            </a:r>
          </a:p>
          <a:p>
            <a:pPr marL="365760" indent="-256032" eaLnBrk="1" fontAlgn="auto" hangingPunct="1">
              <a:spcBef>
                <a:spcPts val="0"/>
              </a:spcBef>
              <a:spcAft>
                <a:spcPts val="0"/>
              </a:spcAft>
              <a:buClr>
                <a:schemeClr val="accent3"/>
              </a:buClr>
              <a:buFont typeface="Georgia"/>
              <a:buNone/>
              <a:defRPr/>
            </a:pPr>
            <a:r>
              <a:rPr lang="en-US" altLang="zh-CN" sz="2000"/>
              <a:t>};</a:t>
            </a:r>
          </a:p>
          <a:p>
            <a:r>
              <a:rPr lang="zh-CN" altLang="en-US"/>
              <a:t>能对复数类对象使用</a:t>
            </a:r>
            <a:r>
              <a:rPr lang="en-US" altLang="zh-CN"/>
              <a:t>+</a:t>
            </a:r>
            <a:r>
              <a:rPr lang="zh-CN" altLang="en-US"/>
              <a:t>、</a:t>
            </a:r>
            <a:r>
              <a:rPr lang="en-US" altLang="zh-CN"/>
              <a:t>-</a:t>
            </a:r>
            <a:r>
              <a:rPr lang="zh-CN" altLang="en-US"/>
              <a:t>运算符吗？</a:t>
            </a:r>
          </a:p>
        </p:txBody>
      </p:sp>
      <p:sp>
        <p:nvSpPr>
          <p:cNvPr id="4" name="灯片编号占位符 3">
            <a:extLst>
              <a:ext uri="{FF2B5EF4-FFF2-40B4-BE49-F238E27FC236}">
                <a16:creationId xmlns:a16="http://schemas.microsoft.com/office/drawing/2014/main" id="{9D71C0EE-1C62-4A45-9D2D-AE0BB21FF74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00F21B-5F9E-4DB6-92EB-09A53204F80C}" type="slidenum">
              <a:rPr kumimoji="1" lang="en-US" altLang="zh-CN" sz="1800" b="0" i="0" u="none" strike="noStrike" kern="1200" cap="none" spc="0" normalizeH="0" baseline="0" noProof="0" smtClean="0">
                <a:ln>
                  <a:noFill/>
                </a:ln>
                <a:solidFill>
                  <a:prstClr val="white"/>
                </a:solidFill>
                <a:effectLst/>
                <a:uLnTx/>
                <a:uFillTx/>
                <a:latin typeface="Times New Roman" panose="02020603050405020304" pitchFamily="18" charset="0"/>
                <a:ea typeface="隶书" panose="020105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1"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3307349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运算符重载的意义</a:t>
            </a:r>
          </a:p>
        </p:txBody>
      </p:sp>
      <p:sp>
        <p:nvSpPr>
          <p:cNvPr id="15363" name="内容占位符 2"/>
          <p:cNvSpPr>
            <a:spLocks noGrp="1"/>
          </p:cNvSpPr>
          <p:nvPr>
            <p:ph idx="1"/>
          </p:nvPr>
        </p:nvSpPr>
        <p:spPr/>
        <p:txBody>
          <a:bodyPr/>
          <a:lstStyle/>
          <a:p>
            <a:pPr eaLnBrk="1" hangingPunct="1">
              <a:lnSpc>
                <a:spcPct val="130000"/>
              </a:lnSpc>
            </a:pPr>
            <a:r>
              <a:rPr lang="zh-CN" altLang="en-US" sz="2400"/>
              <a:t>运算符重载是对已有的运算符赋予多重含义，使同一个运算符作用于不同类型的数据时导致不同的行为。</a:t>
            </a:r>
            <a:endParaRPr lang="en-US" altLang="zh-CN" sz="2400"/>
          </a:p>
          <a:p>
            <a:pPr eaLnBrk="1" hangingPunct="1">
              <a:lnSpc>
                <a:spcPct val="130000"/>
              </a:lnSpc>
            </a:pPr>
            <a:r>
              <a:rPr lang="zh-CN" altLang="en-US" sz="2400"/>
              <a:t>针对自定义的类，可以对原有运算符进行重载。</a:t>
            </a:r>
            <a:endParaRPr lang="en-US" altLang="zh-CN" sz="2400"/>
          </a:p>
          <a:p>
            <a:pPr eaLnBrk="1" hangingPunct="1">
              <a:lnSpc>
                <a:spcPct val="130000"/>
              </a:lnSpc>
            </a:pPr>
            <a:r>
              <a:rPr lang="zh-CN" altLang="en-US" sz="2400"/>
              <a:t>例如：</a:t>
            </a:r>
            <a:endParaRPr lang="en-US" altLang="zh-CN" sz="2400"/>
          </a:p>
          <a:p>
            <a:pPr lvl="1" eaLnBrk="1" hangingPunct="1">
              <a:lnSpc>
                <a:spcPct val="130000"/>
              </a:lnSpc>
            </a:pPr>
            <a:r>
              <a:rPr lang="zh-CN" altLang="en-US" sz="2000"/>
              <a:t>使复数类的对象可以用“</a:t>
            </a:r>
            <a:r>
              <a:rPr lang="en-US" altLang="zh-CN" sz="2000"/>
              <a:t>+</a:t>
            </a:r>
            <a:r>
              <a:rPr lang="zh-CN" altLang="en-US" sz="2000"/>
              <a:t>”运算符实现加法；</a:t>
            </a:r>
            <a:endParaRPr lang="en-US" altLang="zh-CN" sz="2000"/>
          </a:p>
          <a:p>
            <a:pPr lvl="1" eaLnBrk="1" hangingPunct="1">
              <a:lnSpc>
                <a:spcPct val="130000"/>
              </a:lnSpc>
            </a:pPr>
            <a:r>
              <a:rPr lang="zh-CN" altLang="en-US" sz="2000"/>
              <a:t>是时钟类对象可以用“</a:t>
            </a:r>
            <a:r>
              <a:rPr lang="en-US" altLang="zh-CN" sz="2000"/>
              <a:t>++</a:t>
            </a:r>
            <a:r>
              <a:rPr lang="zh-CN" altLang="en-US" sz="2000"/>
              <a:t>”运算符实现时间增加</a:t>
            </a:r>
            <a:r>
              <a:rPr lang="en-US" altLang="zh-CN" sz="2000"/>
              <a:t>1</a:t>
            </a:r>
            <a:r>
              <a:rPr lang="zh-CN" altLang="en-US" sz="2000"/>
              <a:t>秒。</a:t>
            </a:r>
            <a:endParaRPr lang="en-US" altLang="zh-CN" sz="2000"/>
          </a:p>
        </p:txBody>
      </p:sp>
      <p:sp>
        <p:nvSpPr>
          <p:cNvPr id="3" name="灯片编号占位符 2">
            <a:extLst>
              <a:ext uri="{FF2B5EF4-FFF2-40B4-BE49-F238E27FC236}">
                <a16:creationId xmlns:a16="http://schemas.microsoft.com/office/drawing/2014/main" id="{C84BD1D7-619F-47F5-9FC5-60D4E0E96A5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00F21B-5F9E-4DB6-92EB-09A53204F80C}" type="slidenum">
              <a:rPr kumimoji="1" lang="en-US" altLang="zh-CN" sz="1800" b="0" i="0" u="none" strike="noStrike" kern="1200" cap="none" spc="0" normalizeH="0" baseline="0" noProof="0" smtClean="0">
                <a:ln>
                  <a:noFill/>
                </a:ln>
                <a:solidFill>
                  <a:prstClr val="white"/>
                </a:solidFill>
                <a:effectLst/>
                <a:uLnTx/>
                <a:uFillTx/>
                <a:latin typeface="Times New Roman" panose="02020603050405020304" pitchFamily="18" charset="0"/>
                <a:ea typeface="隶书" panose="020105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1"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27090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运算符重载的规定</a:t>
            </a:r>
          </a:p>
        </p:txBody>
      </p:sp>
      <p:sp>
        <p:nvSpPr>
          <p:cNvPr id="15363" name="内容占位符 2"/>
          <p:cNvSpPr>
            <a:spLocks noGrp="1"/>
          </p:cNvSpPr>
          <p:nvPr>
            <p:ph idx="1"/>
          </p:nvPr>
        </p:nvSpPr>
        <p:spPr/>
        <p:txBody>
          <a:bodyPr/>
          <a:lstStyle/>
          <a:p>
            <a:pPr eaLnBrk="1" hangingPunct="1">
              <a:lnSpc>
                <a:spcPct val="130000"/>
              </a:lnSpc>
            </a:pPr>
            <a:r>
              <a:rPr lang="en-US" altLang="zh-CN" sz="2400"/>
              <a:t>C++</a:t>
            </a:r>
            <a:r>
              <a:rPr lang="zh-CN" altLang="en-US" sz="2400"/>
              <a:t> 几乎可以重载全部的运算符，而且只能够重载</a:t>
            </a:r>
            <a:r>
              <a:rPr lang="en-US" altLang="zh-CN" sz="2400"/>
              <a:t>C++</a:t>
            </a:r>
            <a:r>
              <a:rPr lang="zh-CN" altLang="en-US" sz="2400"/>
              <a:t>中已经有的。</a:t>
            </a:r>
            <a:endParaRPr lang="en-US" altLang="zh-CN" sz="2400"/>
          </a:p>
          <a:p>
            <a:pPr lvl="1" eaLnBrk="1" hangingPunct="1">
              <a:lnSpc>
                <a:spcPct val="130000"/>
              </a:lnSpc>
            </a:pPr>
            <a:r>
              <a:rPr lang="zh-CN" altLang="en-US" sz="2000"/>
              <a:t>不能重载的运算符：</a:t>
            </a:r>
            <a:r>
              <a:rPr lang="en-US" altLang="zh-CN" sz="2000">
                <a:ea typeface="宋体" panose="02010600030101010101" pitchFamily="2" charset="-122"/>
              </a:rPr>
              <a:t>“</a:t>
            </a:r>
            <a:r>
              <a:rPr lang="en-US" altLang="zh-CN" sz="2000"/>
              <a:t>.”</a:t>
            </a:r>
            <a:r>
              <a:rPr lang="zh-CN" altLang="en-US" sz="2000"/>
              <a:t>、“</a:t>
            </a:r>
            <a:r>
              <a:rPr lang="en-US" altLang="zh-CN" sz="2000"/>
              <a:t>.*”</a:t>
            </a:r>
            <a:r>
              <a:rPr lang="zh-CN" altLang="en-US" sz="2000"/>
              <a:t>、“</a:t>
            </a:r>
            <a:r>
              <a:rPr lang="en-US" altLang="zh-CN" sz="2000"/>
              <a:t>::”</a:t>
            </a:r>
            <a:r>
              <a:rPr lang="zh-CN" altLang="en-US" sz="2000"/>
              <a:t>、“</a:t>
            </a:r>
            <a:r>
              <a:rPr lang="en-US" altLang="zh-CN" sz="2000"/>
              <a:t>?:</a:t>
            </a:r>
            <a:r>
              <a:rPr lang="zh-CN" altLang="en-US" sz="2000"/>
              <a:t>”</a:t>
            </a:r>
            <a:endParaRPr lang="en-US" altLang="zh-CN" sz="2400"/>
          </a:p>
          <a:p>
            <a:pPr eaLnBrk="1" hangingPunct="1">
              <a:lnSpc>
                <a:spcPct val="130000"/>
              </a:lnSpc>
            </a:pPr>
            <a:r>
              <a:rPr lang="zh-CN" altLang="en-US" sz="2400"/>
              <a:t>重载之后运算符的优先级和结合性都不会改变。</a:t>
            </a:r>
            <a:endParaRPr lang="en-US" altLang="zh-CN" sz="2400"/>
          </a:p>
          <a:p>
            <a:pPr eaLnBrk="1" hangingPunct="1">
              <a:lnSpc>
                <a:spcPct val="130000"/>
              </a:lnSpc>
            </a:pPr>
            <a:r>
              <a:rPr lang="zh-CN" altLang="en-US" sz="2400"/>
              <a:t>可以重载为类的非静态成员函数。</a:t>
            </a:r>
            <a:endParaRPr lang="en-US" altLang="zh-CN" sz="2400"/>
          </a:p>
          <a:p>
            <a:pPr eaLnBrk="1" hangingPunct="1">
              <a:lnSpc>
                <a:spcPct val="130000"/>
              </a:lnSpc>
            </a:pPr>
            <a:r>
              <a:rPr lang="zh-CN" altLang="en-US" sz="2400"/>
              <a:t>可以重载为非成员函数（必要时可以声明为友元）。</a:t>
            </a:r>
            <a:endParaRPr lang="en-US" altLang="zh-CN" sz="2400"/>
          </a:p>
        </p:txBody>
      </p:sp>
      <p:sp>
        <p:nvSpPr>
          <p:cNvPr id="3" name="灯片编号占位符 2">
            <a:extLst>
              <a:ext uri="{FF2B5EF4-FFF2-40B4-BE49-F238E27FC236}">
                <a16:creationId xmlns:a16="http://schemas.microsoft.com/office/drawing/2014/main" id="{63296DE8-859A-48B6-B038-64F0A0F71FB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00F21B-5F9E-4DB6-92EB-09A53204F80C}" type="slidenum">
              <a:rPr kumimoji="1" lang="en-US" altLang="zh-CN" sz="1800" b="0" i="0" u="none" strike="noStrike" kern="1200" cap="none" spc="0" normalizeH="0" baseline="0" noProof="0" smtClean="0">
                <a:ln>
                  <a:noFill/>
                </a:ln>
                <a:solidFill>
                  <a:prstClr val="white"/>
                </a:solidFill>
                <a:effectLst/>
                <a:uLnTx/>
                <a:uFillTx/>
                <a:latin typeface="Times New Roman" panose="02020603050405020304" pitchFamily="18" charset="0"/>
                <a:ea typeface="隶书" panose="020105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1"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1446081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t>运算符重载为成员函数</a:t>
            </a:r>
          </a:p>
        </p:txBody>
      </p:sp>
      <p:sp>
        <p:nvSpPr>
          <p:cNvPr id="6" name="文本占位符 5"/>
          <p:cNvSpPr>
            <a:spLocks noGrp="1"/>
          </p:cNvSpPr>
          <p:nvPr>
            <p:ph type="body" idx="1"/>
          </p:nvPr>
        </p:nvSpPr>
        <p:spPr/>
        <p:txBody>
          <a:bodyPr/>
          <a:lstStyle/>
          <a:p>
            <a:endParaRPr lang="zh-CN" altLang="en-US" dirty="0"/>
          </a:p>
        </p:txBody>
      </p:sp>
      <p:sp>
        <p:nvSpPr>
          <p:cNvPr id="2" name="灯片编号占位符 1">
            <a:extLst>
              <a:ext uri="{FF2B5EF4-FFF2-40B4-BE49-F238E27FC236}">
                <a16:creationId xmlns:a16="http://schemas.microsoft.com/office/drawing/2014/main" id="{230001F1-FD29-4C13-ADBD-F9295DF83D1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00F21B-5F9E-4DB6-92EB-09A53204F80C}" type="slidenum">
              <a:rPr kumimoji="1" lang="en-US" altLang="zh-CN" sz="1800" b="0" i="0" u="none" strike="noStrike" kern="1200" cap="none" spc="0" normalizeH="0" baseline="0" noProof="0" smtClean="0">
                <a:ln>
                  <a:noFill/>
                </a:ln>
                <a:solidFill>
                  <a:prstClr val="white"/>
                </a:solidFill>
                <a:effectLst/>
                <a:uLnTx/>
                <a:uFillTx/>
                <a:latin typeface="Times New Roman" panose="02020603050405020304" pitchFamily="18" charset="0"/>
                <a:ea typeface="隶书" panose="020105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1"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179441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xfrm>
            <a:off x="609600" y="1412875"/>
            <a:ext cx="10167938" cy="836613"/>
          </a:xfrm>
        </p:spPr>
        <p:txBody>
          <a:bodyPr/>
          <a:lstStyle/>
          <a:p>
            <a:pPr eaLnBrk="1" hangingPunct="1"/>
            <a:r>
              <a:rPr lang="zh-CN" altLang="en-US" dirty="0"/>
              <a:t>例</a:t>
            </a:r>
            <a:r>
              <a:rPr lang="en-US" altLang="zh-CN" dirty="0"/>
              <a:t>8-1 </a:t>
            </a:r>
            <a:r>
              <a:rPr lang="zh-CN" altLang="en-US" dirty="0"/>
              <a:t>复数类加减法运算重载为成员函数</a:t>
            </a:r>
            <a:endParaRPr lang="zh-CN" altLang="en-US" dirty="0">
              <a:solidFill>
                <a:srgbClr val="003399"/>
              </a:solidFill>
            </a:endParaRPr>
          </a:p>
        </p:txBody>
      </p:sp>
      <p:sp>
        <p:nvSpPr>
          <p:cNvPr id="3" name="内容占位符 2"/>
          <p:cNvSpPr>
            <a:spLocks noGrp="1"/>
          </p:cNvSpPr>
          <p:nvPr>
            <p:ph idx="1"/>
          </p:nvPr>
        </p:nvSpPr>
        <p:spPr>
          <a:xfrm>
            <a:off x="609600" y="2760663"/>
            <a:ext cx="7143750" cy="3311525"/>
          </a:xfrm>
        </p:spPr>
        <p:txBody>
          <a:bodyPr>
            <a:normAutofit fontScale="92500" lnSpcReduction="10000"/>
          </a:bodyPr>
          <a:lstStyle/>
          <a:p>
            <a:pPr marL="0" indent="0" eaLnBrk="1" fontAlgn="auto" hangingPunct="1">
              <a:lnSpc>
                <a:spcPct val="120000"/>
              </a:lnSpc>
              <a:spcAft>
                <a:spcPts val="0"/>
              </a:spcAft>
              <a:buClr>
                <a:schemeClr val="accent3"/>
              </a:buClr>
              <a:defRPr/>
            </a:pPr>
            <a:r>
              <a:rPr lang="zh-CN" altLang="en-US" dirty="0"/>
              <a:t> </a:t>
            </a:r>
            <a:r>
              <a:rPr lang="zh-CN" altLang="en-US" sz="3800" dirty="0"/>
              <a:t> 要求</a:t>
            </a:r>
            <a:r>
              <a:rPr lang="en-US" altLang="zh-CN" sz="3800" dirty="0"/>
              <a:t>:</a:t>
            </a:r>
            <a:r>
              <a:rPr lang="zh-CN" altLang="en-US" sz="3800" dirty="0"/>
              <a:t> </a:t>
            </a:r>
            <a:endParaRPr lang="en-US" altLang="zh-CN" sz="3800" dirty="0"/>
          </a:p>
          <a:p>
            <a:pPr marL="658368" lvl="1" indent="-246888" eaLnBrk="1" fontAlgn="auto" hangingPunct="1">
              <a:lnSpc>
                <a:spcPct val="120000"/>
              </a:lnSpc>
              <a:spcAft>
                <a:spcPts val="0"/>
              </a:spcAft>
              <a:buFont typeface="Georgia"/>
              <a:buChar char="▫"/>
              <a:defRPr/>
            </a:pPr>
            <a:r>
              <a:rPr lang="zh-CN" altLang="en-US"/>
              <a:t>将</a:t>
            </a:r>
            <a:r>
              <a:rPr lang="en-US" altLang="zh-CN"/>
              <a:t>+</a:t>
            </a:r>
            <a:r>
              <a:rPr lang="zh-CN" altLang="en-US"/>
              <a:t>、</a:t>
            </a:r>
            <a:r>
              <a:rPr lang="en-US" altLang="zh-CN"/>
              <a:t>-</a:t>
            </a:r>
            <a:r>
              <a:rPr lang="zh-CN" altLang="en-US"/>
              <a:t>运</a:t>
            </a:r>
            <a:r>
              <a:rPr lang="zh-CN" altLang="en-US" dirty="0"/>
              <a:t>算重载为复数类的成员函数。</a:t>
            </a:r>
          </a:p>
          <a:p>
            <a:pPr marL="0" indent="0" eaLnBrk="1" fontAlgn="auto" hangingPunct="1">
              <a:lnSpc>
                <a:spcPct val="120000"/>
              </a:lnSpc>
              <a:spcAft>
                <a:spcPts val="0"/>
              </a:spcAft>
              <a:buClr>
                <a:schemeClr val="accent3"/>
              </a:buClr>
              <a:buFont typeface="Georgia"/>
              <a:buChar char="•"/>
              <a:defRPr/>
            </a:pPr>
            <a:r>
              <a:rPr lang="zh-CN" altLang="en-US" dirty="0"/>
              <a:t>  </a:t>
            </a:r>
            <a:r>
              <a:rPr lang="zh-CN" altLang="en-US" sz="3800" dirty="0"/>
              <a:t>规则</a:t>
            </a:r>
            <a:r>
              <a:rPr lang="en-US" altLang="zh-CN" sz="3800" dirty="0"/>
              <a:t>:</a:t>
            </a:r>
          </a:p>
          <a:p>
            <a:pPr marL="658368" lvl="1" indent="-246888" eaLnBrk="1" fontAlgn="auto" hangingPunct="1">
              <a:lnSpc>
                <a:spcPct val="120000"/>
              </a:lnSpc>
              <a:spcAft>
                <a:spcPts val="0"/>
              </a:spcAft>
              <a:buFont typeface="Georgia"/>
              <a:buChar char="▫"/>
              <a:defRPr/>
            </a:pPr>
            <a:r>
              <a:rPr lang="zh-CN" altLang="en-US" dirty="0"/>
              <a:t>实部和虚部分别相加减。</a:t>
            </a:r>
          </a:p>
          <a:p>
            <a:pPr marL="0" indent="0" eaLnBrk="1" fontAlgn="auto" hangingPunct="1">
              <a:lnSpc>
                <a:spcPct val="120000"/>
              </a:lnSpc>
              <a:spcAft>
                <a:spcPts val="0"/>
              </a:spcAft>
              <a:buClr>
                <a:schemeClr val="accent3"/>
              </a:buClr>
              <a:buFont typeface="Georgia"/>
              <a:buChar char="•"/>
              <a:defRPr/>
            </a:pPr>
            <a:r>
              <a:rPr lang="zh-CN" altLang="en-US" dirty="0"/>
              <a:t>  </a:t>
            </a:r>
            <a:r>
              <a:rPr lang="zh-CN" altLang="en-US" sz="3800" dirty="0"/>
              <a:t>操作数</a:t>
            </a:r>
            <a:r>
              <a:rPr lang="en-US" altLang="zh-CN" sz="3800" dirty="0"/>
              <a:t>:</a:t>
            </a:r>
          </a:p>
          <a:p>
            <a:pPr marL="658368" lvl="1" indent="-246888" eaLnBrk="1" fontAlgn="auto" hangingPunct="1">
              <a:lnSpc>
                <a:spcPct val="120000"/>
              </a:lnSpc>
              <a:spcAft>
                <a:spcPts val="0"/>
              </a:spcAft>
              <a:buFont typeface="Georgia"/>
              <a:buChar char="▫"/>
              <a:defRPr/>
            </a:pPr>
            <a:r>
              <a:rPr lang="zh-CN" altLang="en-US" dirty="0">
                <a:latin typeface="Times New Roman" pitchFamily="18" charset="0"/>
              </a:rPr>
              <a:t>两个操作数都是复数类的对象。</a:t>
            </a:r>
          </a:p>
          <a:p>
            <a:pPr marL="365760" indent="-256032" eaLnBrk="1" fontAlgn="auto" hangingPunct="1">
              <a:spcAft>
                <a:spcPts val="0"/>
              </a:spcAft>
              <a:buClr>
                <a:schemeClr val="accent3"/>
              </a:buClr>
              <a:buFont typeface="Georgia"/>
              <a:buChar char="•"/>
              <a:defRPr/>
            </a:pPr>
            <a:endParaRPr lang="zh-CN" altLang="en-US" sz="2400" dirty="0"/>
          </a:p>
        </p:txBody>
      </p:sp>
      <p:sp>
        <p:nvSpPr>
          <p:cNvPr id="2" name="灯片编号占位符 1">
            <a:extLst>
              <a:ext uri="{FF2B5EF4-FFF2-40B4-BE49-F238E27FC236}">
                <a16:creationId xmlns:a16="http://schemas.microsoft.com/office/drawing/2014/main" id="{D1A042A3-4147-4814-B90E-FD3BEF7EE74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00F21B-5F9E-4DB6-92EB-09A53204F80C}" type="slidenum">
              <a:rPr kumimoji="1" lang="en-US" altLang="zh-CN" sz="1800" b="0" i="0" u="none" strike="noStrike" kern="1200" cap="none" spc="0" normalizeH="0" baseline="0" noProof="0" smtClean="0">
                <a:ln>
                  <a:noFill/>
                </a:ln>
                <a:solidFill>
                  <a:prstClr val="white"/>
                </a:solidFill>
                <a:effectLst/>
                <a:uLnTx/>
                <a:uFillTx/>
                <a:latin typeface="Times New Roman" panose="02020603050405020304" pitchFamily="18" charset="0"/>
                <a:ea typeface="隶书" panose="020105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1"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3557547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p:txBody>
          <a:bodyPr/>
          <a:lstStyle/>
          <a:p>
            <a:r>
              <a:rPr lang="zh-CN" altLang="en-US"/>
              <a:t>例</a:t>
            </a:r>
            <a:r>
              <a:rPr lang="en-US" altLang="zh-CN"/>
              <a:t>8-1</a:t>
            </a:r>
            <a:r>
              <a:rPr lang="zh-CN" altLang="en-US"/>
              <a:t>复数类加减法运算重载为成员函数</a:t>
            </a:r>
          </a:p>
        </p:txBody>
      </p:sp>
      <p:sp>
        <p:nvSpPr>
          <p:cNvPr id="3" name="内容占位符 2"/>
          <p:cNvSpPr>
            <a:spLocks noGrp="1"/>
          </p:cNvSpPr>
          <p:nvPr>
            <p:ph idx="1"/>
          </p:nvPr>
        </p:nvSpPr>
        <p:spPr>
          <a:xfrm>
            <a:off x="2353171" y="1052736"/>
            <a:ext cx="9649072" cy="5521102"/>
          </a:xfrm>
        </p:spPr>
        <p:txBody>
          <a:bodyPr/>
          <a:lstStyle/>
          <a:p>
            <a:r>
              <a:rPr lang="en-US" altLang="zh-CN" dirty="0"/>
              <a:t>#include &lt;iostream&gt;</a:t>
            </a:r>
          </a:p>
          <a:p>
            <a:r>
              <a:rPr lang="en-US" altLang="zh-CN" dirty="0"/>
              <a:t>using namespace std;</a:t>
            </a:r>
          </a:p>
          <a:p>
            <a:r>
              <a:rPr lang="en-US" altLang="zh-CN" dirty="0"/>
              <a:t>class Complex {</a:t>
            </a:r>
            <a:endParaRPr lang="zh-CN" altLang="en-US" dirty="0"/>
          </a:p>
          <a:p>
            <a:r>
              <a:rPr lang="en-US" altLang="zh-CN" dirty="0"/>
              <a:t>public:</a:t>
            </a:r>
            <a:endParaRPr lang="zh-CN" altLang="en-US" dirty="0"/>
          </a:p>
          <a:p>
            <a:r>
              <a:rPr lang="zh-CN" altLang="en-US" dirty="0"/>
              <a:t>	</a:t>
            </a:r>
            <a:r>
              <a:rPr lang="en-US" altLang="zh-CN" dirty="0"/>
              <a:t>Complex(double r = 0.0, double </a:t>
            </a:r>
            <a:r>
              <a:rPr lang="en-US" altLang="zh-CN" dirty="0" err="1"/>
              <a:t>i</a:t>
            </a:r>
            <a:r>
              <a:rPr lang="en-US" altLang="zh-CN" dirty="0"/>
              <a:t> = 0.0) : real(r), </a:t>
            </a:r>
            <a:r>
              <a:rPr lang="en-US" altLang="zh-CN" dirty="0" err="1"/>
              <a:t>imag</a:t>
            </a:r>
            <a:r>
              <a:rPr lang="en-US" altLang="zh-CN" dirty="0"/>
              <a:t>(</a:t>
            </a:r>
            <a:r>
              <a:rPr lang="en-US" altLang="zh-CN" dirty="0" err="1"/>
              <a:t>i</a:t>
            </a:r>
            <a:r>
              <a:rPr lang="en-US" altLang="zh-CN" dirty="0"/>
              <a:t>) { }</a:t>
            </a:r>
            <a:endParaRPr lang="zh-CN" altLang="en-US" dirty="0"/>
          </a:p>
          <a:p>
            <a:r>
              <a:rPr lang="zh-CN" altLang="en-US" dirty="0"/>
              <a:t>	</a:t>
            </a:r>
            <a:r>
              <a:rPr lang="en-US" altLang="zh-CN" dirty="0"/>
              <a:t>//</a:t>
            </a:r>
            <a:r>
              <a:rPr lang="zh-CN" altLang="en-US" dirty="0"/>
              <a:t>运算符</a:t>
            </a:r>
            <a:r>
              <a:rPr lang="en-US" altLang="zh-CN" dirty="0"/>
              <a:t>+</a:t>
            </a:r>
            <a:r>
              <a:rPr lang="zh-CN" altLang="en-US" dirty="0"/>
              <a:t>重载成员函数</a:t>
            </a:r>
            <a:endParaRPr lang="en-US" altLang="zh-CN" dirty="0"/>
          </a:p>
          <a:p>
            <a:r>
              <a:rPr lang="en-US" altLang="zh-CN" dirty="0"/>
              <a:t>  Complex operator + (const Complex &amp;c2) const;</a:t>
            </a:r>
            <a:endParaRPr lang="zh-CN" altLang="en-US" dirty="0"/>
          </a:p>
          <a:p>
            <a:r>
              <a:rPr lang="zh-CN" altLang="en-US" dirty="0"/>
              <a:t>	</a:t>
            </a:r>
            <a:r>
              <a:rPr lang="en-US" altLang="zh-CN" dirty="0"/>
              <a:t>//</a:t>
            </a:r>
            <a:r>
              <a:rPr lang="zh-CN" altLang="en-US" dirty="0"/>
              <a:t>运算符</a:t>
            </a:r>
            <a:r>
              <a:rPr lang="en-US" altLang="zh-CN" dirty="0"/>
              <a:t>-</a:t>
            </a:r>
            <a:r>
              <a:rPr lang="zh-CN" altLang="en-US" dirty="0"/>
              <a:t>重载成员函数</a:t>
            </a:r>
            <a:endParaRPr lang="en-US" altLang="zh-CN" dirty="0"/>
          </a:p>
          <a:p>
            <a:r>
              <a:rPr lang="en-US" altLang="zh-CN" dirty="0"/>
              <a:t>  Complex operator - (const Complex &amp;c2) const;</a:t>
            </a:r>
            <a:endParaRPr lang="zh-CN" altLang="en-US" dirty="0"/>
          </a:p>
          <a:p>
            <a:r>
              <a:rPr lang="zh-CN" altLang="en-US" dirty="0"/>
              <a:t>	</a:t>
            </a:r>
            <a:r>
              <a:rPr lang="en-US" altLang="zh-CN" dirty="0"/>
              <a:t>void display() const;	//</a:t>
            </a:r>
            <a:r>
              <a:rPr lang="zh-CN" altLang="en-US" dirty="0"/>
              <a:t>输出复数</a:t>
            </a:r>
          </a:p>
          <a:p>
            <a:r>
              <a:rPr lang="en-US" altLang="zh-CN" dirty="0"/>
              <a:t>private:</a:t>
            </a:r>
            <a:endParaRPr lang="zh-CN" altLang="en-US" dirty="0"/>
          </a:p>
          <a:p>
            <a:r>
              <a:rPr lang="zh-CN" altLang="en-US" dirty="0"/>
              <a:t>	</a:t>
            </a:r>
            <a:r>
              <a:rPr lang="en-US" altLang="zh-CN" dirty="0"/>
              <a:t>double real;	//</a:t>
            </a:r>
            <a:r>
              <a:rPr lang="zh-CN" altLang="en-US" dirty="0"/>
              <a:t>复数实部</a:t>
            </a:r>
          </a:p>
          <a:p>
            <a:r>
              <a:rPr lang="zh-CN" altLang="en-US" dirty="0"/>
              <a:t>	</a:t>
            </a:r>
            <a:r>
              <a:rPr lang="en-US" altLang="zh-CN" dirty="0"/>
              <a:t>double </a:t>
            </a:r>
            <a:r>
              <a:rPr lang="en-US" altLang="zh-CN" dirty="0" err="1"/>
              <a:t>imag</a:t>
            </a:r>
            <a:r>
              <a:rPr lang="en-US" altLang="zh-CN" dirty="0"/>
              <a:t>;	//</a:t>
            </a:r>
            <a:r>
              <a:rPr lang="zh-CN" altLang="en-US" dirty="0"/>
              <a:t>复数虚部</a:t>
            </a:r>
          </a:p>
          <a:p>
            <a:r>
              <a:rPr lang="en-US" altLang="zh-CN" dirty="0"/>
              <a:t>};</a:t>
            </a:r>
          </a:p>
        </p:txBody>
      </p:sp>
    </p:spTree>
    <p:extLst>
      <p:ext uri="{BB962C8B-B14F-4D97-AF65-F5344CB8AC3E}">
        <p14:creationId xmlns:p14="http://schemas.microsoft.com/office/powerpoint/2010/main" val="3592609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p:txBody>
          <a:bodyPr/>
          <a:lstStyle/>
          <a:p>
            <a:r>
              <a:rPr lang="zh-CN" altLang="en-US"/>
              <a:t>例</a:t>
            </a:r>
            <a:r>
              <a:rPr lang="en-US" altLang="zh-CN"/>
              <a:t>8-1</a:t>
            </a:r>
            <a:r>
              <a:rPr lang="zh-CN" altLang="en-US"/>
              <a:t>复数类加减法运算重载为成员函数</a:t>
            </a:r>
          </a:p>
        </p:txBody>
      </p:sp>
      <p:sp>
        <p:nvSpPr>
          <p:cNvPr id="3" name="内容占位符 2"/>
          <p:cNvSpPr>
            <a:spLocks noGrp="1"/>
          </p:cNvSpPr>
          <p:nvPr>
            <p:ph idx="1"/>
          </p:nvPr>
        </p:nvSpPr>
        <p:spPr/>
        <p:txBody>
          <a:bodyPr/>
          <a:lstStyle/>
          <a:p>
            <a:r>
              <a:rPr lang="en-US" altLang="zh-CN" dirty="0"/>
              <a:t>Complex Complex::operator+(const Complex &amp;c2) const{</a:t>
            </a:r>
            <a:endParaRPr lang="zh-CN" altLang="en-US" dirty="0"/>
          </a:p>
          <a:p>
            <a:r>
              <a:rPr lang="en-US" altLang="zh-CN" dirty="0"/>
              <a:t>  //</a:t>
            </a:r>
            <a:r>
              <a:rPr lang="zh-CN" altLang="en-US" dirty="0"/>
              <a:t>创建一个临时无名对象作为返回值	</a:t>
            </a:r>
            <a:endParaRPr lang="en-US" altLang="zh-CN" dirty="0"/>
          </a:p>
          <a:p>
            <a:r>
              <a:rPr lang="en-US" altLang="zh-CN" dirty="0"/>
              <a:t>  return Complex(real+c2.real, imag+c2.imag); </a:t>
            </a:r>
            <a:endParaRPr lang="zh-CN" altLang="en-US" dirty="0"/>
          </a:p>
          <a:p>
            <a:r>
              <a:rPr lang="en-US" altLang="zh-CN" dirty="0"/>
              <a:t>}</a:t>
            </a:r>
          </a:p>
          <a:p>
            <a:endParaRPr lang="en-US" altLang="zh-CN" dirty="0"/>
          </a:p>
          <a:p>
            <a:r>
              <a:rPr lang="en-US" altLang="zh-CN" dirty="0"/>
              <a:t>Complex Complex::operator-(const Complex &amp;c2) const{</a:t>
            </a:r>
            <a:endParaRPr lang="zh-CN" altLang="en-US" dirty="0"/>
          </a:p>
          <a:p>
            <a:r>
              <a:rPr lang="en-US" altLang="zh-CN" dirty="0"/>
              <a:t> //</a:t>
            </a:r>
            <a:r>
              <a:rPr lang="zh-CN" altLang="en-US" dirty="0"/>
              <a:t>创建一个临时无名对象作为返回值</a:t>
            </a:r>
            <a:endParaRPr lang="en-US" altLang="zh-CN" dirty="0"/>
          </a:p>
          <a:p>
            <a:r>
              <a:rPr lang="zh-CN" altLang="en-US" dirty="0"/>
              <a:t>	</a:t>
            </a:r>
            <a:r>
              <a:rPr lang="en-US" altLang="zh-CN" dirty="0"/>
              <a:t>return Complex(real-c2.real, imag-c2.imag); </a:t>
            </a:r>
            <a:endParaRPr lang="zh-CN" altLang="en-US" dirty="0"/>
          </a:p>
          <a:p>
            <a:r>
              <a:rPr lang="en-US" altLang="zh-CN" dirty="0"/>
              <a:t>}</a:t>
            </a:r>
          </a:p>
          <a:p>
            <a:endParaRPr lang="en-US" altLang="zh-CN" dirty="0"/>
          </a:p>
          <a:p>
            <a:r>
              <a:rPr lang="en-US" altLang="zh-CN" dirty="0"/>
              <a:t>void Complex::display() const {</a:t>
            </a:r>
          </a:p>
          <a:p>
            <a:r>
              <a:rPr lang="en-US" altLang="zh-CN" dirty="0"/>
              <a:t>	</a:t>
            </a:r>
            <a:r>
              <a:rPr lang="en-US" altLang="zh-CN" dirty="0" err="1"/>
              <a:t>cout</a:t>
            </a:r>
            <a:r>
              <a:rPr lang="en-US" altLang="zh-CN" dirty="0"/>
              <a:t>&lt;&lt;"("&lt;&lt;real&lt;&lt;", "&lt;&lt;</a:t>
            </a:r>
            <a:r>
              <a:rPr lang="en-US" altLang="zh-CN" dirty="0" err="1"/>
              <a:t>imag</a:t>
            </a:r>
            <a:r>
              <a:rPr lang="en-US" altLang="zh-CN" dirty="0"/>
              <a:t>&lt;&lt;")"&lt;&lt;</a:t>
            </a:r>
            <a:r>
              <a:rPr lang="en-US" altLang="zh-CN" dirty="0" err="1"/>
              <a:t>endl</a:t>
            </a:r>
            <a:r>
              <a:rPr lang="en-US" altLang="zh-CN" dirty="0"/>
              <a:t>;</a:t>
            </a:r>
          </a:p>
          <a:p>
            <a:r>
              <a:rPr lang="en-US" altLang="zh-CN" dirty="0"/>
              <a:t>}</a:t>
            </a:r>
          </a:p>
        </p:txBody>
      </p:sp>
    </p:spTree>
    <p:extLst>
      <p:ext uri="{BB962C8B-B14F-4D97-AF65-F5344CB8AC3E}">
        <p14:creationId xmlns:p14="http://schemas.microsoft.com/office/powerpoint/2010/main" val="36382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lstStyle/>
          <a:p>
            <a:r>
              <a:rPr lang="zh-CN" altLang="en-US"/>
              <a:t>例</a:t>
            </a:r>
            <a:r>
              <a:rPr lang="en-US" altLang="zh-CN"/>
              <a:t>8-1</a:t>
            </a:r>
            <a:r>
              <a:rPr lang="zh-CN" altLang="en-US"/>
              <a:t>复数类加减法运算重载为成员函数</a:t>
            </a:r>
          </a:p>
        </p:txBody>
      </p:sp>
      <p:sp>
        <p:nvSpPr>
          <p:cNvPr id="3" name="内容占位符 2"/>
          <p:cNvSpPr>
            <a:spLocks noGrp="1"/>
          </p:cNvSpPr>
          <p:nvPr>
            <p:ph idx="1"/>
          </p:nvPr>
        </p:nvSpPr>
        <p:spPr/>
        <p:txBody>
          <a:bodyPr/>
          <a:lstStyle/>
          <a:p>
            <a:r>
              <a:rPr lang="en-US" altLang="zh-CN"/>
              <a:t>int main() {</a:t>
            </a:r>
            <a:endParaRPr lang="zh-CN" altLang="en-US"/>
          </a:p>
          <a:p>
            <a:r>
              <a:rPr lang="zh-CN" altLang="en-US"/>
              <a:t>	</a:t>
            </a:r>
            <a:r>
              <a:rPr lang="en-US" altLang="zh-CN"/>
              <a:t>Complex c1(5, 4), c2(2, 10), c3;</a:t>
            </a:r>
            <a:endParaRPr lang="zh-CN" altLang="en-US"/>
          </a:p>
          <a:p>
            <a:r>
              <a:rPr lang="zh-CN" altLang="en-US"/>
              <a:t>	</a:t>
            </a:r>
            <a:r>
              <a:rPr lang="en-US" altLang="zh-CN"/>
              <a:t>cout &lt;&lt; "c1 = "; c1.display();</a:t>
            </a:r>
          </a:p>
          <a:p>
            <a:r>
              <a:rPr lang="en-US" altLang="zh-CN"/>
              <a:t>	cout &lt;&lt; "c2 = "; c2.display();</a:t>
            </a:r>
          </a:p>
          <a:p>
            <a:r>
              <a:rPr lang="en-US" altLang="zh-CN"/>
              <a:t>	c3 = c1 - c2;	//</a:t>
            </a:r>
            <a:r>
              <a:rPr lang="zh-CN" altLang="en-US"/>
              <a:t>使用重载运算符完成复数减法</a:t>
            </a:r>
          </a:p>
          <a:p>
            <a:r>
              <a:rPr lang="zh-CN" altLang="en-US"/>
              <a:t>	</a:t>
            </a:r>
            <a:r>
              <a:rPr lang="en-US" altLang="zh-CN"/>
              <a:t>cout &lt;&lt; "c3 = c1 - c2 = "; c3.display();</a:t>
            </a:r>
          </a:p>
          <a:p>
            <a:r>
              <a:rPr lang="en-US" altLang="zh-CN"/>
              <a:t>	c3 = c1 + c2;	//</a:t>
            </a:r>
            <a:r>
              <a:rPr lang="zh-CN" altLang="en-US"/>
              <a:t>使用重载运算符完成复数加法</a:t>
            </a:r>
          </a:p>
          <a:p>
            <a:r>
              <a:rPr lang="zh-CN" altLang="en-US"/>
              <a:t>	</a:t>
            </a:r>
            <a:r>
              <a:rPr lang="en-US" altLang="zh-CN"/>
              <a:t>cout &lt;&lt; "c3 = c1 + c2 = "; c3.display();</a:t>
            </a:r>
          </a:p>
          <a:p>
            <a:r>
              <a:rPr lang="en-US" altLang="zh-CN"/>
              <a:t>	return 0;</a:t>
            </a:r>
          </a:p>
          <a:p>
            <a:r>
              <a:rPr lang="en-US" altLang="zh-CN"/>
              <a:t>}</a:t>
            </a:r>
            <a:endParaRPr lang="en-US" altLang="zh-CN" dirty="0"/>
          </a:p>
        </p:txBody>
      </p:sp>
      <p:sp>
        <p:nvSpPr>
          <p:cNvPr id="6" name="内容占位符 2"/>
          <p:cNvSpPr txBox="1">
            <a:spLocks/>
          </p:cNvSpPr>
          <p:nvPr/>
        </p:nvSpPr>
        <p:spPr bwMode="auto">
          <a:xfrm>
            <a:off x="7010715" y="4452995"/>
            <a:ext cx="4551362" cy="2146300"/>
          </a:xfrm>
          <a:prstGeom prst="rect">
            <a:avLst/>
          </a:prstGeom>
          <a:solidFill>
            <a:srgbClr val="FFFF00"/>
          </a:solidFill>
          <a:ln w="9525">
            <a:noFill/>
            <a:miter lim="800000"/>
            <a:headEnd/>
            <a:tailEnd/>
          </a:ln>
        </p:spPr>
        <p:txBody>
          <a:bodyPr>
            <a:normAutofit/>
          </a:bodyPr>
          <a:lstStyle/>
          <a:p>
            <a:pPr marL="365760" marR="0" lvl="0" indent="-256032" algn="just" defTabSz="914400" rtl="0" eaLnBrk="1" fontAlgn="auto" latinLnBrk="0" hangingPunct="1">
              <a:lnSpc>
                <a:spcPct val="100000"/>
              </a:lnSpc>
              <a:spcBef>
                <a:spcPts val="300"/>
              </a:spcBef>
              <a:spcAft>
                <a:spcPts val="0"/>
              </a:spcAft>
              <a:buClr>
                <a:srgbClr val="A04DA3"/>
              </a:buClr>
              <a:buSzTx/>
              <a:buFont typeface="Georgia"/>
              <a:buNone/>
              <a:tabLst/>
              <a:defRPr/>
            </a:pPr>
            <a:r>
              <a:rPr kumimoji="0" lang="zh-CN" altLang="en-US" sz="2400" b="0" i="0" u="none" strike="noStrike" kern="1200" cap="none" spc="0" normalizeH="0" baseline="0" noProof="0">
                <a:ln>
                  <a:noFill/>
                </a:ln>
                <a:solidFill>
                  <a:prstClr val="black"/>
                </a:solidFill>
                <a:effectLst/>
                <a:uLnTx/>
                <a:uFillTx/>
                <a:latin typeface="Consolas" pitchFamily="49" charset="0"/>
                <a:ea typeface="微软雅黑" pitchFamily="34" charset="-122"/>
                <a:cs typeface="+mn-cs"/>
              </a:rPr>
              <a:t>输出的结果为：</a:t>
            </a:r>
          </a:p>
          <a:p>
            <a:pPr marL="365760" marR="0" lvl="0" indent="-256032" algn="just" defTabSz="914400" rtl="0" eaLnBrk="1" fontAlgn="auto" latinLnBrk="0" hangingPunct="1">
              <a:lnSpc>
                <a:spcPct val="100000"/>
              </a:lnSpc>
              <a:spcBef>
                <a:spcPts val="300"/>
              </a:spcBef>
              <a:spcAft>
                <a:spcPts val="0"/>
              </a:spcAft>
              <a:buClr>
                <a:srgbClr val="A04DA3"/>
              </a:buClr>
              <a:buSzTx/>
              <a:buFont typeface="Georgia"/>
              <a:buNone/>
              <a:tabLst/>
              <a:defRPr/>
            </a:pPr>
            <a:r>
              <a:rPr kumimoji="0" lang="en-US" altLang="zh-CN" sz="2400" b="0" i="0" u="none" strike="noStrike" kern="1200" cap="none" spc="0" normalizeH="0" baseline="0" noProof="0">
                <a:ln>
                  <a:noFill/>
                </a:ln>
                <a:solidFill>
                  <a:prstClr val="black"/>
                </a:solidFill>
                <a:effectLst/>
                <a:uLnTx/>
                <a:uFillTx/>
                <a:latin typeface="Consolas" pitchFamily="49" charset="0"/>
                <a:ea typeface="微软雅黑" pitchFamily="34" charset="-122"/>
                <a:cs typeface="+mn-cs"/>
              </a:rPr>
              <a:t>c1 = (5, 4)</a:t>
            </a:r>
          </a:p>
          <a:p>
            <a:pPr marL="365760" marR="0" lvl="0" indent="-256032" algn="just" defTabSz="914400" rtl="0" eaLnBrk="1" fontAlgn="auto" latinLnBrk="0" hangingPunct="1">
              <a:lnSpc>
                <a:spcPct val="100000"/>
              </a:lnSpc>
              <a:spcBef>
                <a:spcPts val="300"/>
              </a:spcBef>
              <a:spcAft>
                <a:spcPts val="0"/>
              </a:spcAft>
              <a:buClr>
                <a:srgbClr val="A04DA3"/>
              </a:buClr>
              <a:buSzTx/>
              <a:buFont typeface="Georgia"/>
              <a:buNone/>
              <a:tabLst/>
              <a:defRPr/>
            </a:pPr>
            <a:r>
              <a:rPr kumimoji="0" lang="en-US" altLang="zh-CN" sz="2400" b="0" i="0" u="none" strike="noStrike" kern="1200" cap="none" spc="0" normalizeH="0" baseline="0" noProof="0">
                <a:ln>
                  <a:noFill/>
                </a:ln>
                <a:solidFill>
                  <a:prstClr val="black"/>
                </a:solidFill>
                <a:effectLst/>
                <a:uLnTx/>
                <a:uFillTx/>
                <a:latin typeface="Consolas" pitchFamily="49" charset="0"/>
                <a:ea typeface="微软雅黑" pitchFamily="34" charset="-122"/>
                <a:cs typeface="+mn-cs"/>
              </a:rPr>
              <a:t>c2 = (2, 10)</a:t>
            </a:r>
          </a:p>
          <a:p>
            <a:pPr marL="365760" marR="0" lvl="0" indent="-256032" algn="just" defTabSz="914400" rtl="0" eaLnBrk="1" fontAlgn="auto" latinLnBrk="0" hangingPunct="1">
              <a:lnSpc>
                <a:spcPct val="100000"/>
              </a:lnSpc>
              <a:spcBef>
                <a:spcPts val="300"/>
              </a:spcBef>
              <a:spcAft>
                <a:spcPts val="0"/>
              </a:spcAft>
              <a:buClr>
                <a:srgbClr val="A04DA3"/>
              </a:buClr>
              <a:buSzTx/>
              <a:buFont typeface="Georgia"/>
              <a:buNone/>
              <a:tabLst/>
              <a:defRPr/>
            </a:pPr>
            <a:r>
              <a:rPr kumimoji="0" lang="en-US" altLang="zh-CN" sz="2400" b="0" i="0" u="none" strike="noStrike" kern="1200" cap="none" spc="0" normalizeH="0" baseline="0" noProof="0">
                <a:ln>
                  <a:noFill/>
                </a:ln>
                <a:solidFill>
                  <a:prstClr val="black"/>
                </a:solidFill>
                <a:effectLst/>
                <a:uLnTx/>
                <a:uFillTx/>
                <a:latin typeface="Consolas" pitchFamily="49" charset="0"/>
                <a:ea typeface="微软雅黑" pitchFamily="34" charset="-122"/>
                <a:cs typeface="+mn-cs"/>
              </a:rPr>
              <a:t>c3 = c1 - c2 = (3, -6)</a:t>
            </a:r>
          </a:p>
          <a:p>
            <a:pPr marL="365760" marR="0" lvl="0" indent="-256032" algn="just" defTabSz="914400" rtl="0" eaLnBrk="1" fontAlgn="auto" latinLnBrk="0" hangingPunct="1">
              <a:lnSpc>
                <a:spcPct val="100000"/>
              </a:lnSpc>
              <a:spcBef>
                <a:spcPts val="300"/>
              </a:spcBef>
              <a:spcAft>
                <a:spcPts val="0"/>
              </a:spcAft>
              <a:buClr>
                <a:srgbClr val="A04DA3"/>
              </a:buClr>
              <a:buSzTx/>
              <a:buFont typeface="Georgia"/>
              <a:buNone/>
              <a:tabLst/>
              <a:defRPr/>
            </a:pPr>
            <a:r>
              <a:rPr kumimoji="0" lang="en-US" altLang="zh-CN" sz="2400" b="0" i="0" u="none" strike="noStrike" kern="1200" cap="none" spc="0" normalizeH="0" baseline="0" noProof="0">
                <a:ln>
                  <a:noFill/>
                </a:ln>
                <a:solidFill>
                  <a:prstClr val="black"/>
                </a:solidFill>
                <a:effectLst/>
                <a:uLnTx/>
                <a:uFillTx/>
                <a:latin typeface="Consolas" pitchFamily="49" charset="0"/>
                <a:ea typeface="微软雅黑" pitchFamily="34" charset="-122"/>
                <a:cs typeface="+mn-cs"/>
              </a:rPr>
              <a:t>c3 = c1 + c2 = (7, 14)</a:t>
            </a:r>
            <a:endParaRPr kumimoji="0" lang="en-US" altLang="zh-CN" sz="2400" b="0" i="0" u="none" strike="noStrike" kern="1200" cap="none" spc="0" normalizeH="0" baseline="0" noProof="0" dirty="0">
              <a:ln>
                <a:noFill/>
              </a:ln>
              <a:solidFill>
                <a:prstClr val="black"/>
              </a:solidFill>
              <a:effectLst/>
              <a:uLnTx/>
              <a:uFillTx/>
              <a:latin typeface="Consolas" pitchFamily="49" charset="0"/>
              <a:ea typeface="微软雅黑" pitchFamily="34" charset="-122"/>
              <a:cs typeface="+mn-cs"/>
            </a:endParaRPr>
          </a:p>
        </p:txBody>
      </p:sp>
    </p:spTree>
    <p:extLst>
      <p:ext uri="{BB962C8B-B14F-4D97-AF65-F5344CB8AC3E}">
        <p14:creationId xmlns:p14="http://schemas.microsoft.com/office/powerpoint/2010/main" val="2689363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D2004B49-FFB8-4105-AD96-E1BE5852A337}"/>
              </a:ext>
            </a:extLst>
          </p:cNvPr>
          <p:cNvSpPr>
            <a:spLocks noGrp="1"/>
          </p:cNvSpPr>
          <p:nvPr>
            <p:ph type="title"/>
          </p:nvPr>
        </p:nvSpPr>
        <p:spPr/>
        <p:txBody>
          <a:bodyPr/>
          <a:lstStyle/>
          <a:p>
            <a:r>
              <a:rPr lang="zh-CN" altLang="en-US" dirty="0"/>
              <a:t>重载为类成员的运算符函数定义形式</a:t>
            </a:r>
          </a:p>
        </p:txBody>
      </p:sp>
      <p:sp>
        <p:nvSpPr>
          <p:cNvPr id="3" name="内容占位符 2"/>
          <p:cNvSpPr>
            <a:spLocks noGrp="1"/>
          </p:cNvSpPr>
          <p:nvPr>
            <p:ph idx="1"/>
          </p:nvPr>
        </p:nvSpPr>
        <p:spPr/>
        <p:txBody>
          <a:bodyPr/>
          <a:lstStyle/>
          <a:p>
            <a:pPr marL="109537" indent="0">
              <a:buNone/>
            </a:pPr>
            <a:r>
              <a:rPr lang="zh-CN" altLang="en-US" dirty="0"/>
              <a:t>函数类型  </a:t>
            </a:r>
            <a:r>
              <a:rPr lang="en-US" altLang="zh-CN" dirty="0"/>
              <a:t>operator </a:t>
            </a:r>
            <a:r>
              <a:rPr lang="zh-CN" altLang="en-US" dirty="0"/>
              <a:t>运算符（形参）</a:t>
            </a:r>
          </a:p>
          <a:p>
            <a:pPr marL="109537" indent="0">
              <a:buNone/>
            </a:pPr>
            <a:r>
              <a:rPr lang="en-US" altLang="zh-CN" dirty="0"/>
              <a:t>{</a:t>
            </a:r>
          </a:p>
          <a:p>
            <a:pPr marL="109537" indent="0">
              <a:buNone/>
            </a:pPr>
            <a:r>
              <a:rPr lang="en-US" altLang="zh-CN" dirty="0"/>
              <a:t>       ......</a:t>
            </a:r>
          </a:p>
          <a:p>
            <a:pPr marL="109537" indent="0">
              <a:buNone/>
            </a:pPr>
            <a:r>
              <a:rPr lang="en-US" altLang="zh-CN" dirty="0"/>
              <a:t>}</a:t>
            </a:r>
          </a:p>
          <a:p>
            <a:pPr marL="109537" indent="0">
              <a:buNone/>
            </a:pPr>
            <a:r>
              <a:rPr lang="zh-CN" altLang="en-US" dirty="0"/>
              <a:t>参数个数</a:t>
            </a:r>
            <a:r>
              <a:rPr lang="en-US" altLang="zh-CN" dirty="0"/>
              <a:t>=</a:t>
            </a:r>
            <a:r>
              <a:rPr lang="zh-CN" altLang="en-US" dirty="0"/>
              <a:t>原操作数个数</a:t>
            </a:r>
            <a:r>
              <a:rPr lang="en-US" altLang="zh-CN" dirty="0"/>
              <a:t>-1	</a:t>
            </a:r>
            <a:r>
              <a:rPr lang="zh-CN" altLang="en-US" dirty="0"/>
              <a:t>（后置</a:t>
            </a:r>
            <a:r>
              <a:rPr lang="en-US" altLang="zh-CN" dirty="0"/>
              <a:t>++</a:t>
            </a:r>
            <a:r>
              <a:rPr lang="zh-CN" altLang="en-US" dirty="0"/>
              <a:t>、</a:t>
            </a:r>
            <a:r>
              <a:rPr lang="en-US" altLang="zh-CN" dirty="0"/>
              <a:t>--</a:t>
            </a:r>
            <a:r>
              <a:rPr lang="zh-CN" altLang="en-US" dirty="0"/>
              <a:t>除外）</a:t>
            </a:r>
            <a:endParaRPr lang="en-US" altLang="zh-CN" dirty="0"/>
          </a:p>
        </p:txBody>
      </p:sp>
      <p:sp>
        <p:nvSpPr>
          <p:cNvPr id="2" name="灯片编号占位符 1">
            <a:extLst>
              <a:ext uri="{FF2B5EF4-FFF2-40B4-BE49-F238E27FC236}">
                <a16:creationId xmlns:a16="http://schemas.microsoft.com/office/drawing/2014/main" id="{AAFE7A7F-D9C8-4DDF-AB4F-C75E4070175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00F21B-5F9E-4DB6-92EB-09A53204F80C}" type="slidenum">
              <a:rPr kumimoji="1" lang="en-US" altLang="zh-CN" sz="1800" b="0" i="0" u="none" strike="noStrike" kern="1200" cap="none" spc="0" normalizeH="0" baseline="0" noProof="0" smtClean="0">
                <a:ln>
                  <a:noFill/>
                </a:ln>
                <a:solidFill>
                  <a:prstClr val="white"/>
                </a:solidFill>
                <a:effectLst/>
                <a:uLnTx/>
                <a:uFillTx/>
                <a:latin typeface="Times New Roman" panose="02020603050405020304" pitchFamily="18" charset="0"/>
                <a:ea typeface="隶书" panose="020105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1"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3872996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72C741EE-EF08-4F74-B22C-FD177335AAC8}"/>
              </a:ext>
            </a:extLst>
          </p:cNvPr>
          <p:cNvSpPr>
            <a:spLocks noGrp="1"/>
          </p:cNvSpPr>
          <p:nvPr>
            <p:ph type="title"/>
          </p:nvPr>
        </p:nvSpPr>
        <p:spPr/>
        <p:txBody>
          <a:bodyPr/>
          <a:lstStyle/>
          <a:p>
            <a:r>
              <a:rPr lang="zh-CN" altLang="en-US" dirty="0"/>
              <a:t>双目运算符重载规则</a:t>
            </a:r>
          </a:p>
        </p:txBody>
      </p:sp>
      <p:sp>
        <p:nvSpPr>
          <p:cNvPr id="17411" name="内容占位符 2"/>
          <p:cNvSpPr>
            <a:spLocks noGrp="1"/>
          </p:cNvSpPr>
          <p:nvPr>
            <p:ph idx="1"/>
          </p:nvPr>
        </p:nvSpPr>
        <p:spPr/>
        <p:txBody>
          <a:bodyPr/>
          <a:lstStyle/>
          <a:p>
            <a:r>
              <a:rPr lang="zh-CN" altLang="en-US" dirty="0"/>
              <a:t>如果要重载 </a:t>
            </a:r>
            <a:r>
              <a:rPr lang="en-US" altLang="zh-CN" dirty="0"/>
              <a:t>B </a:t>
            </a:r>
            <a:r>
              <a:rPr lang="zh-CN" altLang="en-US" dirty="0"/>
              <a:t>为类成员函数，使之能够实现表达式 </a:t>
            </a:r>
            <a:r>
              <a:rPr lang="en-US" altLang="zh-CN" dirty="0"/>
              <a:t>oprd1 B oprd2</a:t>
            </a:r>
            <a:r>
              <a:rPr lang="zh-CN" altLang="en-US" dirty="0"/>
              <a:t>，其中</a:t>
            </a:r>
            <a:r>
              <a:rPr lang="en-US" altLang="en-US" dirty="0"/>
              <a:t> </a:t>
            </a:r>
            <a:r>
              <a:rPr lang="en-US" altLang="zh-CN" dirty="0"/>
              <a:t>oprd1 </a:t>
            </a:r>
            <a:r>
              <a:rPr lang="zh-CN" altLang="en-US" dirty="0"/>
              <a:t>为</a:t>
            </a:r>
            <a:r>
              <a:rPr lang="en-US" altLang="zh-CN" dirty="0"/>
              <a:t>A </a:t>
            </a:r>
            <a:r>
              <a:rPr lang="zh-CN" altLang="en-US" dirty="0"/>
              <a:t>类对象，则 </a:t>
            </a:r>
            <a:r>
              <a:rPr lang="en-US" altLang="zh-CN" dirty="0"/>
              <a:t>B </a:t>
            </a:r>
            <a:r>
              <a:rPr lang="zh-CN" altLang="en-US" dirty="0"/>
              <a:t>应被重载为 </a:t>
            </a:r>
            <a:r>
              <a:rPr lang="en-US" altLang="zh-CN" dirty="0"/>
              <a:t>A </a:t>
            </a:r>
            <a:r>
              <a:rPr lang="zh-CN" altLang="en-US" dirty="0"/>
              <a:t>类的成员函数，形参类型应该是 </a:t>
            </a:r>
            <a:r>
              <a:rPr lang="en-US" altLang="zh-CN" dirty="0"/>
              <a:t>oprd2 </a:t>
            </a:r>
            <a:r>
              <a:rPr lang="zh-CN" altLang="en-US" dirty="0"/>
              <a:t>所属的类型。</a:t>
            </a:r>
            <a:endParaRPr lang="en-US" altLang="zh-CN" dirty="0"/>
          </a:p>
          <a:p>
            <a:r>
              <a:rPr lang="zh-CN" altLang="en-US" dirty="0"/>
              <a:t>经重载后，表达式</a:t>
            </a:r>
            <a:r>
              <a:rPr lang="en-US" altLang="en-US" dirty="0"/>
              <a:t> </a:t>
            </a:r>
            <a:r>
              <a:rPr lang="en-US" altLang="zh-CN" dirty="0"/>
              <a:t>oprd1 B oprd2 </a:t>
            </a:r>
            <a:r>
              <a:rPr lang="zh-CN" altLang="en-US" dirty="0"/>
              <a:t>相当于</a:t>
            </a:r>
            <a:br>
              <a:rPr lang="en-US" altLang="zh-CN" dirty="0"/>
            </a:br>
            <a:r>
              <a:rPr lang="zh-CN" altLang="en-US" dirty="0"/>
              <a:t> </a:t>
            </a:r>
            <a:r>
              <a:rPr lang="en-US" altLang="zh-CN" dirty="0"/>
              <a:t>oprd1.operator B(oprd2)</a:t>
            </a:r>
          </a:p>
        </p:txBody>
      </p:sp>
      <p:sp>
        <p:nvSpPr>
          <p:cNvPr id="2" name="灯片编号占位符 1">
            <a:extLst>
              <a:ext uri="{FF2B5EF4-FFF2-40B4-BE49-F238E27FC236}">
                <a16:creationId xmlns:a16="http://schemas.microsoft.com/office/drawing/2014/main" id="{AE169800-F495-4C0B-B6CE-6086618BD55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00F21B-5F9E-4DB6-92EB-09A53204F80C}" type="slidenum">
              <a:rPr kumimoji="1" lang="en-US" altLang="zh-CN" sz="1800" b="0" i="0" u="none" strike="noStrike" kern="1200" cap="none" spc="0" normalizeH="0" baseline="0" noProof="0" smtClean="0">
                <a:ln>
                  <a:noFill/>
                </a:ln>
                <a:solidFill>
                  <a:prstClr val="white"/>
                </a:solidFill>
                <a:effectLst/>
                <a:uLnTx/>
                <a:uFillTx/>
                <a:latin typeface="Times New Roman" panose="02020603050405020304" pitchFamily="18" charset="0"/>
                <a:ea typeface="隶书" panose="020105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1"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1210384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a:t>
            </a:r>
          </a:p>
        </p:txBody>
      </p:sp>
      <p:sp>
        <p:nvSpPr>
          <p:cNvPr id="3" name="内容占位符 2"/>
          <p:cNvSpPr>
            <a:spLocks noGrp="1"/>
          </p:cNvSpPr>
          <p:nvPr>
            <p:ph idx="1"/>
          </p:nvPr>
        </p:nvSpPr>
        <p:spPr/>
        <p:txBody>
          <a:bodyPr/>
          <a:lstStyle/>
          <a:p>
            <a:r>
              <a:rPr lang="zh-CN" altLang="en-US" dirty="0"/>
              <a:t>单目运算符前置语后置</a:t>
            </a:r>
            <a:r>
              <a:rPr lang="en-US" altLang="zh-CN" dirty="0"/>
              <a:t>++</a:t>
            </a:r>
            <a:r>
              <a:rPr lang="zh-CN" altLang="en-US" dirty="0"/>
              <a:t>、</a:t>
            </a:r>
            <a:r>
              <a:rPr lang="en-US" altLang="zh-CN" dirty="0"/>
              <a:t>--</a:t>
            </a:r>
            <a:r>
              <a:rPr lang="zh-CN" altLang="en-US" dirty="0"/>
              <a:t>如何区分呢？</a:t>
            </a:r>
          </a:p>
        </p:txBody>
      </p:sp>
      <p:sp>
        <p:nvSpPr>
          <p:cNvPr id="4" name="灯片编号占位符 3">
            <a:extLst>
              <a:ext uri="{FF2B5EF4-FFF2-40B4-BE49-F238E27FC236}">
                <a16:creationId xmlns:a16="http://schemas.microsoft.com/office/drawing/2014/main" id="{ED00BD29-CDB5-44D2-9131-16F264BED5A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00F21B-5F9E-4DB6-92EB-09A53204F80C}" type="slidenum">
              <a:rPr kumimoji="1" lang="en-US" altLang="zh-CN" sz="1800" b="0" i="0" u="none" strike="noStrike" kern="1200" cap="none" spc="0" normalizeH="0" baseline="0" noProof="0" smtClean="0">
                <a:ln>
                  <a:noFill/>
                </a:ln>
                <a:solidFill>
                  <a:prstClr val="white"/>
                </a:solidFill>
                <a:effectLst/>
                <a:uLnTx/>
                <a:uFillTx/>
                <a:latin typeface="Times New Roman" panose="02020603050405020304" pitchFamily="18" charset="0"/>
                <a:ea typeface="隶书" panose="020105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1"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3465061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609600" y="1341438"/>
            <a:ext cx="11345863" cy="588962"/>
          </a:xfrm>
        </p:spPr>
        <p:txBody>
          <a:bodyPr/>
          <a:lstStyle/>
          <a:p>
            <a:pPr eaLnBrk="1" hangingPunct="1"/>
            <a:r>
              <a:rPr lang="zh-CN" altLang="en-US" dirty="0">
                <a:solidFill>
                  <a:srgbClr val="003399"/>
                </a:solidFill>
              </a:rPr>
              <a:t>例</a:t>
            </a:r>
            <a:r>
              <a:rPr lang="en-US" altLang="zh-CN" dirty="0">
                <a:solidFill>
                  <a:srgbClr val="003399"/>
                </a:solidFill>
              </a:rPr>
              <a:t>8-2</a:t>
            </a:r>
            <a:r>
              <a:rPr lang="zh-CN" altLang="en-US" dirty="0">
                <a:solidFill>
                  <a:srgbClr val="003399"/>
                </a:solidFill>
                <a:latin typeface="Times New Roman" panose="02020603050405020304" pitchFamily="18" charset="0"/>
              </a:rPr>
              <a:t>重载前置</a:t>
            </a:r>
            <a:r>
              <a:rPr lang="en-US" altLang="zh-CN" dirty="0">
                <a:solidFill>
                  <a:srgbClr val="003399"/>
                </a:solidFill>
                <a:latin typeface="Times New Roman" panose="02020603050405020304" pitchFamily="18" charset="0"/>
              </a:rPr>
              <a:t>++</a:t>
            </a:r>
            <a:r>
              <a:rPr lang="zh-CN" altLang="en-US" dirty="0">
                <a:solidFill>
                  <a:srgbClr val="003399"/>
                </a:solidFill>
                <a:latin typeface="Times New Roman" panose="02020603050405020304" pitchFamily="18" charset="0"/>
              </a:rPr>
              <a:t>和后置</a:t>
            </a:r>
            <a:r>
              <a:rPr lang="en-US" altLang="zh-CN" dirty="0">
                <a:solidFill>
                  <a:srgbClr val="003399"/>
                </a:solidFill>
                <a:latin typeface="Times New Roman" panose="02020603050405020304" pitchFamily="18" charset="0"/>
              </a:rPr>
              <a:t>++</a:t>
            </a:r>
            <a:r>
              <a:rPr lang="zh-CN" altLang="en-US" dirty="0">
                <a:solidFill>
                  <a:srgbClr val="003399"/>
                </a:solidFill>
                <a:latin typeface="Times New Roman" panose="02020603050405020304" pitchFamily="18" charset="0"/>
              </a:rPr>
              <a:t>为时钟类成员函数</a:t>
            </a:r>
            <a:endParaRPr lang="zh-CN" altLang="en-US" dirty="0">
              <a:solidFill>
                <a:srgbClr val="003399"/>
              </a:solidFill>
            </a:endParaRPr>
          </a:p>
        </p:txBody>
      </p:sp>
      <p:sp>
        <p:nvSpPr>
          <p:cNvPr id="24579" name="内容占位符 2"/>
          <p:cNvSpPr>
            <a:spLocks noGrp="1"/>
          </p:cNvSpPr>
          <p:nvPr>
            <p:ph idx="1"/>
          </p:nvPr>
        </p:nvSpPr>
        <p:spPr>
          <a:xfrm>
            <a:off x="609600" y="2490788"/>
            <a:ext cx="7143750" cy="3224212"/>
          </a:xfrm>
        </p:spPr>
        <p:txBody>
          <a:bodyPr/>
          <a:lstStyle/>
          <a:p>
            <a:pPr eaLnBrk="1" hangingPunct="1">
              <a:lnSpc>
                <a:spcPct val="200000"/>
              </a:lnSpc>
            </a:pPr>
            <a:r>
              <a:rPr lang="zh-CN" altLang="en-US" sz="2400" dirty="0">
                <a:latin typeface="Times New Roman" panose="02020603050405020304" pitchFamily="18" charset="0"/>
              </a:rPr>
              <a:t>前置单目运算符，重载函数没有形参</a:t>
            </a:r>
            <a:endParaRPr lang="en-US" altLang="zh-CN" sz="2400" dirty="0">
              <a:latin typeface="Times New Roman" panose="02020603050405020304" pitchFamily="18" charset="0"/>
            </a:endParaRPr>
          </a:p>
          <a:p>
            <a:pPr eaLnBrk="1" hangingPunct="1">
              <a:lnSpc>
                <a:spcPct val="200000"/>
              </a:lnSpc>
            </a:pPr>
            <a:r>
              <a:rPr lang="zh-CN" altLang="en-US" sz="2400" dirty="0">
                <a:latin typeface="Times New Roman" panose="02020603050405020304" pitchFamily="18" charset="0"/>
              </a:rPr>
              <a:t>后置</a:t>
            </a:r>
            <a:r>
              <a:rPr lang="en-US" altLang="zh-CN" sz="2400" dirty="0">
                <a:latin typeface="Times New Roman" panose="02020603050405020304" pitchFamily="18" charset="0"/>
              </a:rPr>
              <a:t>++</a:t>
            </a:r>
            <a:r>
              <a:rPr lang="zh-CN" altLang="en-US" sz="2400" dirty="0">
                <a:latin typeface="Times New Roman" panose="02020603050405020304" pitchFamily="18" charset="0"/>
              </a:rPr>
              <a:t>运算符，重载函数需要有一个</a:t>
            </a:r>
            <a:r>
              <a:rPr lang="en-US" altLang="zh-CN" sz="2400" dirty="0">
                <a:latin typeface="Times New Roman" panose="02020603050405020304" pitchFamily="18" charset="0"/>
              </a:rPr>
              <a:t>int</a:t>
            </a:r>
            <a:r>
              <a:rPr lang="zh-CN" altLang="en-US" sz="2400" dirty="0">
                <a:latin typeface="Times New Roman" panose="02020603050405020304" pitchFamily="18" charset="0"/>
              </a:rPr>
              <a:t>形参</a:t>
            </a:r>
          </a:p>
          <a:p>
            <a:pPr eaLnBrk="1" hangingPunct="1">
              <a:lnSpc>
                <a:spcPct val="200000"/>
              </a:lnSpc>
            </a:pPr>
            <a:r>
              <a:rPr lang="zh-CN" altLang="en-US" sz="2400" dirty="0">
                <a:latin typeface="Times New Roman" panose="02020603050405020304" pitchFamily="18" charset="0"/>
              </a:rPr>
              <a:t>操作数是时钟类的对象。</a:t>
            </a:r>
          </a:p>
          <a:p>
            <a:pPr eaLnBrk="1" hangingPunct="1">
              <a:lnSpc>
                <a:spcPct val="200000"/>
              </a:lnSpc>
            </a:pPr>
            <a:r>
              <a:rPr lang="zh-CN" altLang="en-US" sz="2400" dirty="0">
                <a:latin typeface="Times New Roman" panose="02020603050405020304" pitchFamily="18" charset="0"/>
              </a:rPr>
              <a:t>实现时间增加</a:t>
            </a:r>
            <a:r>
              <a:rPr lang="en-US" altLang="zh-CN" sz="2400" dirty="0">
                <a:latin typeface="Times New Roman" panose="02020603050405020304" pitchFamily="18" charset="0"/>
              </a:rPr>
              <a:t>1</a:t>
            </a:r>
            <a:r>
              <a:rPr lang="zh-CN" altLang="en-US" sz="2400" dirty="0">
                <a:latin typeface="Times New Roman" panose="02020603050405020304" pitchFamily="18" charset="0"/>
              </a:rPr>
              <a:t>秒钟。</a:t>
            </a:r>
            <a:endParaRPr lang="zh-CN" altLang="en-US" sz="2400" dirty="0"/>
          </a:p>
        </p:txBody>
      </p:sp>
      <p:sp>
        <p:nvSpPr>
          <p:cNvPr id="2" name="灯片编号占位符 1">
            <a:extLst>
              <a:ext uri="{FF2B5EF4-FFF2-40B4-BE49-F238E27FC236}">
                <a16:creationId xmlns:a16="http://schemas.microsoft.com/office/drawing/2014/main" id="{DEFB9C79-6B36-4B24-A526-60E68F168E2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00F21B-5F9E-4DB6-92EB-09A53204F80C}" type="slidenum">
              <a:rPr kumimoji="1" lang="en-US" altLang="zh-CN" sz="1800" b="0" i="0" u="none" strike="noStrike" kern="1200" cap="none" spc="0" normalizeH="0" baseline="0" noProof="0" smtClean="0">
                <a:ln>
                  <a:noFill/>
                </a:ln>
                <a:solidFill>
                  <a:prstClr val="white"/>
                </a:solidFill>
                <a:effectLst/>
                <a:uLnTx/>
                <a:uFillTx/>
                <a:latin typeface="Times New Roman" panose="02020603050405020304" pitchFamily="18" charset="0"/>
                <a:ea typeface="隶书" panose="020105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1"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2320669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p:txBody>
          <a:bodyPr/>
          <a:lstStyle/>
          <a:p>
            <a:r>
              <a:rPr lang="zh-CN" altLang="en-US" dirty="0"/>
              <a:t>例</a:t>
            </a:r>
            <a:r>
              <a:rPr lang="en-US" altLang="zh-CN" dirty="0"/>
              <a:t>8-2</a:t>
            </a:r>
            <a:r>
              <a:rPr lang="zh-CN" altLang="en-US" sz="3200" dirty="0"/>
              <a:t>重载前置</a:t>
            </a:r>
            <a:r>
              <a:rPr lang="en-US" altLang="zh-CN" sz="3200" dirty="0"/>
              <a:t>++</a:t>
            </a:r>
            <a:r>
              <a:rPr lang="zh-CN" altLang="en-US" sz="3200" dirty="0"/>
              <a:t>和后置</a:t>
            </a:r>
            <a:r>
              <a:rPr lang="en-US" altLang="zh-CN" sz="3200" dirty="0"/>
              <a:t>++</a:t>
            </a:r>
            <a:r>
              <a:rPr lang="zh-CN" altLang="en-US" sz="3200" dirty="0"/>
              <a:t>为时钟类成员函数</a:t>
            </a:r>
            <a:endParaRPr lang="zh-CN" altLang="en-US" dirty="0"/>
          </a:p>
        </p:txBody>
      </p:sp>
      <p:sp>
        <p:nvSpPr>
          <p:cNvPr id="3" name="内容占位符 2"/>
          <p:cNvSpPr>
            <a:spLocks noGrp="1"/>
          </p:cNvSpPr>
          <p:nvPr>
            <p:ph idx="1"/>
          </p:nvPr>
        </p:nvSpPr>
        <p:spPr/>
        <p:txBody>
          <a:bodyPr/>
          <a:lstStyle/>
          <a:p>
            <a:r>
              <a:rPr lang="en-US" altLang="zh-CN" dirty="0"/>
              <a:t>#include &lt;iostream&gt;</a:t>
            </a:r>
          </a:p>
          <a:p>
            <a:r>
              <a:rPr lang="en-US" altLang="zh-CN" dirty="0"/>
              <a:t>using namespace std;</a:t>
            </a:r>
          </a:p>
          <a:p>
            <a:r>
              <a:rPr lang="en-US" altLang="zh-CN" dirty="0"/>
              <a:t>class Clock	{//</a:t>
            </a:r>
            <a:r>
              <a:rPr lang="zh-CN" altLang="en-US" dirty="0"/>
              <a:t>时钟类定义</a:t>
            </a:r>
          </a:p>
          <a:p>
            <a:r>
              <a:rPr lang="en-US" altLang="zh-CN" dirty="0"/>
              <a:t>public:	</a:t>
            </a:r>
            <a:endParaRPr lang="zh-CN" altLang="en-US" dirty="0"/>
          </a:p>
          <a:p>
            <a:r>
              <a:rPr lang="zh-CN" altLang="en-US" dirty="0"/>
              <a:t>	</a:t>
            </a:r>
            <a:r>
              <a:rPr lang="en-US" altLang="zh-CN" dirty="0"/>
              <a:t>Clock(int hour = 0, int minute = 0, int second = 0);</a:t>
            </a:r>
          </a:p>
          <a:p>
            <a:r>
              <a:rPr lang="en-US" altLang="zh-CN" dirty="0"/>
              <a:t>	void </a:t>
            </a:r>
            <a:r>
              <a:rPr lang="en-US" altLang="zh-CN" dirty="0" err="1"/>
              <a:t>showTime</a:t>
            </a:r>
            <a:r>
              <a:rPr lang="en-US" altLang="zh-CN" dirty="0"/>
              <a:t>() const;</a:t>
            </a:r>
          </a:p>
          <a:p>
            <a:r>
              <a:rPr lang="en-US" altLang="zh-CN" dirty="0"/>
              <a:t>  //</a:t>
            </a:r>
            <a:r>
              <a:rPr lang="zh-CN" altLang="en-US" dirty="0"/>
              <a:t>前置单目运算符重载</a:t>
            </a:r>
            <a:endParaRPr lang="en-US" altLang="zh-CN" dirty="0"/>
          </a:p>
          <a:p>
            <a:r>
              <a:rPr lang="en-US" altLang="zh-CN" dirty="0"/>
              <a:t>	Clock&amp; operator ++ ();</a:t>
            </a:r>
          </a:p>
          <a:p>
            <a:r>
              <a:rPr lang="en-US" altLang="zh-CN" dirty="0"/>
              <a:t>  //</a:t>
            </a:r>
            <a:r>
              <a:rPr lang="zh-CN" altLang="en-US" dirty="0"/>
              <a:t>后置单目运算符重载</a:t>
            </a:r>
          </a:p>
          <a:p>
            <a:r>
              <a:rPr lang="zh-CN" altLang="en-US" dirty="0"/>
              <a:t>	</a:t>
            </a:r>
            <a:r>
              <a:rPr lang="en-US" altLang="zh-CN" dirty="0"/>
              <a:t>Clock operator ++ (int);	</a:t>
            </a:r>
            <a:endParaRPr lang="zh-CN" altLang="en-US" dirty="0"/>
          </a:p>
          <a:p>
            <a:r>
              <a:rPr lang="en-US" altLang="zh-CN" dirty="0"/>
              <a:t>private:</a:t>
            </a:r>
            <a:endParaRPr lang="zh-CN" altLang="en-US" dirty="0"/>
          </a:p>
          <a:p>
            <a:r>
              <a:rPr lang="zh-CN" altLang="en-US" dirty="0"/>
              <a:t>	</a:t>
            </a:r>
            <a:r>
              <a:rPr lang="en-US" altLang="zh-CN" dirty="0"/>
              <a:t>int hour, minute, second;</a:t>
            </a:r>
          </a:p>
          <a:p>
            <a:r>
              <a:rPr lang="en-US" altLang="zh-CN" dirty="0"/>
              <a:t>};</a:t>
            </a:r>
          </a:p>
          <a:p>
            <a:r>
              <a:rPr lang="en-US" altLang="zh-CN" dirty="0"/>
              <a:t> </a:t>
            </a:r>
          </a:p>
        </p:txBody>
      </p:sp>
    </p:spTree>
    <p:extLst>
      <p:ext uri="{BB962C8B-B14F-4D97-AF65-F5344CB8AC3E}">
        <p14:creationId xmlns:p14="http://schemas.microsoft.com/office/powerpoint/2010/main" val="2719507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p:txBody>
          <a:bodyPr/>
          <a:lstStyle/>
          <a:p>
            <a:r>
              <a:rPr lang="zh-CN" altLang="en-US" dirty="0"/>
              <a:t>例</a:t>
            </a:r>
            <a:r>
              <a:rPr lang="en-US" altLang="zh-CN" dirty="0"/>
              <a:t>8-2</a:t>
            </a:r>
            <a:r>
              <a:rPr lang="zh-CN" altLang="en-US" sz="3200" dirty="0"/>
              <a:t>重载前置</a:t>
            </a:r>
            <a:r>
              <a:rPr lang="en-US" altLang="zh-CN" sz="3200" dirty="0"/>
              <a:t>++</a:t>
            </a:r>
            <a:r>
              <a:rPr lang="zh-CN" altLang="en-US" sz="3200" dirty="0"/>
              <a:t>和后置</a:t>
            </a:r>
            <a:r>
              <a:rPr lang="en-US" altLang="zh-CN" sz="3200" dirty="0"/>
              <a:t>++</a:t>
            </a:r>
            <a:r>
              <a:rPr lang="zh-CN" altLang="en-US" sz="3200" dirty="0"/>
              <a:t>为时钟类成员函数</a:t>
            </a:r>
            <a:endParaRPr lang="zh-CN" altLang="en-US" dirty="0"/>
          </a:p>
        </p:txBody>
      </p:sp>
      <p:sp>
        <p:nvSpPr>
          <p:cNvPr id="3" name="内容占位符 2"/>
          <p:cNvSpPr>
            <a:spLocks noGrp="1"/>
          </p:cNvSpPr>
          <p:nvPr>
            <p:ph idx="1"/>
          </p:nvPr>
        </p:nvSpPr>
        <p:spPr/>
        <p:txBody>
          <a:bodyPr/>
          <a:lstStyle/>
          <a:p>
            <a:r>
              <a:rPr lang="en-US" altLang="zh-CN"/>
              <a:t>Clock::Clock(int hour, int minute, int second) {	</a:t>
            </a:r>
          </a:p>
          <a:p>
            <a:r>
              <a:rPr lang="en-US" altLang="zh-CN"/>
              <a:t>	if (0 &lt;= hour &amp;&amp; hour &lt; 24 &amp;&amp; 0 &lt;= minute &amp;&amp; minute &lt; 60</a:t>
            </a:r>
          </a:p>
          <a:p>
            <a:r>
              <a:rPr lang="en-US" altLang="zh-CN"/>
              <a:t>		&amp;&amp; 0 &lt;= second &amp;&amp; second &lt; 60) {</a:t>
            </a:r>
          </a:p>
          <a:p>
            <a:r>
              <a:rPr lang="en-US" altLang="zh-CN"/>
              <a:t>		this-&gt;hour = hour;</a:t>
            </a:r>
          </a:p>
          <a:p>
            <a:r>
              <a:rPr lang="en-US" altLang="zh-CN"/>
              <a:t>		this-&gt;minute = minute;</a:t>
            </a:r>
          </a:p>
          <a:p>
            <a:r>
              <a:rPr lang="en-US" altLang="zh-CN"/>
              <a:t>		this-&gt;second = second;</a:t>
            </a:r>
          </a:p>
          <a:p>
            <a:r>
              <a:rPr lang="en-US" altLang="zh-CN"/>
              <a:t>	} else</a:t>
            </a:r>
          </a:p>
          <a:p>
            <a:r>
              <a:rPr lang="en-US" altLang="zh-CN"/>
              <a:t>		cout &lt;&lt; "Time error!" &lt;&lt; endl;</a:t>
            </a:r>
          </a:p>
          <a:p>
            <a:r>
              <a:rPr lang="en-US" altLang="zh-CN"/>
              <a:t>}</a:t>
            </a:r>
          </a:p>
          <a:p>
            <a:r>
              <a:rPr lang="en-US" altLang="zh-CN"/>
              <a:t>void Clock::showTime() const {	//</a:t>
            </a:r>
            <a:r>
              <a:rPr lang="zh-CN" altLang="en-US"/>
              <a:t>显示时间</a:t>
            </a:r>
          </a:p>
          <a:p>
            <a:r>
              <a:rPr lang="zh-CN" altLang="en-US"/>
              <a:t>	</a:t>
            </a:r>
            <a:r>
              <a:rPr lang="en-US" altLang="zh-CN"/>
              <a:t>cout &lt;&lt; hour &lt;&lt; ":" &lt;&lt; minute &lt;&lt; ":" &lt;&lt; second &lt;&lt; endl;</a:t>
            </a:r>
          </a:p>
          <a:p>
            <a:r>
              <a:rPr lang="en-US" altLang="zh-CN"/>
              <a:t>}</a:t>
            </a:r>
          </a:p>
          <a:p>
            <a:endParaRPr lang="en-US" altLang="zh-CN" dirty="0"/>
          </a:p>
        </p:txBody>
      </p:sp>
    </p:spTree>
    <p:extLst>
      <p:ext uri="{BB962C8B-B14F-4D97-AF65-F5344CB8AC3E}">
        <p14:creationId xmlns:p14="http://schemas.microsoft.com/office/powerpoint/2010/main" val="136028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p:txBody>
          <a:bodyPr/>
          <a:lstStyle/>
          <a:p>
            <a:r>
              <a:rPr lang="zh-CN" altLang="en-US" dirty="0"/>
              <a:t>例</a:t>
            </a:r>
            <a:r>
              <a:rPr lang="en-US" altLang="zh-CN" dirty="0"/>
              <a:t>8-2</a:t>
            </a:r>
            <a:r>
              <a:rPr lang="zh-CN" altLang="en-US" sz="3200" dirty="0"/>
              <a:t>重载前置</a:t>
            </a:r>
            <a:r>
              <a:rPr lang="en-US" altLang="zh-CN" sz="3200" dirty="0"/>
              <a:t>++</a:t>
            </a:r>
            <a:r>
              <a:rPr lang="zh-CN" altLang="en-US" sz="3200" dirty="0"/>
              <a:t>和后置</a:t>
            </a:r>
            <a:r>
              <a:rPr lang="en-US" altLang="zh-CN" sz="3200" dirty="0"/>
              <a:t>++</a:t>
            </a:r>
            <a:r>
              <a:rPr lang="zh-CN" altLang="en-US" sz="3200" dirty="0"/>
              <a:t>为时钟类成员函数</a:t>
            </a:r>
            <a:endParaRPr lang="zh-CN" altLang="en-US" dirty="0"/>
          </a:p>
        </p:txBody>
      </p:sp>
      <p:sp>
        <p:nvSpPr>
          <p:cNvPr id="3" name="内容占位符 2"/>
          <p:cNvSpPr>
            <a:spLocks noGrp="1"/>
          </p:cNvSpPr>
          <p:nvPr>
            <p:ph idx="1"/>
          </p:nvPr>
        </p:nvSpPr>
        <p:spPr>
          <a:xfrm>
            <a:off x="2353171" y="980728"/>
            <a:ext cx="9232404" cy="5593110"/>
          </a:xfrm>
        </p:spPr>
        <p:txBody>
          <a:bodyPr/>
          <a:lstStyle/>
          <a:p>
            <a:r>
              <a:rPr lang="en-US" altLang="zh-CN" sz="2200" dirty="0"/>
              <a:t>Clock &amp; Clock::operator ++ () {	</a:t>
            </a:r>
            <a:endParaRPr lang="zh-CN" altLang="en-US" sz="2200" dirty="0"/>
          </a:p>
          <a:p>
            <a:r>
              <a:rPr lang="zh-CN" altLang="en-US" sz="2200" dirty="0"/>
              <a:t>	</a:t>
            </a:r>
            <a:r>
              <a:rPr lang="en-US" altLang="zh-CN" sz="2200" dirty="0"/>
              <a:t>second++;</a:t>
            </a:r>
          </a:p>
          <a:p>
            <a:r>
              <a:rPr lang="en-US" altLang="zh-CN" sz="2200" dirty="0"/>
              <a:t>	if (second &gt;= 60) {</a:t>
            </a:r>
          </a:p>
          <a:p>
            <a:r>
              <a:rPr lang="en-US" altLang="zh-CN" sz="2200" dirty="0"/>
              <a:t>		second -= 60;  minute++;</a:t>
            </a:r>
          </a:p>
          <a:p>
            <a:r>
              <a:rPr lang="en-US" altLang="zh-CN" sz="2200" dirty="0"/>
              <a:t>		if (minute &gt;= 60) {</a:t>
            </a:r>
          </a:p>
          <a:p>
            <a:r>
              <a:rPr lang="en-US" altLang="zh-CN" sz="2200" dirty="0"/>
              <a:t>		  minute -= 60; hour = (hour + 1) % 24;</a:t>
            </a:r>
          </a:p>
          <a:p>
            <a:r>
              <a:rPr lang="en-US" altLang="zh-CN" sz="2200" dirty="0"/>
              <a:t>		}</a:t>
            </a:r>
          </a:p>
          <a:p>
            <a:r>
              <a:rPr lang="en-US" altLang="zh-CN" sz="2200" dirty="0"/>
              <a:t>	}</a:t>
            </a:r>
          </a:p>
          <a:p>
            <a:r>
              <a:rPr lang="en-US" altLang="zh-CN" sz="2200" dirty="0"/>
              <a:t>	return *this;</a:t>
            </a:r>
          </a:p>
          <a:p>
            <a:r>
              <a:rPr lang="en-US" altLang="zh-CN" sz="2200" dirty="0"/>
              <a:t>}</a:t>
            </a:r>
          </a:p>
          <a:p>
            <a:r>
              <a:rPr lang="en-US" altLang="zh-CN" sz="2200" dirty="0"/>
              <a:t> </a:t>
            </a:r>
          </a:p>
          <a:p>
            <a:r>
              <a:rPr lang="en-US" altLang="zh-CN" sz="2200" dirty="0"/>
              <a:t>Clock Clock::operator ++ (int) {</a:t>
            </a:r>
            <a:endParaRPr lang="zh-CN" altLang="en-US" sz="2200" dirty="0"/>
          </a:p>
          <a:p>
            <a:r>
              <a:rPr lang="zh-CN" altLang="en-US" sz="2200" dirty="0"/>
              <a:t>	</a:t>
            </a:r>
            <a:r>
              <a:rPr lang="en-US" altLang="zh-CN" sz="2200" dirty="0"/>
              <a:t>//</a:t>
            </a:r>
            <a:r>
              <a:rPr lang="zh-CN" altLang="en-US" sz="2200" dirty="0"/>
              <a:t>注意形参表中的整型参数</a:t>
            </a:r>
          </a:p>
          <a:p>
            <a:r>
              <a:rPr lang="zh-CN" altLang="en-US" sz="2200" dirty="0"/>
              <a:t>	</a:t>
            </a:r>
            <a:r>
              <a:rPr lang="en-US" altLang="zh-CN" sz="2200" dirty="0"/>
              <a:t>Clock old = *this;</a:t>
            </a:r>
          </a:p>
          <a:p>
            <a:r>
              <a:rPr lang="en-US" altLang="zh-CN" sz="2200" dirty="0"/>
              <a:t>	++(*this);	//</a:t>
            </a:r>
            <a:r>
              <a:rPr lang="zh-CN" altLang="en-US" sz="2200" dirty="0"/>
              <a:t>调用前置“</a:t>
            </a:r>
            <a:r>
              <a:rPr lang="en-US" altLang="zh-CN" sz="2200" dirty="0"/>
              <a:t>++”</a:t>
            </a:r>
            <a:r>
              <a:rPr lang="zh-CN" altLang="en-US" sz="2200" dirty="0"/>
              <a:t>运算符</a:t>
            </a:r>
          </a:p>
          <a:p>
            <a:r>
              <a:rPr lang="zh-CN" altLang="en-US" sz="2200" dirty="0"/>
              <a:t>	</a:t>
            </a:r>
            <a:r>
              <a:rPr lang="en-US" altLang="zh-CN" sz="2200" dirty="0"/>
              <a:t>return old;</a:t>
            </a:r>
          </a:p>
          <a:p>
            <a:r>
              <a:rPr lang="en-US" altLang="zh-CN" sz="2200" dirty="0"/>
              <a:t>}</a:t>
            </a:r>
          </a:p>
        </p:txBody>
      </p:sp>
    </p:spTree>
    <p:extLst>
      <p:ext uri="{BB962C8B-B14F-4D97-AF65-F5344CB8AC3E}">
        <p14:creationId xmlns:p14="http://schemas.microsoft.com/office/powerpoint/2010/main" val="2017498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lstStyle/>
          <a:p>
            <a:r>
              <a:rPr lang="zh-CN" altLang="en-US" dirty="0"/>
              <a:t>例</a:t>
            </a:r>
            <a:r>
              <a:rPr lang="en-US" altLang="zh-CN" dirty="0"/>
              <a:t>8-2</a:t>
            </a:r>
            <a:r>
              <a:rPr lang="zh-CN" altLang="en-US" sz="3200" dirty="0"/>
              <a:t>重载前置</a:t>
            </a:r>
            <a:r>
              <a:rPr lang="en-US" altLang="zh-CN" sz="3200" dirty="0"/>
              <a:t>++</a:t>
            </a:r>
            <a:r>
              <a:rPr lang="zh-CN" altLang="en-US" sz="3200" dirty="0"/>
              <a:t>和后置</a:t>
            </a:r>
            <a:r>
              <a:rPr lang="en-US" altLang="zh-CN" sz="3200" dirty="0"/>
              <a:t>++</a:t>
            </a:r>
            <a:r>
              <a:rPr lang="zh-CN" altLang="en-US" sz="3200" dirty="0"/>
              <a:t>为时钟类成员函数</a:t>
            </a:r>
            <a:endParaRPr lang="zh-CN" altLang="en-US" dirty="0"/>
          </a:p>
        </p:txBody>
      </p:sp>
      <p:sp>
        <p:nvSpPr>
          <p:cNvPr id="28675" name="内容占位符 2"/>
          <p:cNvSpPr>
            <a:spLocks noGrp="1"/>
          </p:cNvSpPr>
          <p:nvPr>
            <p:ph idx="1"/>
          </p:nvPr>
        </p:nvSpPr>
        <p:spPr>
          <a:xfrm>
            <a:off x="2353171" y="1340768"/>
            <a:ext cx="9232404" cy="5233070"/>
          </a:xfrm>
        </p:spPr>
        <p:txBody>
          <a:bodyPr/>
          <a:lstStyle/>
          <a:p>
            <a:r>
              <a:rPr lang="en-US" altLang="zh-CN" dirty="0"/>
              <a:t>int main() {</a:t>
            </a:r>
          </a:p>
          <a:p>
            <a:r>
              <a:rPr lang="en-US" altLang="zh-CN" dirty="0"/>
              <a:t>	Clock </a:t>
            </a:r>
            <a:r>
              <a:rPr lang="en-US" altLang="zh-CN" dirty="0" err="1"/>
              <a:t>myClock</a:t>
            </a:r>
            <a:r>
              <a:rPr lang="en-US" altLang="zh-CN" dirty="0"/>
              <a:t>(23, 59, 59);</a:t>
            </a:r>
          </a:p>
          <a:p>
            <a:r>
              <a:rPr lang="en-US" altLang="zh-CN" dirty="0"/>
              <a:t>	</a:t>
            </a:r>
            <a:r>
              <a:rPr lang="en-US" altLang="zh-CN" dirty="0" err="1"/>
              <a:t>cout</a:t>
            </a:r>
            <a:r>
              <a:rPr lang="en-US" altLang="zh-CN" dirty="0"/>
              <a:t> &lt;&lt; "First time output: ";</a:t>
            </a:r>
          </a:p>
          <a:p>
            <a:r>
              <a:rPr lang="en-US" altLang="zh-CN" dirty="0"/>
              <a:t>	</a:t>
            </a:r>
            <a:r>
              <a:rPr lang="en-US" altLang="zh-CN" dirty="0" err="1"/>
              <a:t>myClock.showTime</a:t>
            </a:r>
            <a:r>
              <a:rPr lang="en-US" altLang="zh-CN" dirty="0"/>
              <a:t>();</a:t>
            </a:r>
          </a:p>
          <a:p>
            <a:r>
              <a:rPr lang="en-US" altLang="zh-CN" dirty="0"/>
              <a:t>	</a:t>
            </a:r>
            <a:r>
              <a:rPr lang="en-US" altLang="zh-CN" dirty="0" err="1"/>
              <a:t>cout</a:t>
            </a:r>
            <a:r>
              <a:rPr lang="en-US" altLang="zh-CN" dirty="0"/>
              <a:t> &lt;&lt; "Show </a:t>
            </a:r>
            <a:r>
              <a:rPr lang="en-US" altLang="zh-CN" dirty="0" err="1"/>
              <a:t>myClock</a:t>
            </a:r>
            <a:r>
              <a:rPr lang="en-US" altLang="zh-CN" dirty="0"/>
              <a:t>++:    ";</a:t>
            </a:r>
          </a:p>
          <a:p>
            <a:r>
              <a:rPr lang="en-US" altLang="zh-CN" dirty="0"/>
              <a:t>	(</a:t>
            </a:r>
            <a:r>
              <a:rPr lang="en-US" altLang="zh-CN" dirty="0" err="1"/>
              <a:t>myClock</a:t>
            </a:r>
            <a:r>
              <a:rPr lang="en-US" altLang="zh-CN" dirty="0"/>
              <a:t>++).</a:t>
            </a:r>
            <a:r>
              <a:rPr lang="en-US" altLang="zh-CN" dirty="0" err="1"/>
              <a:t>showTime</a:t>
            </a:r>
            <a:r>
              <a:rPr lang="en-US" altLang="zh-CN" dirty="0"/>
              <a:t>();</a:t>
            </a:r>
          </a:p>
          <a:p>
            <a:r>
              <a:rPr lang="en-US" altLang="zh-CN" dirty="0"/>
              <a:t>	</a:t>
            </a:r>
            <a:r>
              <a:rPr lang="en-US" altLang="zh-CN" dirty="0" err="1"/>
              <a:t>cout</a:t>
            </a:r>
            <a:r>
              <a:rPr lang="en-US" altLang="zh-CN" dirty="0"/>
              <a:t> &lt;&lt; "Show ++</a:t>
            </a:r>
            <a:r>
              <a:rPr lang="en-US" altLang="zh-CN" dirty="0" err="1"/>
              <a:t>myClock</a:t>
            </a:r>
            <a:r>
              <a:rPr lang="en-US" altLang="zh-CN" dirty="0"/>
              <a:t>:    ";</a:t>
            </a:r>
          </a:p>
          <a:p>
            <a:r>
              <a:rPr lang="en-US" altLang="zh-CN" dirty="0"/>
              <a:t>	(++</a:t>
            </a:r>
            <a:r>
              <a:rPr lang="en-US" altLang="zh-CN" dirty="0" err="1"/>
              <a:t>myClock</a:t>
            </a:r>
            <a:r>
              <a:rPr lang="en-US" altLang="zh-CN" dirty="0"/>
              <a:t>).</a:t>
            </a:r>
            <a:r>
              <a:rPr lang="en-US" altLang="zh-CN" dirty="0" err="1"/>
              <a:t>showTime</a:t>
            </a:r>
            <a:r>
              <a:rPr lang="en-US" altLang="zh-CN" dirty="0"/>
              <a:t>();</a:t>
            </a:r>
          </a:p>
          <a:p>
            <a:r>
              <a:rPr lang="en-US" altLang="zh-CN" dirty="0"/>
              <a:t>	return 0;</a:t>
            </a:r>
          </a:p>
          <a:p>
            <a:r>
              <a:rPr lang="en-US" altLang="zh-CN" dirty="0"/>
              <a:t>}</a:t>
            </a:r>
          </a:p>
        </p:txBody>
      </p:sp>
      <p:sp>
        <p:nvSpPr>
          <p:cNvPr id="28678" name="TextBox 5"/>
          <p:cNvSpPr txBox="1">
            <a:spLocks noChangeArrowheads="1"/>
          </p:cNvSpPr>
          <p:nvPr/>
        </p:nvSpPr>
        <p:spPr bwMode="auto">
          <a:xfrm>
            <a:off x="7281187" y="5118729"/>
            <a:ext cx="4518025" cy="13843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运行结果：</a:t>
            </a:r>
            <a:endParaRPr kumimoji="1" lang="en-US" alt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First time output: 23:59:59</a:t>
            </a:r>
            <a:endParaRPr kumimoji="1" lang="zh-CN" alt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Show myClock++:    23:59:59</a:t>
            </a:r>
            <a:endParaRPr kumimoji="1" lang="zh-CN" alt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Show ++myClock:    0:0:1</a:t>
            </a:r>
            <a:endParaRPr kumimoji="1" lang="zh-CN" alt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308612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6514C726-1798-484F-9B18-D5FAFAD1540E}"/>
              </a:ext>
            </a:extLst>
          </p:cNvPr>
          <p:cNvSpPr>
            <a:spLocks noGrp="1"/>
          </p:cNvSpPr>
          <p:nvPr>
            <p:ph type="title"/>
          </p:nvPr>
        </p:nvSpPr>
        <p:spPr/>
        <p:txBody>
          <a:bodyPr/>
          <a:lstStyle/>
          <a:p>
            <a:r>
              <a:rPr lang="zh-CN" altLang="en-US" dirty="0"/>
              <a:t>前置单目运算符重载规则</a:t>
            </a:r>
          </a:p>
        </p:txBody>
      </p:sp>
      <p:sp>
        <p:nvSpPr>
          <p:cNvPr id="22531" name="内容占位符 2"/>
          <p:cNvSpPr>
            <a:spLocks noGrp="1"/>
          </p:cNvSpPr>
          <p:nvPr>
            <p:ph idx="1"/>
          </p:nvPr>
        </p:nvSpPr>
        <p:spPr/>
        <p:txBody>
          <a:bodyPr/>
          <a:lstStyle/>
          <a:p>
            <a:r>
              <a:rPr lang="zh-CN" altLang="en-US" dirty="0"/>
              <a:t>如果要重载 </a:t>
            </a:r>
            <a:r>
              <a:rPr lang="en-US" altLang="zh-CN" dirty="0"/>
              <a:t>U </a:t>
            </a:r>
            <a:r>
              <a:rPr lang="zh-CN" altLang="en-US" dirty="0"/>
              <a:t>为类成员函数，使之能够实现表达式 </a:t>
            </a:r>
            <a:r>
              <a:rPr lang="en-US" altLang="zh-CN" dirty="0"/>
              <a:t>U </a:t>
            </a:r>
            <a:r>
              <a:rPr lang="en-US" altLang="zh-CN" dirty="0" err="1"/>
              <a:t>oprd</a:t>
            </a:r>
            <a:r>
              <a:rPr lang="zh-CN" altLang="en-US" dirty="0"/>
              <a:t>，其中</a:t>
            </a:r>
            <a:r>
              <a:rPr lang="en-US" altLang="en-US" dirty="0"/>
              <a:t> </a:t>
            </a:r>
            <a:r>
              <a:rPr lang="en-US" altLang="zh-CN" dirty="0" err="1"/>
              <a:t>oprd</a:t>
            </a:r>
            <a:r>
              <a:rPr lang="en-US" altLang="zh-CN" dirty="0"/>
              <a:t> </a:t>
            </a:r>
            <a:r>
              <a:rPr lang="zh-CN" altLang="en-US" dirty="0"/>
              <a:t>为</a:t>
            </a:r>
            <a:r>
              <a:rPr lang="en-US" altLang="zh-CN" dirty="0"/>
              <a:t>A</a:t>
            </a:r>
            <a:r>
              <a:rPr lang="zh-CN" altLang="en-US" dirty="0"/>
              <a:t>类对象，则 </a:t>
            </a:r>
            <a:r>
              <a:rPr lang="en-US" altLang="zh-CN" dirty="0"/>
              <a:t>U </a:t>
            </a:r>
            <a:r>
              <a:rPr lang="zh-CN" altLang="en-US" dirty="0"/>
              <a:t>应被重载为 </a:t>
            </a:r>
            <a:r>
              <a:rPr lang="en-US" altLang="zh-CN" dirty="0"/>
              <a:t>A </a:t>
            </a:r>
            <a:r>
              <a:rPr lang="zh-CN" altLang="en-US" dirty="0"/>
              <a:t>类的成员函数，无形参。</a:t>
            </a:r>
          </a:p>
          <a:p>
            <a:r>
              <a:rPr lang="zh-CN" altLang="en-US" dirty="0"/>
              <a:t>经重载后，</a:t>
            </a:r>
            <a:br>
              <a:rPr lang="zh-CN" altLang="en-US" dirty="0"/>
            </a:br>
            <a:r>
              <a:rPr lang="zh-CN" altLang="en-US" dirty="0"/>
              <a:t>表达式</a:t>
            </a:r>
            <a:r>
              <a:rPr lang="en-US" altLang="en-US" dirty="0"/>
              <a:t> </a:t>
            </a:r>
            <a:r>
              <a:rPr lang="en-US" altLang="zh-CN" dirty="0"/>
              <a:t>U </a:t>
            </a:r>
            <a:r>
              <a:rPr lang="en-US" altLang="zh-CN" dirty="0" err="1"/>
              <a:t>oprd</a:t>
            </a:r>
            <a:r>
              <a:rPr lang="en-US" altLang="zh-CN" dirty="0"/>
              <a:t> </a:t>
            </a:r>
            <a:r>
              <a:rPr lang="zh-CN" altLang="en-US" dirty="0"/>
              <a:t>相当于 </a:t>
            </a:r>
            <a:r>
              <a:rPr lang="en-US" altLang="zh-CN" dirty="0" err="1"/>
              <a:t>oprd.operator</a:t>
            </a:r>
            <a:r>
              <a:rPr lang="en-US" altLang="zh-CN" dirty="0"/>
              <a:t> U()</a:t>
            </a:r>
          </a:p>
        </p:txBody>
      </p:sp>
      <p:sp>
        <p:nvSpPr>
          <p:cNvPr id="2" name="灯片编号占位符 1">
            <a:extLst>
              <a:ext uri="{FF2B5EF4-FFF2-40B4-BE49-F238E27FC236}">
                <a16:creationId xmlns:a16="http://schemas.microsoft.com/office/drawing/2014/main" id="{07D9DE14-3213-4E6C-988F-C051FAC71A7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00F21B-5F9E-4DB6-92EB-09A53204F80C}" type="slidenum">
              <a:rPr kumimoji="1" lang="en-US" altLang="zh-CN" sz="1800" b="0" i="0" u="none" strike="noStrike" kern="1200" cap="none" spc="0" normalizeH="0" baseline="0" noProof="0" smtClean="0">
                <a:ln>
                  <a:noFill/>
                </a:ln>
                <a:solidFill>
                  <a:prstClr val="white"/>
                </a:solidFill>
                <a:effectLst/>
                <a:uLnTx/>
                <a:uFillTx/>
                <a:latin typeface="Times New Roman" panose="02020603050405020304" pitchFamily="18" charset="0"/>
                <a:ea typeface="隶书" panose="020105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1"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251592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5E16CB7C-62B6-4A44-B68F-1E1FE8E44795}"/>
              </a:ext>
            </a:extLst>
          </p:cNvPr>
          <p:cNvSpPr>
            <a:spLocks noGrp="1"/>
          </p:cNvSpPr>
          <p:nvPr>
            <p:ph type="title"/>
          </p:nvPr>
        </p:nvSpPr>
        <p:spPr/>
        <p:txBody>
          <a:bodyPr/>
          <a:lstStyle/>
          <a:p>
            <a:r>
              <a:rPr lang="zh-CN" altLang="en-US" dirty="0"/>
              <a:t>后置单目运算符 </a:t>
            </a:r>
            <a:r>
              <a:rPr lang="en-US" altLang="en-US" dirty="0">
                <a:ea typeface="宋体" panose="02010600030101010101" pitchFamily="2" charset="-122"/>
              </a:rPr>
              <a:t>++</a:t>
            </a:r>
            <a:r>
              <a:rPr lang="zh-CN" altLang="en-US" dirty="0"/>
              <a:t>和</a:t>
            </a:r>
            <a:r>
              <a:rPr lang="en-US" altLang="zh-CN" dirty="0"/>
              <a:t>--</a:t>
            </a:r>
            <a:r>
              <a:rPr lang="zh-CN" altLang="en-US" dirty="0"/>
              <a:t>重载规则</a:t>
            </a:r>
          </a:p>
        </p:txBody>
      </p:sp>
      <p:sp>
        <p:nvSpPr>
          <p:cNvPr id="23555" name="内容占位符 2"/>
          <p:cNvSpPr>
            <a:spLocks noGrp="1"/>
          </p:cNvSpPr>
          <p:nvPr>
            <p:ph idx="1"/>
          </p:nvPr>
        </p:nvSpPr>
        <p:spPr/>
        <p:txBody>
          <a:bodyPr/>
          <a:lstStyle/>
          <a:p>
            <a:r>
              <a:rPr lang="zh-CN" altLang="en-US" dirty="0"/>
              <a:t>如果要重载 </a:t>
            </a:r>
            <a:r>
              <a:rPr lang="en-US" altLang="en-US" dirty="0"/>
              <a:t>++</a:t>
            </a:r>
            <a:r>
              <a:rPr lang="zh-CN" altLang="en-US" dirty="0"/>
              <a:t>或</a:t>
            </a:r>
            <a:r>
              <a:rPr lang="en-US" altLang="zh-CN" dirty="0"/>
              <a:t>--</a:t>
            </a:r>
            <a:r>
              <a:rPr lang="zh-CN" altLang="en-US" dirty="0"/>
              <a:t>为类成员函数，使之能够实现表达式 </a:t>
            </a:r>
            <a:r>
              <a:rPr lang="en-US" altLang="en-US" dirty="0"/>
              <a:t> </a:t>
            </a:r>
            <a:r>
              <a:rPr lang="en-US" altLang="zh-CN" dirty="0" err="1"/>
              <a:t>oprd</a:t>
            </a:r>
            <a:r>
              <a:rPr lang="en-US" altLang="zh-CN" dirty="0"/>
              <a:t>++ </a:t>
            </a:r>
            <a:r>
              <a:rPr lang="zh-CN" altLang="en-US" dirty="0"/>
              <a:t>或 </a:t>
            </a:r>
            <a:r>
              <a:rPr lang="en-US" altLang="zh-CN" dirty="0" err="1"/>
              <a:t>oprd</a:t>
            </a:r>
            <a:r>
              <a:rPr lang="en-US" altLang="zh-CN" dirty="0"/>
              <a:t>-- </a:t>
            </a:r>
            <a:r>
              <a:rPr lang="zh-CN" altLang="en-US" dirty="0"/>
              <a:t>，其中</a:t>
            </a:r>
            <a:r>
              <a:rPr lang="en-US" altLang="en-US" dirty="0"/>
              <a:t> </a:t>
            </a:r>
            <a:r>
              <a:rPr lang="en-US" altLang="zh-CN" dirty="0" err="1"/>
              <a:t>oprd</a:t>
            </a:r>
            <a:r>
              <a:rPr lang="en-US" altLang="zh-CN" dirty="0"/>
              <a:t> </a:t>
            </a:r>
            <a:r>
              <a:rPr lang="zh-CN" altLang="en-US" dirty="0"/>
              <a:t>为</a:t>
            </a:r>
            <a:r>
              <a:rPr lang="en-US" altLang="zh-CN" dirty="0"/>
              <a:t>A</a:t>
            </a:r>
            <a:r>
              <a:rPr lang="zh-CN" altLang="en-US" dirty="0"/>
              <a:t>类对象，则 </a:t>
            </a:r>
            <a:r>
              <a:rPr lang="en-US" altLang="en-US" dirty="0"/>
              <a:t>++</a:t>
            </a:r>
            <a:r>
              <a:rPr lang="zh-CN" altLang="en-US" dirty="0"/>
              <a:t>或</a:t>
            </a:r>
            <a:r>
              <a:rPr lang="en-US" altLang="zh-CN" dirty="0"/>
              <a:t>--  </a:t>
            </a:r>
            <a:r>
              <a:rPr lang="zh-CN" altLang="en-US" dirty="0"/>
              <a:t>应被重载为 </a:t>
            </a:r>
            <a:r>
              <a:rPr lang="en-US" altLang="zh-CN" dirty="0"/>
              <a:t>A </a:t>
            </a:r>
            <a:r>
              <a:rPr lang="zh-CN" altLang="en-US" dirty="0"/>
              <a:t>类的成员函数，且具有一个 </a:t>
            </a:r>
            <a:r>
              <a:rPr lang="en-US" altLang="zh-CN" dirty="0"/>
              <a:t>int </a:t>
            </a:r>
            <a:r>
              <a:rPr lang="zh-CN" altLang="en-US" dirty="0"/>
              <a:t>类型</a:t>
            </a:r>
            <a:r>
              <a:rPr lang="zh-CN" altLang="zh-CN" dirty="0"/>
              <a:t>形参</a:t>
            </a:r>
            <a:r>
              <a:rPr lang="zh-CN" altLang="en-US" dirty="0"/>
              <a:t>。</a:t>
            </a:r>
            <a:endParaRPr lang="en-US" altLang="zh-CN" dirty="0"/>
          </a:p>
          <a:p>
            <a:r>
              <a:rPr lang="zh-CN" altLang="en-US" dirty="0"/>
              <a:t>经重载后，表达式 </a:t>
            </a:r>
            <a:r>
              <a:rPr lang="en-US" altLang="en-US" dirty="0"/>
              <a:t> </a:t>
            </a:r>
            <a:r>
              <a:rPr lang="en-US" altLang="zh-CN" dirty="0" err="1"/>
              <a:t>oprd</a:t>
            </a:r>
            <a:r>
              <a:rPr lang="en-US" altLang="zh-CN" dirty="0"/>
              <a:t>++ </a:t>
            </a:r>
            <a:r>
              <a:rPr lang="zh-CN" altLang="en-US" dirty="0"/>
              <a:t>相当于  </a:t>
            </a:r>
            <a:r>
              <a:rPr lang="en-US" altLang="zh-CN" dirty="0" err="1"/>
              <a:t>oprd.operator</a:t>
            </a:r>
            <a:r>
              <a:rPr lang="en-US" altLang="zh-CN" dirty="0"/>
              <a:t> ++(0)</a:t>
            </a:r>
          </a:p>
        </p:txBody>
      </p:sp>
      <p:sp>
        <p:nvSpPr>
          <p:cNvPr id="2" name="灯片编号占位符 1">
            <a:extLst>
              <a:ext uri="{FF2B5EF4-FFF2-40B4-BE49-F238E27FC236}">
                <a16:creationId xmlns:a16="http://schemas.microsoft.com/office/drawing/2014/main" id="{0E441EFD-42E9-4E76-A963-55297510FD2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00F21B-5F9E-4DB6-92EB-09A53204F80C}" type="slidenum">
              <a:rPr kumimoji="1" lang="en-US" altLang="zh-CN" sz="1800" b="0" i="0" u="none" strike="noStrike" kern="1200" cap="none" spc="0" normalizeH="0" baseline="0" noProof="0" smtClean="0">
                <a:ln>
                  <a:noFill/>
                </a:ln>
                <a:solidFill>
                  <a:prstClr val="white"/>
                </a:solidFill>
                <a:effectLst/>
                <a:uLnTx/>
                <a:uFillTx/>
                <a:latin typeface="Times New Roman" panose="02020603050405020304" pitchFamily="18" charset="0"/>
                <a:ea typeface="隶书" panose="020105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1"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12831800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运算符重载为非成员函数</a:t>
            </a:r>
          </a:p>
        </p:txBody>
      </p:sp>
      <p:sp>
        <p:nvSpPr>
          <p:cNvPr id="3" name="文本占位符 2"/>
          <p:cNvSpPr>
            <a:spLocks noGrp="1"/>
          </p:cNvSpPr>
          <p:nvPr>
            <p:ph type="body" idx="1"/>
          </p:nvPr>
        </p:nvSpPr>
        <p:spPr/>
        <p:txBody>
          <a:bodyPr/>
          <a:lstStyle/>
          <a:p>
            <a:r>
              <a:rPr lang="zh-CN" altLang="en-US" dirty="0"/>
              <a:t>有些运算符不能重载为成员函数，例如二元运算符的左操作数不是对象，或者是不能由我们重载运算符的对象</a:t>
            </a:r>
          </a:p>
        </p:txBody>
      </p:sp>
      <p:sp>
        <p:nvSpPr>
          <p:cNvPr id="4" name="灯片编号占位符 3">
            <a:extLst>
              <a:ext uri="{FF2B5EF4-FFF2-40B4-BE49-F238E27FC236}">
                <a16:creationId xmlns:a16="http://schemas.microsoft.com/office/drawing/2014/main" id="{3C9A080A-C946-4D18-A3D3-29B6DB14CB0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00F21B-5F9E-4DB6-92EB-09A53204F80C}" type="slidenum">
              <a:rPr kumimoji="1" lang="en-US" altLang="zh-CN" sz="1800" b="0" i="0" u="none" strike="noStrike" kern="1200" cap="none" spc="0" normalizeH="0" baseline="0" noProof="0" smtClean="0">
                <a:ln>
                  <a:noFill/>
                </a:ln>
                <a:solidFill>
                  <a:prstClr val="white"/>
                </a:solidFill>
                <a:effectLst/>
                <a:uLnTx/>
                <a:uFillTx/>
                <a:latin typeface="Times New Roman" panose="02020603050405020304" pitchFamily="18" charset="0"/>
                <a:ea typeface="隶书" panose="020105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1"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3225483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zh-CN" altLang="en-US" dirty="0"/>
              <a:t>例</a:t>
            </a:r>
            <a:r>
              <a:rPr lang="en-US" altLang="zh-CN" dirty="0"/>
              <a:t>8-3</a:t>
            </a:r>
            <a:r>
              <a:rPr lang="zh-CN" altLang="en-US" dirty="0"/>
              <a:t> </a:t>
            </a:r>
            <a:br>
              <a:rPr lang="en-US" altLang="zh-CN" sz="3600" dirty="0"/>
            </a:br>
            <a:r>
              <a:rPr lang="zh-CN" altLang="en-US" sz="3200" dirty="0"/>
              <a:t>重载</a:t>
            </a:r>
            <a:r>
              <a:rPr lang="en-US" altLang="zh-CN" sz="3200" dirty="0"/>
              <a:t>Complex</a:t>
            </a:r>
            <a:r>
              <a:rPr lang="zh-CN" altLang="en-US" sz="3200" dirty="0"/>
              <a:t>的加减法和“</a:t>
            </a:r>
            <a:r>
              <a:rPr lang="en-US" altLang="zh-CN" sz="3200" dirty="0"/>
              <a:t>&lt;&lt;</a:t>
            </a:r>
            <a:r>
              <a:rPr lang="zh-CN" altLang="en-US" sz="3200" dirty="0"/>
              <a:t>”运算符为非成员函数</a:t>
            </a:r>
            <a:endParaRPr lang="zh-CN" altLang="en-US" sz="3600" dirty="0"/>
          </a:p>
        </p:txBody>
      </p:sp>
      <p:sp>
        <p:nvSpPr>
          <p:cNvPr id="3" name="内容占位符 2"/>
          <p:cNvSpPr>
            <a:spLocks noGrp="1"/>
          </p:cNvSpPr>
          <p:nvPr>
            <p:ph idx="1"/>
          </p:nvPr>
        </p:nvSpPr>
        <p:spPr/>
        <p:txBody>
          <a:bodyPr/>
          <a:lstStyle/>
          <a:p>
            <a:r>
              <a:rPr lang="zh-CN" altLang="en-US" dirty="0"/>
              <a:t>将</a:t>
            </a:r>
            <a:r>
              <a:rPr lang="en-US" altLang="zh-CN" dirty="0"/>
              <a:t>+</a:t>
            </a:r>
            <a:r>
              <a:rPr lang="zh-CN" altLang="en-US" dirty="0"/>
              <a:t>、</a:t>
            </a:r>
            <a:r>
              <a:rPr lang="en-US" altLang="zh-CN" dirty="0"/>
              <a:t>-</a:t>
            </a:r>
            <a:r>
              <a:rPr lang="zh-CN" altLang="en-US" dirty="0"/>
              <a:t>（双目）重载为非成员函数，并将其声明为复数类的友元，两个操作数都是复数类的常引用。</a:t>
            </a:r>
            <a:endParaRPr lang="en-US" altLang="zh-CN" dirty="0"/>
          </a:p>
          <a:p>
            <a:r>
              <a:rPr lang="zh-CN" altLang="en-US" dirty="0"/>
              <a:t>将</a:t>
            </a:r>
            <a:r>
              <a:rPr lang="en-US" altLang="zh-CN" dirty="0"/>
              <a:t>&lt;&lt;</a:t>
            </a:r>
            <a:r>
              <a:rPr lang="zh-CN" altLang="en-US" dirty="0"/>
              <a:t>（双目）重载为非成员函数，并将其声明为复数类的友元，它的左操作数是</a:t>
            </a:r>
            <a:r>
              <a:rPr lang="en-US" altLang="zh-CN" dirty="0"/>
              <a:t>std::</a:t>
            </a:r>
            <a:r>
              <a:rPr lang="en-US" altLang="zh-CN" dirty="0" err="1"/>
              <a:t>ostream</a:t>
            </a:r>
            <a:r>
              <a:rPr lang="zh-CN" altLang="en-US" dirty="0"/>
              <a:t>引用，右操作数为复数类的常引用，返回</a:t>
            </a:r>
            <a:r>
              <a:rPr lang="en-US" altLang="zh-CN" dirty="0"/>
              <a:t>std::</a:t>
            </a:r>
            <a:r>
              <a:rPr lang="en-US" altLang="zh-CN" dirty="0" err="1"/>
              <a:t>ostream</a:t>
            </a:r>
            <a:r>
              <a:rPr lang="zh-CN" altLang="en-US" dirty="0"/>
              <a:t>引用，用以支持下面形式的输出：</a:t>
            </a:r>
            <a:br>
              <a:rPr lang="en-US" altLang="zh-CN" dirty="0"/>
            </a:br>
            <a:r>
              <a:rPr lang="en-US" altLang="zh-CN" dirty="0" err="1"/>
              <a:t>cout</a:t>
            </a:r>
            <a:r>
              <a:rPr lang="en-US" altLang="zh-CN" dirty="0"/>
              <a:t> &lt;&lt; a &lt;&lt; b;</a:t>
            </a:r>
            <a:br>
              <a:rPr lang="en-US" altLang="zh-CN" dirty="0"/>
            </a:br>
            <a:r>
              <a:rPr lang="zh-CN" altLang="en-US" dirty="0"/>
              <a:t>该输出调用的是：</a:t>
            </a:r>
            <a:br>
              <a:rPr lang="en-US" altLang="zh-CN" dirty="0"/>
            </a:br>
            <a:r>
              <a:rPr lang="en-US" altLang="zh-CN" dirty="0"/>
              <a:t>operator &lt;&lt; (operator &lt;&lt; (</a:t>
            </a:r>
            <a:r>
              <a:rPr lang="en-US" altLang="zh-CN" dirty="0" err="1"/>
              <a:t>cout</a:t>
            </a:r>
            <a:r>
              <a:rPr lang="en-US" altLang="zh-CN" dirty="0"/>
              <a:t>, a), b);</a:t>
            </a:r>
            <a:endParaRPr lang="zh-CN" altLang="en-US" dirty="0"/>
          </a:p>
        </p:txBody>
      </p:sp>
      <p:sp>
        <p:nvSpPr>
          <p:cNvPr id="2" name="灯片编号占位符 1">
            <a:extLst>
              <a:ext uri="{FF2B5EF4-FFF2-40B4-BE49-F238E27FC236}">
                <a16:creationId xmlns:a16="http://schemas.microsoft.com/office/drawing/2014/main" id="{494B2CBF-B370-40B4-9E6A-5888A992D63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00F21B-5F9E-4DB6-92EB-09A53204F80C}" type="slidenum">
              <a:rPr kumimoji="1" lang="en-US" altLang="zh-CN" sz="1800" b="0" i="0" u="none" strike="noStrike" kern="1200" cap="none" spc="0" normalizeH="0" baseline="0" noProof="0" smtClean="0">
                <a:ln>
                  <a:noFill/>
                </a:ln>
                <a:solidFill>
                  <a:prstClr val="white"/>
                </a:solidFill>
                <a:effectLst/>
                <a:uLnTx/>
                <a:uFillTx/>
                <a:latin typeface="Times New Roman" panose="02020603050405020304" pitchFamily="18" charset="0"/>
                <a:ea typeface="隶书" panose="020105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1"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3416059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p:txBody>
          <a:bodyPr/>
          <a:lstStyle/>
          <a:p>
            <a:r>
              <a:rPr lang="zh-CN" altLang="en-US" dirty="0"/>
              <a:t>例</a:t>
            </a:r>
            <a:r>
              <a:rPr lang="en-US" altLang="zh-CN" dirty="0"/>
              <a:t>8-3 </a:t>
            </a:r>
            <a:r>
              <a:rPr lang="zh-CN" altLang="en-US" sz="2800" dirty="0"/>
              <a:t>重载复数的加减法和“</a:t>
            </a:r>
            <a:r>
              <a:rPr lang="en-US" altLang="zh-CN" sz="2800" dirty="0"/>
              <a:t>&lt;&lt;”</a:t>
            </a:r>
            <a:r>
              <a:rPr lang="zh-CN" altLang="en-US" sz="2800" dirty="0"/>
              <a:t>运算符为非成员函数</a:t>
            </a:r>
            <a:endParaRPr lang="zh-CN" altLang="en-US" dirty="0"/>
          </a:p>
        </p:txBody>
      </p:sp>
      <p:sp>
        <p:nvSpPr>
          <p:cNvPr id="3" name="内容占位符 2"/>
          <p:cNvSpPr>
            <a:spLocks noGrp="1"/>
          </p:cNvSpPr>
          <p:nvPr>
            <p:ph idx="1"/>
          </p:nvPr>
        </p:nvSpPr>
        <p:spPr>
          <a:xfrm>
            <a:off x="825623" y="1004242"/>
            <a:ext cx="11176620" cy="5521102"/>
          </a:xfrm>
        </p:spPr>
        <p:txBody>
          <a:bodyPr/>
          <a:lstStyle/>
          <a:p>
            <a:r>
              <a:rPr lang="en-US" altLang="zh-CN" dirty="0"/>
              <a:t>//8_3.cpp</a:t>
            </a:r>
          </a:p>
          <a:p>
            <a:r>
              <a:rPr lang="en-US" altLang="zh-CN" dirty="0"/>
              <a:t>#include &lt;iostream&gt;</a:t>
            </a:r>
          </a:p>
          <a:p>
            <a:r>
              <a:rPr lang="en-US" altLang="zh-CN" dirty="0"/>
              <a:t>using namespace std;</a:t>
            </a:r>
          </a:p>
          <a:p>
            <a:r>
              <a:rPr lang="en-US" altLang="zh-CN" dirty="0"/>
              <a:t> </a:t>
            </a:r>
          </a:p>
          <a:p>
            <a:r>
              <a:rPr lang="en-US" altLang="zh-CN" dirty="0"/>
              <a:t>class Complex {</a:t>
            </a:r>
            <a:endParaRPr lang="zh-CN" altLang="en-US" dirty="0"/>
          </a:p>
          <a:p>
            <a:r>
              <a:rPr lang="en-US" altLang="zh-CN" dirty="0"/>
              <a:t>public:</a:t>
            </a:r>
            <a:endParaRPr lang="zh-CN" altLang="en-US" dirty="0"/>
          </a:p>
          <a:p>
            <a:r>
              <a:rPr lang="zh-CN" altLang="en-US" dirty="0"/>
              <a:t>	</a:t>
            </a:r>
            <a:r>
              <a:rPr lang="en-US" altLang="zh-CN" dirty="0"/>
              <a:t>Complex(double r = 0.0, double </a:t>
            </a:r>
            <a:r>
              <a:rPr lang="en-US" altLang="zh-CN" dirty="0" err="1"/>
              <a:t>i</a:t>
            </a:r>
            <a:r>
              <a:rPr lang="en-US" altLang="zh-CN" dirty="0"/>
              <a:t> = 0.0) : real(r), </a:t>
            </a:r>
            <a:r>
              <a:rPr lang="en-US" altLang="zh-CN" dirty="0" err="1"/>
              <a:t>imag</a:t>
            </a:r>
            <a:r>
              <a:rPr lang="en-US" altLang="zh-CN" dirty="0"/>
              <a:t>(</a:t>
            </a:r>
            <a:r>
              <a:rPr lang="en-US" altLang="zh-CN" dirty="0" err="1"/>
              <a:t>i</a:t>
            </a:r>
            <a:r>
              <a:rPr lang="en-US" altLang="zh-CN" dirty="0"/>
              <a:t>) { }	</a:t>
            </a:r>
            <a:endParaRPr lang="zh-CN" altLang="en-US" dirty="0"/>
          </a:p>
          <a:p>
            <a:r>
              <a:rPr lang="zh-CN" altLang="en-US" dirty="0"/>
              <a:t>	</a:t>
            </a:r>
            <a:r>
              <a:rPr lang="en-US" altLang="zh-CN" dirty="0"/>
              <a:t>friend Complex operator+(const Complex &amp;c1, const Complex &amp;c2);</a:t>
            </a:r>
            <a:endParaRPr lang="zh-CN" altLang="en-US" dirty="0"/>
          </a:p>
          <a:p>
            <a:r>
              <a:rPr lang="zh-CN" altLang="en-US" dirty="0"/>
              <a:t>	</a:t>
            </a:r>
            <a:r>
              <a:rPr lang="en-US" altLang="zh-CN" dirty="0"/>
              <a:t>friend Complex operator-(const Complex &amp;c1, const Complex &amp;c2);</a:t>
            </a:r>
            <a:endParaRPr lang="zh-CN" altLang="en-US" dirty="0"/>
          </a:p>
          <a:p>
            <a:r>
              <a:rPr lang="zh-CN" altLang="en-US" dirty="0"/>
              <a:t>	</a:t>
            </a:r>
            <a:r>
              <a:rPr lang="en-US" altLang="zh-CN" dirty="0"/>
              <a:t>friend </a:t>
            </a:r>
            <a:r>
              <a:rPr lang="en-US" altLang="zh-CN" dirty="0" err="1"/>
              <a:t>ostream</a:t>
            </a:r>
            <a:r>
              <a:rPr lang="en-US" altLang="zh-CN" dirty="0"/>
              <a:t> &amp; operator&lt;&lt;(</a:t>
            </a:r>
            <a:r>
              <a:rPr lang="en-US" altLang="zh-CN" dirty="0" err="1"/>
              <a:t>ostream</a:t>
            </a:r>
            <a:r>
              <a:rPr lang="en-US" altLang="zh-CN" dirty="0"/>
              <a:t> &amp;out, const Complex &amp;c);</a:t>
            </a:r>
            <a:endParaRPr lang="zh-CN" altLang="en-US" dirty="0"/>
          </a:p>
          <a:p>
            <a:r>
              <a:rPr lang="en-US" altLang="zh-CN" dirty="0"/>
              <a:t>private:	</a:t>
            </a:r>
            <a:endParaRPr lang="zh-CN" altLang="en-US" dirty="0"/>
          </a:p>
          <a:p>
            <a:r>
              <a:rPr lang="zh-CN" altLang="en-US" dirty="0"/>
              <a:t>	</a:t>
            </a:r>
            <a:r>
              <a:rPr lang="en-US" altLang="zh-CN" dirty="0"/>
              <a:t>double real;  //</a:t>
            </a:r>
            <a:r>
              <a:rPr lang="zh-CN" altLang="en-US" dirty="0"/>
              <a:t>复数实部</a:t>
            </a:r>
          </a:p>
          <a:p>
            <a:r>
              <a:rPr lang="zh-CN" altLang="en-US" dirty="0"/>
              <a:t>	</a:t>
            </a:r>
            <a:r>
              <a:rPr lang="en-US" altLang="zh-CN" dirty="0"/>
              <a:t>double </a:t>
            </a:r>
            <a:r>
              <a:rPr lang="en-US" altLang="zh-CN" dirty="0" err="1"/>
              <a:t>imag</a:t>
            </a:r>
            <a:r>
              <a:rPr lang="en-US" altLang="zh-CN" dirty="0"/>
              <a:t>;  //</a:t>
            </a:r>
            <a:r>
              <a:rPr lang="zh-CN" altLang="en-US" dirty="0"/>
              <a:t>复数虚部</a:t>
            </a:r>
          </a:p>
          <a:p>
            <a:r>
              <a:rPr lang="en-US" altLang="zh-CN" dirty="0"/>
              <a:t>};</a:t>
            </a:r>
          </a:p>
        </p:txBody>
      </p:sp>
    </p:spTree>
    <p:extLst>
      <p:ext uri="{BB962C8B-B14F-4D97-AF65-F5344CB8AC3E}">
        <p14:creationId xmlns:p14="http://schemas.microsoft.com/office/powerpoint/2010/main" val="40754816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p:txBody>
          <a:bodyPr/>
          <a:lstStyle/>
          <a:p>
            <a:r>
              <a:rPr lang="zh-CN" altLang="en-US" dirty="0"/>
              <a:t>例</a:t>
            </a:r>
            <a:r>
              <a:rPr lang="en-US" altLang="zh-CN" dirty="0"/>
              <a:t>8-3 </a:t>
            </a:r>
            <a:r>
              <a:rPr lang="zh-CN" altLang="en-US" sz="2800" dirty="0"/>
              <a:t>重载复数的加减法和“</a:t>
            </a:r>
            <a:r>
              <a:rPr lang="en-US" altLang="zh-CN" sz="2800" dirty="0"/>
              <a:t>&lt;&lt;”</a:t>
            </a:r>
            <a:r>
              <a:rPr lang="zh-CN" altLang="en-US" sz="2800" dirty="0"/>
              <a:t>运算符为非成员函数</a:t>
            </a:r>
            <a:endParaRPr lang="zh-CN" altLang="en-US" dirty="0"/>
          </a:p>
        </p:txBody>
      </p:sp>
      <p:sp>
        <p:nvSpPr>
          <p:cNvPr id="3" name="内容占位符 2"/>
          <p:cNvSpPr>
            <a:spLocks noGrp="1"/>
          </p:cNvSpPr>
          <p:nvPr>
            <p:ph idx="1"/>
          </p:nvPr>
        </p:nvSpPr>
        <p:spPr>
          <a:xfrm>
            <a:off x="1345059" y="1052736"/>
            <a:ext cx="10240516" cy="5521102"/>
          </a:xfrm>
        </p:spPr>
        <p:txBody>
          <a:bodyPr/>
          <a:lstStyle/>
          <a:p>
            <a:r>
              <a:rPr lang="en-US" altLang="zh-CN" dirty="0"/>
              <a:t>Complex operator+(const Complex &amp;c1, const Complex &amp;c2){</a:t>
            </a:r>
            <a:endParaRPr lang="zh-CN" altLang="en-US" dirty="0"/>
          </a:p>
          <a:p>
            <a:r>
              <a:rPr lang="zh-CN" altLang="en-US" dirty="0"/>
              <a:t>	</a:t>
            </a:r>
            <a:r>
              <a:rPr lang="en-US" altLang="zh-CN" dirty="0"/>
              <a:t>return Complex(c1.real+c2.real, c1.imag+c2.imag); </a:t>
            </a:r>
          </a:p>
          <a:p>
            <a:r>
              <a:rPr lang="en-US" altLang="zh-CN" dirty="0"/>
              <a:t>}</a:t>
            </a:r>
          </a:p>
          <a:p>
            <a:r>
              <a:rPr lang="en-US" altLang="zh-CN" dirty="0"/>
              <a:t>Complex operator-(const Complex &amp;c1, const Complex &amp;c2){</a:t>
            </a:r>
            <a:endParaRPr lang="zh-CN" altLang="en-US" dirty="0"/>
          </a:p>
          <a:p>
            <a:r>
              <a:rPr lang="zh-CN" altLang="en-US" dirty="0"/>
              <a:t>	</a:t>
            </a:r>
            <a:r>
              <a:rPr lang="en-US" altLang="zh-CN" dirty="0"/>
              <a:t>return Complex(c1.real-c2.real, c1.imag-c2.imag); </a:t>
            </a:r>
          </a:p>
          <a:p>
            <a:r>
              <a:rPr lang="en-US" altLang="zh-CN" dirty="0"/>
              <a:t>}</a:t>
            </a:r>
          </a:p>
          <a:p>
            <a:r>
              <a:rPr lang="en-US" altLang="zh-CN" dirty="0"/>
              <a:t> </a:t>
            </a:r>
          </a:p>
          <a:p>
            <a:r>
              <a:rPr lang="en-US" altLang="zh-CN" dirty="0" err="1"/>
              <a:t>ostream</a:t>
            </a:r>
            <a:r>
              <a:rPr lang="en-US" altLang="zh-CN" dirty="0"/>
              <a:t> &amp; operator&lt;&lt;(</a:t>
            </a:r>
            <a:r>
              <a:rPr lang="en-US" altLang="zh-CN" dirty="0" err="1"/>
              <a:t>ostream</a:t>
            </a:r>
            <a:r>
              <a:rPr lang="en-US" altLang="zh-CN" dirty="0"/>
              <a:t> &amp;out, const Complex &amp;c){</a:t>
            </a:r>
            <a:endParaRPr lang="zh-CN" altLang="en-US" dirty="0"/>
          </a:p>
          <a:p>
            <a:r>
              <a:rPr lang="zh-CN" altLang="en-US" dirty="0"/>
              <a:t>	</a:t>
            </a:r>
            <a:r>
              <a:rPr lang="en-US" altLang="zh-CN" dirty="0"/>
              <a:t>out &lt;&lt; "(" &lt;&lt; </a:t>
            </a:r>
            <a:r>
              <a:rPr lang="en-US" altLang="zh-CN" dirty="0" err="1"/>
              <a:t>c.real</a:t>
            </a:r>
            <a:r>
              <a:rPr lang="en-US" altLang="zh-CN" dirty="0"/>
              <a:t> &lt;&lt; ", " &lt;&lt; </a:t>
            </a:r>
            <a:r>
              <a:rPr lang="en-US" altLang="zh-CN" dirty="0" err="1"/>
              <a:t>c.imag</a:t>
            </a:r>
            <a:r>
              <a:rPr lang="en-US" altLang="zh-CN" dirty="0"/>
              <a:t> &lt;&lt; ")";</a:t>
            </a:r>
          </a:p>
          <a:p>
            <a:r>
              <a:rPr lang="en-US" altLang="zh-CN" dirty="0"/>
              <a:t>	return out;</a:t>
            </a:r>
          </a:p>
          <a:p>
            <a:r>
              <a:rPr lang="en-US" altLang="zh-CN" dirty="0"/>
              <a:t>}</a:t>
            </a:r>
          </a:p>
          <a:p>
            <a:endParaRPr lang="en-US" altLang="zh-CN" dirty="0"/>
          </a:p>
          <a:p>
            <a:endParaRPr lang="zh-CN" altLang="en-US" dirty="0"/>
          </a:p>
        </p:txBody>
      </p:sp>
    </p:spTree>
    <p:extLst>
      <p:ext uri="{BB962C8B-B14F-4D97-AF65-F5344CB8AC3E}">
        <p14:creationId xmlns:p14="http://schemas.microsoft.com/office/powerpoint/2010/main" val="4257931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p:txBody>
          <a:bodyPr/>
          <a:lstStyle/>
          <a:p>
            <a:r>
              <a:rPr lang="zh-CN" altLang="en-US" dirty="0"/>
              <a:t>例</a:t>
            </a:r>
            <a:r>
              <a:rPr lang="en-US" altLang="zh-CN" dirty="0"/>
              <a:t>8-3 </a:t>
            </a:r>
            <a:r>
              <a:rPr lang="zh-CN" altLang="en-US" sz="2800" dirty="0"/>
              <a:t>重载复数的加减法和“</a:t>
            </a:r>
            <a:r>
              <a:rPr lang="en-US" altLang="zh-CN" sz="2800" dirty="0"/>
              <a:t>&lt;&lt;”</a:t>
            </a:r>
            <a:r>
              <a:rPr lang="zh-CN" altLang="en-US" sz="2800" dirty="0"/>
              <a:t>运算符为非成员函数</a:t>
            </a:r>
            <a:endParaRPr lang="zh-CN" altLang="en-US" dirty="0"/>
          </a:p>
        </p:txBody>
      </p:sp>
      <p:sp>
        <p:nvSpPr>
          <p:cNvPr id="3" name="内容占位符 2"/>
          <p:cNvSpPr>
            <a:spLocks noGrp="1"/>
          </p:cNvSpPr>
          <p:nvPr>
            <p:ph idx="1"/>
          </p:nvPr>
        </p:nvSpPr>
        <p:spPr>
          <a:xfrm>
            <a:off x="2353171" y="1412776"/>
            <a:ext cx="9232404" cy="5161062"/>
          </a:xfrm>
        </p:spPr>
        <p:txBody>
          <a:bodyPr/>
          <a:lstStyle/>
          <a:p>
            <a:r>
              <a:rPr lang="en-US" altLang="zh-CN" dirty="0"/>
              <a:t>int main() {	</a:t>
            </a:r>
            <a:endParaRPr lang="zh-CN" altLang="en-US" dirty="0"/>
          </a:p>
          <a:p>
            <a:r>
              <a:rPr lang="zh-CN" altLang="en-US" dirty="0"/>
              <a:t>	</a:t>
            </a:r>
            <a:r>
              <a:rPr lang="en-US" altLang="zh-CN" dirty="0"/>
              <a:t>Complex c1(5, 4), c2(2, 10), c3;	</a:t>
            </a:r>
            <a:endParaRPr lang="zh-CN" altLang="en-US" dirty="0"/>
          </a:p>
          <a:p>
            <a:r>
              <a:rPr lang="zh-CN" altLang="en-US" dirty="0"/>
              <a:t>	</a:t>
            </a:r>
            <a:r>
              <a:rPr lang="en-US" altLang="zh-CN" dirty="0" err="1"/>
              <a:t>cout</a:t>
            </a:r>
            <a:r>
              <a:rPr lang="en-US" altLang="zh-CN" dirty="0"/>
              <a:t> &lt;&lt; "c1 = " &lt;&lt; c1 &lt;&lt; </a:t>
            </a:r>
            <a:r>
              <a:rPr lang="en-US" altLang="zh-CN" dirty="0" err="1"/>
              <a:t>endl</a:t>
            </a:r>
            <a:r>
              <a:rPr lang="en-US" altLang="zh-CN" dirty="0"/>
              <a:t>;</a:t>
            </a:r>
          </a:p>
          <a:p>
            <a:r>
              <a:rPr lang="en-US" altLang="zh-CN" dirty="0"/>
              <a:t>	</a:t>
            </a:r>
            <a:r>
              <a:rPr lang="en-US" altLang="zh-CN" dirty="0" err="1"/>
              <a:t>cout</a:t>
            </a:r>
            <a:r>
              <a:rPr lang="en-US" altLang="zh-CN" dirty="0"/>
              <a:t> &lt;&lt; "c2 = " &lt;&lt; c2 &lt;&lt; </a:t>
            </a:r>
            <a:r>
              <a:rPr lang="en-US" altLang="zh-CN" dirty="0" err="1"/>
              <a:t>endl</a:t>
            </a:r>
            <a:r>
              <a:rPr lang="en-US" altLang="zh-CN" dirty="0"/>
              <a:t>;</a:t>
            </a:r>
          </a:p>
          <a:p>
            <a:r>
              <a:rPr lang="en-US" altLang="zh-CN" dirty="0"/>
              <a:t>	c3 = c1 - c2;	//</a:t>
            </a:r>
            <a:r>
              <a:rPr lang="zh-CN" altLang="en-US" dirty="0"/>
              <a:t>使用重载运算符完成复数减法</a:t>
            </a:r>
          </a:p>
          <a:p>
            <a:r>
              <a:rPr lang="zh-CN" altLang="en-US" dirty="0"/>
              <a:t>	</a:t>
            </a:r>
            <a:r>
              <a:rPr lang="en-US" altLang="zh-CN" dirty="0" err="1"/>
              <a:t>cout</a:t>
            </a:r>
            <a:r>
              <a:rPr lang="en-US" altLang="zh-CN" dirty="0"/>
              <a:t> &lt;&lt; "c3 = c1 - c2 = " &lt;&lt; c3 &lt;&lt; </a:t>
            </a:r>
            <a:r>
              <a:rPr lang="en-US" altLang="zh-CN" dirty="0" err="1"/>
              <a:t>endl</a:t>
            </a:r>
            <a:r>
              <a:rPr lang="en-US" altLang="zh-CN" dirty="0"/>
              <a:t>;</a:t>
            </a:r>
          </a:p>
          <a:p>
            <a:r>
              <a:rPr lang="en-US" altLang="zh-CN" dirty="0"/>
              <a:t>	c3 = c1 + c2;	//</a:t>
            </a:r>
            <a:r>
              <a:rPr lang="zh-CN" altLang="en-US" dirty="0"/>
              <a:t>使用重载运算符完成复数加法</a:t>
            </a:r>
          </a:p>
          <a:p>
            <a:r>
              <a:rPr lang="zh-CN" altLang="en-US" dirty="0"/>
              <a:t>	</a:t>
            </a:r>
            <a:r>
              <a:rPr lang="en-US" altLang="zh-CN" dirty="0" err="1"/>
              <a:t>cout</a:t>
            </a:r>
            <a:r>
              <a:rPr lang="en-US" altLang="zh-CN" dirty="0"/>
              <a:t> &lt;&lt; "c3 = c1 + c2 = " &lt;&lt; c3 &lt;&lt; </a:t>
            </a:r>
            <a:r>
              <a:rPr lang="en-US" altLang="zh-CN" dirty="0" err="1"/>
              <a:t>endl</a:t>
            </a:r>
            <a:r>
              <a:rPr lang="en-US" altLang="zh-CN" dirty="0"/>
              <a:t>;</a:t>
            </a:r>
          </a:p>
          <a:p>
            <a:r>
              <a:rPr lang="en-US" altLang="zh-CN" dirty="0"/>
              <a:t>	return 0;</a:t>
            </a:r>
          </a:p>
          <a:p>
            <a:r>
              <a:rPr lang="en-US" altLang="zh-CN" dirty="0"/>
              <a:t>}</a:t>
            </a:r>
          </a:p>
        </p:txBody>
      </p:sp>
    </p:spTree>
    <p:extLst>
      <p:ext uri="{BB962C8B-B14F-4D97-AF65-F5344CB8AC3E}">
        <p14:creationId xmlns:p14="http://schemas.microsoft.com/office/powerpoint/2010/main" val="14886839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609600" y="1341438"/>
            <a:ext cx="8656339" cy="588962"/>
          </a:xfrm>
        </p:spPr>
        <p:txBody>
          <a:bodyPr/>
          <a:lstStyle/>
          <a:p>
            <a:pPr eaLnBrk="1" hangingPunct="1"/>
            <a:r>
              <a:rPr lang="zh-CN" altLang="en-US">
                <a:solidFill>
                  <a:srgbClr val="003399"/>
                </a:solidFill>
              </a:rPr>
              <a:t>运算符重载为非成员函数的规则</a:t>
            </a:r>
          </a:p>
        </p:txBody>
      </p:sp>
      <p:sp>
        <p:nvSpPr>
          <p:cNvPr id="30723" name="内容占位符 2"/>
          <p:cNvSpPr>
            <a:spLocks noGrp="1"/>
          </p:cNvSpPr>
          <p:nvPr>
            <p:ph idx="1"/>
          </p:nvPr>
        </p:nvSpPr>
        <p:spPr>
          <a:xfrm>
            <a:off x="609600" y="2276475"/>
            <a:ext cx="10744571" cy="3724275"/>
          </a:xfrm>
        </p:spPr>
        <p:txBody>
          <a:bodyPr/>
          <a:lstStyle/>
          <a:p>
            <a:pPr eaLnBrk="1" hangingPunct="1">
              <a:defRPr/>
            </a:pPr>
            <a:r>
              <a:rPr lang="zh-CN" altLang="en-US" sz="2400" dirty="0"/>
              <a:t>函数的形参代表依自左至右次序排列的各操作数。</a:t>
            </a:r>
          </a:p>
          <a:p>
            <a:pPr eaLnBrk="1" hangingPunct="1">
              <a:defRPr/>
            </a:pPr>
            <a:r>
              <a:rPr lang="zh-CN" altLang="en-US" sz="2400" dirty="0"/>
              <a:t>重载为非成员函数时  </a:t>
            </a:r>
            <a:endParaRPr lang="en-US" altLang="zh-CN" sz="2400" dirty="0"/>
          </a:p>
          <a:p>
            <a:pPr lvl="1" eaLnBrk="1" hangingPunct="1">
              <a:defRPr/>
            </a:pPr>
            <a:r>
              <a:rPr lang="zh-CN" altLang="en-US" sz="2400" dirty="0">
                <a:solidFill>
                  <a:schemeClr val="tx2"/>
                </a:solidFill>
              </a:rPr>
              <a:t>参数个数</a:t>
            </a:r>
            <a:r>
              <a:rPr lang="en-US" altLang="zh-CN" sz="2400" dirty="0">
                <a:solidFill>
                  <a:schemeClr val="tx2"/>
                </a:solidFill>
              </a:rPr>
              <a:t>=</a:t>
            </a:r>
            <a:r>
              <a:rPr lang="zh-CN" altLang="en-US" sz="2400" dirty="0">
                <a:solidFill>
                  <a:schemeClr val="tx2"/>
                </a:solidFill>
              </a:rPr>
              <a:t>原操作数个数</a:t>
            </a:r>
            <a:r>
              <a:rPr lang="zh-CN" altLang="en-US" sz="2400" dirty="0">
                <a:latin typeface="+mn-ea"/>
              </a:rPr>
              <a:t>（后置</a:t>
            </a:r>
            <a:r>
              <a:rPr lang="en-US" altLang="zh-CN" sz="2400" dirty="0">
                <a:latin typeface="+mn-ea"/>
              </a:rPr>
              <a:t>++</a:t>
            </a:r>
            <a:r>
              <a:rPr lang="zh-CN" altLang="en-US" sz="2400" dirty="0">
                <a:latin typeface="+mn-ea"/>
              </a:rPr>
              <a:t>、</a:t>
            </a:r>
            <a:r>
              <a:rPr lang="en-US" altLang="zh-CN" sz="2400" dirty="0">
                <a:latin typeface="+mn-ea"/>
              </a:rPr>
              <a:t>--</a:t>
            </a:r>
            <a:r>
              <a:rPr lang="zh-CN" altLang="en-US" sz="2400" dirty="0">
                <a:latin typeface="+mn-ea"/>
              </a:rPr>
              <a:t>除外）</a:t>
            </a:r>
            <a:endParaRPr lang="en-US" altLang="zh-CN" sz="2400" dirty="0">
              <a:latin typeface="+mn-ea"/>
            </a:endParaRPr>
          </a:p>
          <a:p>
            <a:pPr lvl="1" eaLnBrk="1" hangingPunct="1">
              <a:defRPr/>
            </a:pPr>
            <a:r>
              <a:rPr lang="zh-CN" altLang="en-US" sz="2400" dirty="0"/>
              <a:t>至少应该有一个自定义类型的参数。</a:t>
            </a:r>
          </a:p>
          <a:p>
            <a:pPr eaLnBrk="1" hangingPunct="1">
              <a:defRPr/>
            </a:pPr>
            <a:r>
              <a:rPr lang="zh-CN" altLang="en-US" sz="2400" dirty="0"/>
              <a:t>后置单目运算符 </a:t>
            </a:r>
            <a:r>
              <a:rPr lang="en-US" altLang="en-US" sz="2400" dirty="0">
                <a:ea typeface="宋体" pitchFamily="2" charset="-122"/>
              </a:rPr>
              <a:t>++</a:t>
            </a:r>
            <a:r>
              <a:rPr lang="zh-CN" altLang="en-US" sz="2400" dirty="0"/>
              <a:t>和</a:t>
            </a:r>
            <a:r>
              <a:rPr lang="en-US" altLang="zh-CN" sz="2400" dirty="0"/>
              <a:t>--</a:t>
            </a:r>
            <a:r>
              <a:rPr lang="zh-CN" altLang="en-US" sz="2400" dirty="0"/>
              <a:t>的重载函数，形参列表中要增加一个</a:t>
            </a:r>
            <a:r>
              <a:rPr lang="en-US" altLang="zh-CN" sz="2400" dirty="0"/>
              <a:t>int</a:t>
            </a:r>
            <a:r>
              <a:rPr lang="zh-CN" altLang="en-US" sz="2400" dirty="0"/>
              <a:t>，但不必写形参名。</a:t>
            </a:r>
            <a:endParaRPr lang="en-US" altLang="zh-CN" sz="2400" dirty="0"/>
          </a:p>
          <a:p>
            <a:pPr eaLnBrk="1" hangingPunct="1">
              <a:defRPr/>
            </a:pPr>
            <a:r>
              <a:rPr lang="zh-CN" altLang="en-US" sz="2400" dirty="0"/>
              <a:t>如果在运算符的重载函数中需要操作某类对象的私有成员，可以将此函数声明为该类的友元。</a:t>
            </a:r>
            <a:endParaRPr lang="en-US" altLang="zh-CN" sz="2400" dirty="0"/>
          </a:p>
        </p:txBody>
      </p:sp>
      <p:sp>
        <p:nvSpPr>
          <p:cNvPr id="2" name="灯片编号占位符 1">
            <a:extLst>
              <a:ext uri="{FF2B5EF4-FFF2-40B4-BE49-F238E27FC236}">
                <a16:creationId xmlns:a16="http://schemas.microsoft.com/office/drawing/2014/main" id="{60614C6E-A100-4A00-B45A-13D2F7FF72F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00F21B-5F9E-4DB6-92EB-09A53204F80C}" type="slidenum">
              <a:rPr kumimoji="1" lang="en-US" altLang="zh-CN" sz="1800" b="0" i="0" u="none" strike="noStrike" kern="1200" cap="none" spc="0" normalizeH="0" baseline="0" noProof="0" smtClean="0">
                <a:ln>
                  <a:noFill/>
                </a:ln>
                <a:solidFill>
                  <a:prstClr val="white"/>
                </a:solidFill>
                <a:effectLst/>
                <a:uLnTx/>
                <a:uFillTx/>
                <a:latin typeface="Times New Roman" panose="02020603050405020304" pitchFamily="18" charset="0"/>
                <a:ea typeface="隶书" panose="020105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1"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3342046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609600" y="1341438"/>
            <a:ext cx="8512175" cy="588962"/>
          </a:xfrm>
        </p:spPr>
        <p:txBody>
          <a:bodyPr/>
          <a:lstStyle/>
          <a:p>
            <a:pPr eaLnBrk="1" hangingPunct="1"/>
            <a:r>
              <a:rPr lang="zh-CN" altLang="en-US" dirty="0">
                <a:solidFill>
                  <a:srgbClr val="003399"/>
                </a:solidFill>
              </a:rPr>
              <a:t>运算符重载为非成员函数的规则</a:t>
            </a:r>
          </a:p>
        </p:txBody>
      </p:sp>
      <p:sp>
        <p:nvSpPr>
          <p:cNvPr id="30723" name="内容占位符 2"/>
          <p:cNvSpPr>
            <a:spLocks noGrp="1"/>
          </p:cNvSpPr>
          <p:nvPr>
            <p:ph idx="1"/>
          </p:nvPr>
        </p:nvSpPr>
        <p:spPr>
          <a:xfrm>
            <a:off x="609600" y="2133600"/>
            <a:ext cx="10975975" cy="4440238"/>
          </a:xfrm>
        </p:spPr>
        <p:txBody>
          <a:bodyPr/>
          <a:lstStyle/>
          <a:p>
            <a:pPr eaLnBrk="1" hangingPunct="1">
              <a:spcBef>
                <a:spcPts val="1200"/>
              </a:spcBef>
            </a:pPr>
            <a:r>
              <a:rPr lang="zh-CN" altLang="en-US" sz="2400"/>
              <a:t>双目运算符 </a:t>
            </a:r>
            <a:r>
              <a:rPr lang="en-US" altLang="zh-CN" sz="2400"/>
              <a:t>B</a:t>
            </a:r>
            <a:r>
              <a:rPr lang="zh-CN" altLang="en-US" sz="2400"/>
              <a:t>重载后，</a:t>
            </a:r>
            <a:br>
              <a:rPr lang="zh-CN" altLang="en-US" sz="2400"/>
            </a:br>
            <a:r>
              <a:rPr lang="zh-CN" altLang="en-US" sz="2000"/>
              <a:t>表达式</a:t>
            </a:r>
            <a:r>
              <a:rPr lang="en-US" altLang="zh-CN" sz="2000"/>
              <a:t>oprd1 B oprd2 </a:t>
            </a:r>
            <a:br>
              <a:rPr lang="en-US" altLang="zh-CN" sz="2000"/>
            </a:br>
            <a:r>
              <a:rPr lang="zh-CN" altLang="en-US" sz="2000"/>
              <a:t>等同于</a:t>
            </a:r>
            <a:r>
              <a:rPr lang="en-US" altLang="zh-CN" sz="2000"/>
              <a:t>operator B(oprd1,oprd2 )</a:t>
            </a:r>
            <a:endParaRPr lang="en-US" altLang="zh-CN" sz="2400"/>
          </a:p>
          <a:p>
            <a:pPr eaLnBrk="1" hangingPunct="1">
              <a:spcBef>
                <a:spcPts val="1200"/>
              </a:spcBef>
            </a:pPr>
            <a:r>
              <a:rPr lang="zh-CN" altLang="en-US" sz="2400"/>
              <a:t>前置单目运算符 </a:t>
            </a:r>
            <a:r>
              <a:rPr lang="en-US" altLang="zh-CN" sz="2400"/>
              <a:t>B</a:t>
            </a:r>
            <a:r>
              <a:rPr lang="zh-CN" altLang="en-US" sz="2400"/>
              <a:t>重载后，</a:t>
            </a:r>
            <a:br>
              <a:rPr lang="zh-CN" altLang="en-US" sz="2400"/>
            </a:br>
            <a:r>
              <a:rPr lang="zh-CN" altLang="zh-CN" sz="2000"/>
              <a:t>表达式 </a:t>
            </a:r>
            <a:r>
              <a:rPr lang="en-US" altLang="zh-CN" sz="2000">
                <a:solidFill>
                  <a:srgbClr val="C00000"/>
                </a:solidFill>
              </a:rPr>
              <a:t>B oprd </a:t>
            </a:r>
            <a:br>
              <a:rPr lang="en-US" altLang="zh-CN" sz="2000"/>
            </a:br>
            <a:r>
              <a:rPr lang="zh-CN" altLang="zh-CN" sz="2000"/>
              <a:t>等同于</a:t>
            </a:r>
            <a:r>
              <a:rPr lang="en-US" altLang="zh-CN" sz="2000">
                <a:solidFill>
                  <a:srgbClr val="C00000"/>
                </a:solidFill>
              </a:rPr>
              <a:t>operator B(oprd )</a:t>
            </a:r>
            <a:endParaRPr lang="en-US" altLang="zh-CN" sz="2400"/>
          </a:p>
          <a:p>
            <a:pPr eaLnBrk="1" hangingPunct="1">
              <a:spcBef>
                <a:spcPts val="1200"/>
              </a:spcBef>
            </a:pPr>
            <a:r>
              <a:rPr lang="zh-CN" altLang="en-US" sz="2400"/>
              <a:t>后置单目运算符 </a:t>
            </a:r>
            <a:r>
              <a:rPr lang="en-US" altLang="en-US" sz="2400">
                <a:ea typeface="宋体" panose="02010600030101010101" pitchFamily="2" charset="-122"/>
              </a:rPr>
              <a:t>++</a:t>
            </a:r>
            <a:r>
              <a:rPr lang="zh-CN" altLang="en-US" sz="2400"/>
              <a:t>和</a:t>
            </a:r>
            <a:r>
              <a:rPr lang="en-US" altLang="zh-CN" sz="2400"/>
              <a:t>--</a:t>
            </a:r>
            <a:r>
              <a:rPr lang="zh-CN" altLang="en-US" sz="2400"/>
              <a:t>重载后，</a:t>
            </a:r>
            <a:br>
              <a:rPr lang="zh-CN" altLang="en-US" sz="2400"/>
            </a:br>
            <a:r>
              <a:rPr lang="zh-CN" altLang="zh-CN" sz="2000"/>
              <a:t>表达式 </a:t>
            </a:r>
            <a:r>
              <a:rPr lang="en-US" altLang="zh-CN" sz="2000">
                <a:solidFill>
                  <a:srgbClr val="C00000"/>
                </a:solidFill>
              </a:rPr>
              <a:t>oprd B </a:t>
            </a:r>
            <a:br>
              <a:rPr lang="en-US" altLang="zh-CN" sz="2000"/>
            </a:br>
            <a:r>
              <a:rPr lang="zh-CN" altLang="zh-CN" sz="2000"/>
              <a:t>等同于</a:t>
            </a:r>
            <a:r>
              <a:rPr lang="en-US" altLang="zh-CN" sz="2000">
                <a:solidFill>
                  <a:srgbClr val="C00000"/>
                </a:solidFill>
              </a:rPr>
              <a:t>operator B(oprd,0 )</a:t>
            </a:r>
          </a:p>
        </p:txBody>
      </p:sp>
      <p:sp>
        <p:nvSpPr>
          <p:cNvPr id="2" name="灯片编号占位符 1">
            <a:extLst>
              <a:ext uri="{FF2B5EF4-FFF2-40B4-BE49-F238E27FC236}">
                <a16:creationId xmlns:a16="http://schemas.microsoft.com/office/drawing/2014/main" id="{7D32FEC2-3FB3-43D4-A320-12E953C1563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00F21B-5F9E-4DB6-92EB-09A53204F80C}" type="slidenum">
              <a:rPr kumimoji="1" lang="en-US" altLang="zh-CN" sz="1800" b="0" i="0" u="none" strike="noStrike" kern="1200" cap="none" spc="0" normalizeH="0" baseline="0" noProof="0" smtClean="0">
                <a:ln>
                  <a:noFill/>
                </a:ln>
                <a:solidFill>
                  <a:prstClr val="white"/>
                </a:solidFill>
                <a:effectLst/>
                <a:uLnTx/>
                <a:uFillTx/>
                <a:latin typeface="Times New Roman" panose="02020603050405020304" pitchFamily="18" charset="0"/>
                <a:ea typeface="隶书" panose="02010509060101010101" pitchFamily="49"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1"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8560515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zh-CN" altLang="en-US"/>
              <a:t>虚函数</a:t>
            </a:r>
          </a:p>
        </p:txBody>
      </p:sp>
      <p:sp>
        <p:nvSpPr>
          <p:cNvPr id="35843" name="内容占位符 2"/>
          <p:cNvSpPr>
            <a:spLocks noGrp="1"/>
          </p:cNvSpPr>
          <p:nvPr>
            <p:ph type="body" idx="1"/>
          </p:nvPr>
        </p:nvSpPr>
        <p:spPr>
          <a:xfrm>
            <a:off x="963335" y="3367088"/>
            <a:ext cx="10365899" cy="2870224"/>
          </a:xfrm>
        </p:spPr>
        <p:txBody>
          <a:bodyPr/>
          <a:lstStyle/>
          <a:p>
            <a:pPr>
              <a:spcBef>
                <a:spcPts val="1200"/>
              </a:spcBef>
            </a:pPr>
            <a:endParaRPr lang="en-US" altLang="zh-CN" sz="2400" dirty="0"/>
          </a:p>
        </p:txBody>
      </p:sp>
      <p:sp>
        <p:nvSpPr>
          <p:cNvPr id="2" name="灯片编号占位符 1">
            <a:extLst>
              <a:ext uri="{FF2B5EF4-FFF2-40B4-BE49-F238E27FC236}">
                <a16:creationId xmlns:a16="http://schemas.microsoft.com/office/drawing/2014/main" id="{A172105E-1509-43F5-A276-40E69C4F3A6D}"/>
              </a:ext>
            </a:extLst>
          </p:cNvPr>
          <p:cNvSpPr>
            <a:spLocks noGrp="1"/>
          </p:cNvSpPr>
          <p:nvPr>
            <p:ph type="sldNum" sz="quarter" idx="4"/>
          </p:nvPr>
        </p:nvSpPr>
        <p:spPr/>
        <p:txBody>
          <a:bodyPr/>
          <a:lstStyle/>
          <a:p>
            <a:fld id="{C42A670E-4250-4C14-8323-982480E0B347}" type="slidenum">
              <a:rPr lang="zh-CN" altLang="en-US" smtClean="0"/>
              <a:pPr/>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76EB8A5-5717-4803-8746-70F260392102}"/>
              </a:ext>
            </a:extLst>
          </p:cNvPr>
          <p:cNvSpPr>
            <a:spLocks noGrp="1"/>
          </p:cNvSpPr>
          <p:nvPr>
            <p:ph type="title"/>
          </p:nvPr>
        </p:nvSpPr>
        <p:spPr/>
        <p:txBody>
          <a:bodyPr/>
          <a:lstStyle/>
          <a:p>
            <a:r>
              <a:rPr lang="zh-CN" altLang="en-US" dirty="0"/>
              <a:t>例</a:t>
            </a:r>
            <a:r>
              <a:rPr lang="en-US" altLang="zh-CN" dirty="0"/>
              <a:t>8-4</a:t>
            </a:r>
            <a:r>
              <a:rPr lang="zh-CN" altLang="en-US" dirty="0"/>
              <a:t>通过虚函数实现运行时多态</a:t>
            </a:r>
          </a:p>
        </p:txBody>
      </p:sp>
      <p:sp>
        <p:nvSpPr>
          <p:cNvPr id="3" name="内容占位符 2"/>
          <p:cNvSpPr>
            <a:spLocks noGrp="1"/>
          </p:cNvSpPr>
          <p:nvPr>
            <p:ph idx="1"/>
          </p:nvPr>
        </p:nvSpPr>
        <p:spPr/>
        <p:txBody>
          <a:bodyPr/>
          <a:lstStyle/>
          <a:p>
            <a:pPr marL="109537" indent="0">
              <a:buNone/>
            </a:pPr>
            <a:r>
              <a:rPr lang="zh-CN" altLang="en-US" dirty="0"/>
              <a:t>现在我们来改进一下第</a:t>
            </a:r>
            <a:r>
              <a:rPr lang="en-US" altLang="zh-CN" dirty="0"/>
              <a:t>7</a:t>
            </a:r>
            <a:r>
              <a:rPr lang="zh-CN" altLang="en-US" dirty="0"/>
              <a:t>章的程序</a:t>
            </a:r>
            <a:endParaRPr lang="en-US" altLang="zh-CN" dirty="0"/>
          </a:p>
          <a:p>
            <a:pPr marL="109537" indent="0">
              <a:buNone/>
            </a:pPr>
            <a:endParaRPr lang="en-US" altLang="zh-CN" dirty="0"/>
          </a:p>
          <a:p>
            <a:endParaRPr lang="en-US" altLang="zh-CN" dirty="0"/>
          </a:p>
        </p:txBody>
      </p:sp>
      <p:sp>
        <p:nvSpPr>
          <p:cNvPr id="2" name="灯片编号占位符 1">
            <a:extLst>
              <a:ext uri="{FF2B5EF4-FFF2-40B4-BE49-F238E27FC236}">
                <a16:creationId xmlns:a16="http://schemas.microsoft.com/office/drawing/2014/main" id="{20BEBCF7-8308-48D8-90AD-8DD909C17D27}"/>
              </a:ext>
            </a:extLst>
          </p:cNvPr>
          <p:cNvSpPr>
            <a:spLocks noGrp="1"/>
          </p:cNvSpPr>
          <p:nvPr>
            <p:ph type="sldNum" sz="quarter" idx="4"/>
          </p:nvPr>
        </p:nvSpPr>
        <p:spPr/>
        <p:txBody>
          <a:bodyPr/>
          <a:lstStyle/>
          <a:p>
            <a:fld id="{C42A670E-4250-4C14-8323-982480E0B347}" type="slidenum">
              <a:rPr lang="zh-CN" altLang="en-US" smtClean="0"/>
              <a:pPr/>
              <a:t>30</a:t>
            </a:fld>
            <a:endParaRPr lang="zh-CN" altLang="en-US"/>
          </a:p>
        </p:txBody>
      </p:sp>
    </p:spTree>
    <p:extLst>
      <p:ext uri="{BB962C8B-B14F-4D97-AF65-F5344CB8AC3E}">
        <p14:creationId xmlns:p14="http://schemas.microsoft.com/office/powerpoint/2010/main" val="4880555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p:txBody>
          <a:bodyPr/>
          <a:lstStyle/>
          <a:p>
            <a:r>
              <a:rPr lang="zh-CN" altLang="en-US"/>
              <a:t>例</a:t>
            </a:r>
            <a:r>
              <a:rPr lang="en-US" altLang="zh-CN"/>
              <a:t>8-4</a:t>
            </a:r>
            <a:r>
              <a:rPr lang="zh-CN" altLang="en-US"/>
              <a:t>通过虚函数实现运行时多态</a:t>
            </a:r>
          </a:p>
        </p:txBody>
      </p:sp>
      <p:sp>
        <p:nvSpPr>
          <p:cNvPr id="3" name="内容占位符 2"/>
          <p:cNvSpPr>
            <a:spLocks noGrp="1"/>
          </p:cNvSpPr>
          <p:nvPr>
            <p:ph idx="1"/>
          </p:nvPr>
        </p:nvSpPr>
        <p:spPr/>
        <p:txBody>
          <a:bodyPr/>
          <a:lstStyle/>
          <a:p>
            <a:r>
              <a:rPr lang="en-US" altLang="zh-CN" dirty="0"/>
              <a:t>#include &lt;iostream&gt;</a:t>
            </a:r>
          </a:p>
          <a:p>
            <a:r>
              <a:rPr lang="en-US" altLang="zh-CN" dirty="0"/>
              <a:t>using namespace std;</a:t>
            </a:r>
          </a:p>
          <a:p>
            <a:endParaRPr lang="en-US" altLang="zh-CN" dirty="0"/>
          </a:p>
          <a:p>
            <a:r>
              <a:rPr lang="en-US" altLang="zh-CN" dirty="0"/>
              <a:t>class Base1 {</a:t>
            </a:r>
            <a:endParaRPr lang="zh-CN" altLang="en-US" dirty="0"/>
          </a:p>
          <a:p>
            <a:r>
              <a:rPr lang="en-US" altLang="zh-CN" dirty="0"/>
              <a:t>public:</a:t>
            </a:r>
          </a:p>
          <a:p>
            <a:r>
              <a:rPr lang="en-US" altLang="zh-CN" dirty="0"/>
              <a:t>	virtual void display() const;  //</a:t>
            </a:r>
            <a:r>
              <a:rPr lang="zh-CN" altLang="en-US" dirty="0"/>
              <a:t>虚函数</a:t>
            </a:r>
          </a:p>
          <a:p>
            <a:r>
              <a:rPr lang="en-US" altLang="zh-CN" dirty="0"/>
              <a:t>};</a:t>
            </a:r>
          </a:p>
          <a:p>
            <a:r>
              <a:rPr lang="en-US" altLang="zh-CN" dirty="0"/>
              <a:t>void Base1::display() const {</a:t>
            </a:r>
          </a:p>
          <a:p>
            <a:r>
              <a:rPr lang="en-US" altLang="zh-CN" dirty="0"/>
              <a:t>	</a:t>
            </a:r>
            <a:r>
              <a:rPr lang="en-US" altLang="zh-CN" dirty="0" err="1"/>
              <a:t>cout</a:t>
            </a:r>
            <a:r>
              <a:rPr lang="en-US" altLang="zh-CN" dirty="0"/>
              <a:t> &lt;&lt; "Base1::display()" &lt;&lt; </a:t>
            </a:r>
            <a:r>
              <a:rPr lang="en-US" altLang="zh-CN" dirty="0" err="1"/>
              <a:t>endl</a:t>
            </a:r>
            <a:r>
              <a:rPr lang="en-US" altLang="zh-CN" dirty="0"/>
              <a:t>;</a:t>
            </a:r>
          </a:p>
          <a:p>
            <a:r>
              <a:rPr lang="en-US" altLang="zh-CN" dirty="0"/>
              <a:t>}</a:t>
            </a:r>
          </a:p>
          <a:p>
            <a:endParaRPr lang="en-US"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lstStyle/>
          <a:p>
            <a:r>
              <a:rPr lang="zh-CN" altLang="en-US"/>
              <a:t>例</a:t>
            </a:r>
            <a:r>
              <a:rPr lang="en-US" altLang="zh-CN"/>
              <a:t>8-4</a:t>
            </a:r>
            <a:r>
              <a:rPr lang="zh-CN" altLang="en-US"/>
              <a:t>通过虚函数实现运行时多态</a:t>
            </a:r>
          </a:p>
        </p:txBody>
      </p:sp>
      <p:sp>
        <p:nvSpPr>
          <p:cNvPr id="3" name="内容占位符 2"/>
          <p:cNvSpPr>
            <a:spLocks noGrp="1"/>
          </p:cNvSpPr>
          <p:nvPr>
            <p:ph idx="1"/>
          </p:nvPr>
        </p:nvSpPr>
        <p:spPr>
          <a:xfrm>
            <a:off x="2353171" y="1052736"/>
            <a:ext cx="9232404" cy="5521102"/>
          </a:xfrm>
        </p:spPr>
        <p:txBody>
          <a:bodyPr/>
          <a:lstStyle/>
          <a:p>
            <a:r>
              <a:rPr lang="en-US" altLang="zh-CN" dirty="0"/>
              <a:t>class Base2:public Base1 { </a:t>
            </a:r>
            <a:endParaRPr lang="zh-CN" altLang="en-US" dirty="0"/>
          </a:p>
          <a:p>
            <a:r>
              <a:rPr lang="en-US" altLang="zh-CN" dirty="0"/>
              <a:t>public:</a:t>
            </a:r>
          </a:p>
          <a:p>
            <a:r>
              <a:rPr lang="en-US" altLang="zh-CN" dirty="0"/>
              <a:t>	 virtual void display() const;</a:t>
            </a:r>
            <a:endParaRPr lang="zh-CN" altLang="en-US" dirty="0"/>
          </a:p>
          <a:p>
            <a:r>
              <a:rPr lang="en-US" altLang="zh-CN" dirty="0"/>
              <a:t>};</a:t>
            </a:r>
          </a:p>
          <a:p>
            <a:r>
              <a:rPr lang="en-US" altLang="zh-CN" dirty="0"/>
              <a:t>void Base2::display() const {</a:t>
            </a:r>
          </a:p>
          <a:p>
            <a:r>
              <a:rPr lang="en-US" altLang="zh-CN" dirty="0"/>
              <a:t>	</a:t>
            </a:r>
            <a:r>
              <a:rPr lang="en-US" altLang="zh-CN" dirty="0" err="1"/>
              <a:t>cout</a:t>
            </a:r>
            <a:r>
              <a:rPr lang="en-US" altLang="zh-CN" dirty="0"/>
              <a:t> &lt;&lt; "Base2::display()" &lt;&lt; </a:t>
            </a:r>
            <a:r>
              <a:rPr lang="en-US" altLang="zh-CN" dirty="0" err="1"/>
              <a:t>endl</a:t>
            </a:r>
            <a:r>
              <a:rPr lang="en-US" altLang="zh-CN" dirty="0"/>
              <a:t>;</a:t>
            </a:r>
          </a:p>
          <a:p>
            <a:r>
              <a:rPr lang="en-US" altLang="zh-CN" dirty="0"/>
              <a:t>}</a:t>
            </a:r>
          </a:p>
          <a:p>
            <a:r>
              <a:rPr lang="en-US" altLang="zh-CN" dirty="0"/>
              <a:t>class Derived: public Base2 {</a:t>
            </a:r>
            <a:endParaRPr lang="zh-CN" altLang="en-US" dirty="0"/>
          </a:p>
          <a:p>
            <a:r>
              <a:rPr lang="en-US" altLang="zh-CN" dirty="0"/>
              <a:t>public:</a:t>
            </a:r>
          </a:p>
          <a:p>
            <a:r>
              <a:rPr lang="en-US" altLang="zh-CN" dirty="0"/>
              <a:t>	 virtual void display() const; </a:t>
            </a:r>
            <a:endParaRPr lang="zh-CN" altLang="en-US" dirty="0"/>
          </a:p>
          <a:p>
            <a:r>
              <a:rPr lang="en-US" altLang="zh-CN" dirty="0"/>
              <a:t>};</a:t>
            </a:r>
          </a:p>
          <a:p>
            <a:r>
              <a:rPr lang="en-US" altLang="zh-CN" dirty="0"/>
              <a:t>void Derived::display() const {</a:t>
            </a:r>
          </a:p>
          <a:p>
            <a:r>
              <a:rPr lang="en-US" altLang="zh-CN" dirty="0"/>
              <a:t>	</a:t>
            </a:r>
            <a:r>
              <a:rPr lang="en-US" altLang="zh-CN" dirty="0" err="1"/>
              <a:t>cout</a:t>
            </a:r>
            <a:r>
              <a:rPr lang="en-US" altLang="zh-CN" dirty="0"/>
              <a:t> &lt;&lt; "Derived::display()" &lt;&lt; </a:t>
            </a:r>
            <a:r>
              <a:rPr lang="en-US" altLang="zh-CN" dirty="0" err="1"/>
              <a:t>endl</a:t>
            </a:r>
            <a:r>
              <a:rPr lang="en-US" altLang="zh-CN" dirty="0"/>
              <a:t>;</a:t>
            </a:r>
          </a:p>
          <a:p>
            <a:r>
              <a:rPr lang="en-US" altLang="zh-CN" dirty="0"/>
              <a:t>}</a:t>
            </a:r>
          </a:p>
          <a:p>
            <a:r>
              <a:rPr lang="en-US" altLang="zh-CN" dirty="0"/>
              <a:t> </a:t>
            </a:r>
          </a:p>
          <a:p>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lstStyle/>
          <a:p>
            <a:r>
              <a:rPr lang="zh-CN" altLang="en-US"/>
              <a:t>例</a:t>
            </a:r>
            <a:r>
              <a:rPr lang="en-US" altLang="zh-CN"/>
              <a:t>8-4</a:t>
            </a:r>
            <a:r>
              <a:rPr lang="zh-CN" altLang="en-US"/>
              <a:t>通过虚函数实现运行时多态</a:t>
            </a:r>
          </a:p>
        </p:txBody>
      </p:sp>
      <p:sp>
        <p:nvSpPr>
          <p:cNvPr id="3" name="内容占位符 2"/>
          <p:cNvSpPr>
            <a:spLocks noGrp="1"/>
          </p:cNvSpPr>
          <p:nvPr>
            <p:ph idx="1"/>
          </p:nvPr>
        </p:nvSpPr>
        <p:spPr/>
        <p:txBody>
          <a:bodyPr/>
          <a:lstStyle/>
          <a:p>
            <a:r>
              <a:rPr lang="en-US" altLang="zh-CN"/>
              <a:t>void fun(Base1 *ptr) { </a:t>
            </a:r>
            <a:endParaRPr lang="zh-CN" altLang="en-US"/>
          </a:p>
          <a:p>
            <a:r>
              <a:rPr lang="zh-CN" altLang="en-US"/>
              <a:t>	</a:t>
            </a:r>
            <a:r>
              <a:rPr lang="en-US" altLang="zh-CN"/>
              <a:t>ptr-&gt;display();	</a:t>
            </a:r>
          </a:p>
          <a:p>
            <a:r>
              <a:rPr lang="en-US" altLang="zh-CN"/>
              <a:t>}</a:t>
            </a:r>
          </a:p>
          <a:p>
            <a:r>
              <a:rPr lang="en-US" altLang="zh-CN"/>
              <a:t> </a:t>
            </a:r>
          </a:p>
          <a:p>
            <a:r>
              <a:rPr lang="en-US" altLang="zh-CN"/>
              <a:t>int main() {	</a:t>
            </a:r>
            <a:endParaRPr lang="zh-CN" altLang="en-US"/>
          </a:p>
          <a:p>
            <a:r>
              <a:rPr lang="zh-CN" altLang="en-US"/>
              <a:t>	</a:t>
            </a:r>
            <a:r>
              <a:rPr lang="en-US" altLang="zh-CN"/>
              <a:t>Base1 base1;</a:t>
            </a:r>
            <a:endParaRPr lang="zh-CN" altLang="en-US"/>
          </a:p>
          <a:p>
            <a:r>
              <a:rPr lang="zh-CN" altLang="en-US"/>
              <a:t>	</a:t>
            </a:r>
            <a:r>
              <a:rPr lang="en-US" altLang="zh-CN"/>
              <a:t>Base2 base2;</a:t>
            </a:r>
            <a:endParaRPr lang="zh-CN" altLang="en-US"/>
          </a:p>
          <a:p>
            <a:r>
              <a:rPr lang="zh-CN" altLang="en-US"/>
              <a:t>	</a:t>
            </a:r>
            <a:r>
              <a:rPr lang="en-US" altLang="zh-CN"/>
              <a:t>Derived derived;	</a:t>
            </a:r>
            <a:endParaRPr lang="zh-CN" altLang="en-US"/>
          </a:p>
          <a:p>
            <a:r>
              <a:rPr lang="zh-CN" altLang="en-US"/>
              <a:t>	</a:t>
            </a:r>
            <a:r>
              <a:rPr lang="en-US" altLang="zh-CN"/>
              <a:t>fun(&amp;base1);</a:t>
            </a:r>
            <a:endParaRPr lang="zh-CN" altLang="en-US"/>
          </a:p>
          <a:p>
            <a:r>
              <a:rPr lang="zh-CN" altLang="en-US"/>
              <a:t>	</a:t>
            </a:r>
            <a:r>
              <a:rPr lang="en-US" altLang="zh-CN"/>
              <a:t>fun(&amp;base2);</a:t>
            </a:r>
            <a:endParaRPr lang="zh-CN" altLang="en-US"/>
          </a:p>
          <a:p>
            <a:r>
              <a:rPr lang="zh-CN" altLang="en-US"/>
              <a:t>	</a:t>
            </a:r>
            <a:r>
              <a:rPr lang="en-US" altLang="zh-CN"/>
              <a:t>fun(&amp;derived);</a:t>
            </a:r>
            <a:endParaRPr lang="zh-CN" altLang="en-US"/>
          </a:p>
          <a:p>
            <a:r>
              <a:rPr lang="zh-CN" altLang="en-US"/>
              <a:t>	</a:t>
            </a:r>
            <a:r>
              <a:rPr lang="en-US" altLang="zh-CN"/>
              <a:t>return 0;</a:t>
            </a:r>
          </a:p>
          <a:p>
            <a:r>
              <a:rPr lang="en-US" altLang="zh-CN"/>
              <a:t>}</a:t>
            </a:r>
            <a:endParaRPr lang="en-US" altLang="zh-CN" dirty="0"/>
          </a:p>
        </p:txBody>
      </p:sp>
      <p:sp>
        <p:nvSpPr>
          <p:cNvPr id="39942" name="TextBox 6"/>
          <p:cNvSpPr txBox="1">
            <a:spLocks noChangeArrowheads="1"/>
          </p:cNvSpPr>
          <p:nvPr/>
        </p:nvSpPr>
        <p:spPr bwMode="auto">
          <a:xfrm>
            <a:off x="7357455" y="4674619"/>
            <a:ext cx="2667000" cy="156966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r>
              <a:rPr lang="zh-CN" altLang="en-US">
                <a:latin typeface="微软雅黑" panose="020B0503020204020204" pitchFamily="34" charset="-122"/>
                <a:ea typeface="微软雅黑" panose="020B0503020204020204" pitchFamily="34" charset="-122"/>
              </a:rPr>
              <a:t>运行结果：</a:t>
            </a:r>
            <a:endParaRPr lang="en-US" altLang="zh-CN">
              <a:latin typeface="微软雅黑" panose="020B0503020204020204" pitchFamily="34" charset="-122"/>
              <a:ea typeface="微软雅黑" panose="020B0503020204020204" pitchFamily="34" charset="-122"/>
            </a:endParaRPr>
          </a:p>
          <a:p>
            <a:pPr eaLnBrk="1" hangingPunct="1"/>
            <a:r>
              <a:rPr lang="en-US" altLang="zh-CN">
                <a:latin typeface="微软雅黑" panose="020B0503020204020204" pitchFamily="34" charset="-122"/>
                <a:ea typeface="微软雅黑" panose="020B0503020204020204" pitchFamily="34" charset="-122"/>
              </a:rPr>
              <a:t>Base1::display()</a:t>
            </a:r>
            <a:endParaRPr lang="zh-CN" altLang="en-US">
              <a:latin typeface="微软雅黑" panose="020B0503020204020204" pitchFamily="34" charset="-122"/>
              <a:ea typeface="微软雅黑" panose="020B0503020204020204" pitchFamily="34" charset="-122"/>
            </a:endParaRPr>
          </a:p>
          <a:p>
            <a:pPr eaLnBrk="1" hangingPunct="1"/>
            <a:r>
              <a:rPr lang="en-US" altLang="zh-CN">
                <a:latin typeface="微软雅黑" panose="020B0503020204020204" pitchFamily="34" charset="-122"/>
                <a:ea typeface="微软雅黑" panose="020B0503020204020204" pitchFamily="34" charset="-122"/>
              </a:rPr>
              <a:t>Base2::display()</a:t>
            </a:r>
            <a:endParaRPr lang="zh-CN" altLang="en-US">
              <a:latin typeface="微软雅黑" panose="020B0503020204020204" pitchFamily="34" charset="-122"/>
              <a:ea typeface="微软雅黑" panose="020B0503020204020204" pitchFamily="34" charset="-122"/>
            </a:endParaRPr>
          </a:p>
          <a:p>
            <a:pPr eaLnBrk="1" hangingPunct="1"/>
            <a:r>
              <a:rPr lang="en-US" altLang="zh-CN">
                <a:latin typeface="微软雅黑" panose="020B0503020204020204" pitchFamily="34" charset="-122"/>
                <a:ea typeface="微软雅黑" panose="020B0503020204020204" pitchFamily="34" charset="-122"/>
              </a:rPr>
              <a:t>Derived::display()</a:t>
            </a:r>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zh-CN" altLang="en-US"/>
              <a:t>初识虚函数</a:t>
            </a:r>
          </a:p>
        </p:txBody>
      </p:sp>
      <p:sp>
        <p:nvSpPr>
          <p:cNvPr id="35843" name="内容占位符 2"/>
          <p:cNvSpPr>
            <a:spLocks noGrp="1"/>
          </p:cNvSpPr>
          <p:nvPr>
            <p:ph idx="1"/>
          </p:nvPr>
        </p:nvSpPr>
        <p:spPr/>
        <p:txBody>
          <a:bodyPr/>
          <a:lstStyle/>
          <a:p>
            <a:pPr marL="388620" indent="-342900">
              <a:spcBef>
                <a:spcPts val="1200"/>
              </a:spcBef>
              <a:buFont typeface="Arial" panose="020B0604020202020204" pitchFamily="34" charset="0"/>
              <a:buChar char="•"/>
            </a:pPr>
            <a:r>
              <a:rPr lang="zh-CN" altLang="en-US" sz="2400"/>
              <a:t>用</a:t>
            </a:r>
            <a:r>
              <a:rPr lang="en-US" altLang="zh-CN" sz="2400"/>
              <a:t>virtual</a:t>
            </a:r>
            <a:r>
              <a:rPr lang="zh-CN" altLang="en-US" sz="2400"/>
              <a:t>关键字说明的函数</a:t>
            </a:r>
            <a:endParaRPr lang="en-US" altLang="zh-CN" sz="2400"/>
          </a:p>
          <a:p>
            <a:pPr marL="388620" indent="-342900">
              <a:spcBef>
                <a:spcPts val="1200"/>
              </a:spcBef>
              <a:buFont typeface="Arial" panose="020B0604020202020204" pitchFamily="34" charset="0"/>
              <a:buChar char="•"/>
            </a:pPr>
            <a:r>
              <a:rPr lang="zh-CN" altLang="en-US" sz="2400"/>
              <a:t>虚函数是实现运行时多态性基础</a:t>
            </a:r>
            <a:endParaRPr lang="en-US" altLang="zh-CN" sz="2400"/>
          </a:p>
          <a:p>
            <a:pPr marL="388620" indent="-342900">
              <a:spcBef>
                <a:spcPts val="1200"/>
              </a:spcBef>
              <a:buFont typeface="Arial" panose="020B0604020202020204" pitchFamily="34" charset="0"/>
              <a:buChar char="•"/>
            </a:pPr>
            <a:r>
              <a:rPr lang="en-US" altLang="zh-CN" sz="2400"/>
              <a:t>C++</a:t>
            </a:r>
            <a:r>
              <a:rPr lang="zh-CN" altLang="en-US" sz="2400"/>
              <a:t>中的虚函数是动态绑定的函数</a:t>
            </a:r>
            <a:endParaRPr lang="en-US" altLang="zh-CN" sz="2400"/>
          </a:p>
          <a:p>
            <a:pPr marL="388620" indent="-342900">
              <a:spcBef>
                <a:spcPts val="1200"/>
              </a:spcBef>
              <a:buFont typeface="Arial" panose="020B0604020202020204" pitchFamily="34" charset="0"/>
              <a:buChar char="•"/>
            </a:pPr>
            <a:r>
              <a:rPr lang="zh-CN" altLang="en-US" sz="2400"/>
              <a:t>虚函数必须是非静态的成员函数，虚函数经过派生之后，就可以实现运行过程中的多态。</a:t>
            </a:r>
          </a:p>
        </p:txBody>
      </p:sp>
      <p:sp>
        <p:nvSpPr>
          <p:cNvPr id="2" name="灯片编号占位符 1">
            <a:extLst>
              <a:ext uri="{FF2B5EF4-FFF2-40B4-BE49-F238E27FC236}">
                <a16:creationId xmlns:a16="http://schemas.microsoft.com/office/drawing/2014/main" id="{09F75CE3-204F-4C6B-B501-8B8F489B17A6}"/>
              </a:ext>
            </a:extLst>
          </p:cNvPr>
          <p:cNvSpPr>
            <a:spLocks noGrp="1"/>
          </p:cNvSpPr>
          <p:nvPr>
            <p:ph type="sldNum" sz="quarter" idx="4"/>
          </p:nvPr>
        </p:nvSpPr>
        <p:spPr/>
        <p:txBody>
          <a:bodyPr/>
          <a:lstStyle/>
          <a:p>
            <a:fld id="{C42A670E-4250-4C14-8323-982480E0B347}" type="slidenum">
              <a:rPr lang="zh-CN" altLang="en-US" smtClean="0"/>
              <a:pPr/>
              <a:t>34</a:t>
            </a:fld>
            <a:endParaRPr lang="zh-CN" altLang="en-US"/>
          </a:p>
        </p:txBody>
      </p:sp>
    </p:spTree>
    <p:extLst>
      <p:ext uri="{BB962C8B-B14F-4D97-AF65-F5344CB8AC3E}">
        <p14:creationId xmlns:p14="http://schemas.microsoft.com/office/powerpoint/2010/main" val="19905665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609600" y="1400175"/>
            <a:ext cx="6845300" cy="590550"/>
          </a:xfrm>
        </p:spPr>
        <p:txBody>
          <a:bodyPr/>
          <a:lstStyle/>
          <a:p>
            <a:pPr eaLnBrk="1" hangingPunct="1"/>
            <a:r>
              <a:rPr lang="zh-CN" altLang="en-US">
                <a:solidFill>
                  <a:srgbClr val="003399"/>
                </a:solidFill>
              </a:rPr>
              <a:t>虚表与动态绑定</a:t>
            </a:r>
          </a:p>
        </p:txBody>
      </p:sp>
      <p:sp>
        <p:nvSpPr>
          <p:cNvPr id="41987" name="内容占位符 2"/>
          <p:cNvSpPr>
            <a:spLocks noGrp="1"/>
          </p:cNvSpPr>
          <p:nvPr>
            <p:ph idx="1"/>
          </p:nvPr>
        </p:nvSpPr>
        <p:spPr>
          <a:xfrm>
            <a:off x="958849" y="2349500"/>
            <a:ext cx="10323313" cy="4008438"/>
          </a:xfrm>
        </p:spPr>
        <p:txBody>
          <a:bodyPr/>
          <a:lstStyle/>
          <a:p>
            <a:pPr marL="365760" indent="-256032" eaLnBrk="1" fontAlgn="auto" hangingPunct="1">
              <a:spcAft>
                <a:spcPts val="0"/>
              </a:spcAft>
              <a:buClr>
                <a:schemeClr val="accent3"/>
              </a:buClr>
              <a:buFont typeface="Georgia"/>
              <a:buChar char="•"/>
              <a:defRPr/>
            </a:pPr>
            <a:r>
              <a:rPr lang="zh-CN" altLang="en-US" sz="2400" dirty="0"/>
              <a:t>虚表</a:t>
            </a:r>
            <a:endParaRPr lang="en-US" altLang="zh-CN" sz="2400" dirty="0"/>
          </a:p>
          <a:p>
            <a:pPr marL="658368" lvl="1" indent="-246888" eaLnBrk="1" fontAlgn="auto" hangingPunct="1">
              <a:spcAft>
                <a:spcPts val="0"/>
              </a:spcAft>
              <a:buFont typeface="Georgia"/>
              <a:buChar char="▫"/>
              <a:defRPr/>
            </a:pPr>
            <a:r>
              <a:rPr lang="zh-CN" altLang="en-US" sz="2000" dirty="0"/>
              <a:t>每个多态类有一个虚表（</a:t>
            </a:r>
            <a:r>
              <a:rPr lang="en-US" altLang="zh-CN" sz="2000" dirty="0"/>
              <a:t>virtual table</a:t>
            </a:r>
            <a:r>
              <a:rPr lang="zh-CN" altLang="en-US" sz="2000" dirty="0"/>
              <a:t>）</a:t>
            </a:r>
            <a:endParaRPr lang="en-US" altLang="zh-CN" sz="2000" dirty="0"/>
          </a:p>
          <a:p>
            <a:pPr marL="658368" lvl="1" indent="-246888" eaLnBrk="1" fontAlgn="auto" hangingPunct="1">
              <a:spcAft>
                <a:spcPts val="0"/>
              </a:spcAft>
              <a:buFont typeface="Georgia"/>
              <a:buChar char="▫"/>
              <a:defRPr/>
            </a:pPr>
            <a:r>
              <a:rPr lang="zh-CN" altLang="en-US" sz="2000" dirty="0"/>
              <a:t>虚表中有当前类的各个虚函数的入口地址</a:t>
            </a:r>
            <a:endParaRPr lang="en-US" altLang="zh-CN" sz="2000" dirty="0"/>
          </a:p>
          <a:p>
            <a:pPr marL="658368" lvl="1" indent="-246888" eaLnBrk="1" fontAlgn="auto" hangingPunct="1">
              <a:spcAft>
                <a:spcPts val="0"/>
              </a:spcAft>
              <a:buFont typeface="Georgia"/>
              <a:buChar char="▫"/>
              <a:defRPr/>
            </a:pPr>
            <a:r>
              <a:rPr lang="zh-CN" altLang="en-US" sz="2000" dirty="0"/>
              <a:t>每个对象有一个指向当前类的虚表的指针（虚指针</a:t>
            </a:r>
            <a:r>
              <a:rPr lang="en-US" altLang="zh-CN" sz="2000" dirty="0" err="1"/>
              <a:t>vptr</a:t>
            </a:r>
            <a:r>
              <a:rPr lang="zh-CN" altLang="en-US" sz="2000" dirty="0"/>
              <a:t>）</a:t>
            </a:r>
            <a:endParaRPr lang="en-US" altLang="zh-CN" sz="2000" dirty="0"/>
          </a:p>
          <a:p>
            <a:pPr marL="365760" indent="-256032" eaLnBrk="1" fontAlgn="auto" hangingPunct="1">
              <a:spcAft>
                <a:spcPts val="0"/>
              </a:spcAft>
              <a:buClr>
                <a:schemeClr val="accent3"/>
              </a:buClr>
              <a:buFont typeface="Georgia"/>
              <a:buChar char="•"/>
              <a:defRPr/>
            </a:pPr>
            <a:r>
              <a:rPr lang="zh-CN" altLang="en-US" sz="2400" dirty="0"/>
              <a:t>动态绑定的实现</a:t>
            </a:r>
            <a:endParaRPr lang="en-US" altLang="zh-CN" sz="2400" dirty="0"/>
          </a:p>
          <a:p>
            <a:pPr marL="658368" lvl="1" indent="-246888" eaLnBrk="1" fontAlgn="auto" hangingPunct="1">
              <a:spcAft>
                <a:spcPts val="0"/>
              </a:spcAft>
              <a:buFont typeface="Georgia"/>
              <a:buChar char="▫"/>
              <a:defRPr/>
            </a:pPr>
            <a:r>
              <a:rPr lang="zh-CN" altLang="en-US" sz="2000" dirty="0"/>
              <a:t>构造函数中为对象的虚指针赋值</a:t>
            </a:r>
            <a:endParaRPr lang="en-US" altLang="zh-CN" sz="2000" dirty="0"/>
          </a:p>
          <a:p>
            <a:pPr marL="658368" lvl="1" indent="-246888" eaLnBrk="1" fontAlgn="auto" hangingPunct="1">
              <a:spcAft>
                <a:spcPts val="0"/>
              </a:spcAft>
              <a:buFont typeface="Georgia"/>
              <a:buChar char="▫"/>
              <a:defRPr/>
            </a:pPr>
            <a:r>
              <a:rPr lang="zh-CN" altLang="en-US" sz="2000" dirty="0"/>
              <a:t>通过多态类型的指针或引用调用成员函数时，通过虚指针找到虚表，进而找到所调用的虚函数的入口地址</a:t>
            </a:r>
            <a:endParaRPr lang="en-US" altLang="zh-CN" sz="2000" dirty="0"/>
          </a:p>
          <a:p>
            <a:pPr marL="658368" lvl="1" indent="-246888" eaLnBrk="1" fontAlgn="auto" hangingPunct="1">
              <a:spcAft>
                <a:spcPts val="0"/>
              </a:spcAft>
              <a:buFont typeface="Georgia"/>
              <a:buChar char="▫"/>
              <a:defRPr/>
            </a:pPr>
            <a:r>
              <a:rPr lang="zh-CN" altLang="en-US" sz="2000" dirty="0"/>
              <a:t>通过该入口地址调用虚函数</a:t>
            </a:r>
            <a:endParaRPr lang="en-US" altLang="zh-CN" sz="2000" dirty="0"/>
          </a:p>
        </p:txBody>
      </p:sp>
      <p:sp>
        <p:nvSpPr>
          <p:cNvPr id="2" name="灯片编号占位符 1">
            <a:extLst>
              <a:ext uri="{FF2B5EF4-FFF2-40B4-BE49-F238E27FC236}">
                <a16:creationId xmlns:a16="http://schemas.microsoft.com/office/drawing/2014/main" id="{2D1A6AB8-EE1A-4C66-A2D0-B79492C762A7}"/>
              </a:ext>
            </a:extLst>
          </p:cNvPr>
          <p:cNvSpPr>
            <a:spLocks noGrp="1"/>
          </p:cNvSpPr>
          <p:nvPr>
            <p:ph type="sldNum" sz="quarter" idx="4"/>
          </p:nvPr>
        </p:nvSpPr>
        <p:spPr/>
        <p:txBody>
          <a:bodyPr/>
          <a:lstStyle/>
          <a:p>
            <a:fld id="{C42A670E-4250-4C14-8323-982480E0B347}" type="slidenum">
              <a:rPr lang="zh-CN" altLang="en-US" smtClean="0"/>
              <a:pPr/>
              <a:t>35</a:t>
            </a:fld>
            <a:endParaRPr lang="zh-CN" altLang="en-US"/>
          </a:p>
        </p:txBody>
      </p:sp>
    </p:spTree>
    <p:extLst>
      <p:ext uri="{BB962C8B-B14F-4D97-AF65-F5344CB8AC3E}">
        <p14:creationId xmlns:p14="http://schemas.microsoft.com/office/powerpoint/2010/main" val="23545314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标题 1"/>
          <p:cNvSpPr txBox="1">
            <a:spLocks/>
          </p:cNvSpPr>
          <p:nvPr/>
        </p:nvSpPr>
        <p:spPr bwMode="auto">
          <a:xfrm>
            <a:off x="3649315" y="72107"/>
            <a:ext cx="8424936"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微软雅黑" pitchFamily="34" charset="-122"/>
                <a:ea typeface="微软雅黑" pitchFamily="34" charset="-122"/>
                <a:cs typeface="+mj-cs"/>
              </a:defRPr>
            </a:lvl1pPr>
            <a:lvl2pPr algn="l" rtl="0" eaLnBrk="0" fontAlgn="base" hangingPunct="0">
              <a:spcBef>
                <a:spcPct val="0"/>
              </a:spcBef>
              <a:spcAft>
                <a:spcPct val="0"/>
              </a:spcAft>
              <a:defRPr sz="4000">
                <a:solidFill>
                  <a:schemeClr val="tx2"/>
                </a:solidFill>
                <a:latin typeface="微软雅黑" pitchFamily="34" charset="-122"/>
                <a:ea typeface="微软雅黑" pitchFamily="34" charset="-122"/>
              </a:defRPr>
            </a:lvl2pPr>
            <a:lvl3pPr algn="l" rtl="0" eaLnBrk="0" fontAlgn="base" hangingPunct="0">
              <a:spcBef>
                <a:spcPct val="0"/>
              </a:spcBef>
              <a:spcAft>
                <a:spcPct val="0"/>
              </a:spcAft>
              <a:defRPr sz="4000">
                <a:solidFill>
                  <a:schemeClr val="tx2"/>
                </a:solidFill>
                <a:latin typeface="微软雅黑" pitchFamily="34" charset="-122"/>
                <a:ea typeface="微软雅黑" pitchFamily="34" charset="-122"/>
              </a:defRPr>
            </a:lvl3pPr>
            <a:lvl4pPr algn="l" rtl="0" eaLnBrk="0" fontAlgn="base" hangingPunct="0">
              <a:spcBef>
                <a:spcPct val="0"/>
              </a:spcBef>
              <a:spcAft>
                <a:spcPct val="0"/>
              </a:spcAft>
              <a:defRPr sz="4000">
                <a:solidFill>
                  <a:schemeClr val="tx2"/>
                </a:solidFill>
                <a:latin typeface="微软雅黑" pitchFamily="34" charset="-122"/>
                <a:ea typeface="微软雅黑" pitchFamily="34" charset="-122"/>
              </a:defRPr>
            </a:lvl4pPr>
            <a:lvl5pPr algn="l" rtl="0" eaLnBrk="0" fontAlgn="base" hangingPunct="0">
              <a:spcBef>
                <a:spcPct val="0"/>
              </a:spcBef>
              <a:spcAft>
                <a:spcPct val="0"/>
              </a:spcAft>
              <a:defRPr sz="4000">
                <a:solidFill>
                  <a:schemeClr val="tx2"/>
                </a:solidFill>
                <a:latin typeface="微软雅黑" pitchFamily="34" charset="-122"/>
                <a:ea typeface="微软雅黑" pitchFamily="34" charset="-122"/>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a:lstStyle>
          <a:p>
            <a:pPr eaLnBrk="1" hangingPunct="1"/>
            <a:r>
              <a:rPr kumimoji="0" lang="zh-CN" altLang="en-US" sz="4400">
                <a:solidFill>
                  <a:schemeClr val="bg1"/>
                </a:solidFill>
              </a:rPr>
              <a:t>虚表示意图</a:t>
            </a:r>
          </a:p>
        </p:txBody>
      </p:sp>
      <p:grpSp>
        <p:nvGrpSpPr>
          <p:cNvPr id="46082" name="组合 58"/>
          <p:cNvGrpSpPr>
            <a:grpSpLocks/>
          </p:cNvGrpSpPr>
          <p:nvPr/>
        </p:nvGrpSpPr>
        <p:grpSpPr bwMode="auto">
          <a:xfrm>
            <a:off x="4153371" y="1772816"/>
            <a:ext cx="7620248" cy="4071937"/>
            <a:chOff x="1050115" y="1453404"/>
            <a:chExt cx="7102333" cy="4737546"/>
          </a:xfrm>
        </p:grpSpPr>
        <p:sp>
          <p:nvSpPr>
            <p:cNvPr id="46086" name="Rectangle 29"/>
            <p:cNvSpPr>
              <a:spLocks noChangeArrowheads="1"/>
            </p:cNvSpPr>
            <p:nvPr/>
          </p:nvSpPr>
          <p:spPr bwMode="auto">
            <a:xfrm>
              <a:off x="3590704" y="2188906"/>
              <a:ext cx="1614153" cy="39717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zh-CN" altLang="en-US" sz="1600">
                  <a:latin typeface="微软雅黑" panose="020B0503020204020204" pitchFamily="34" charset="-122"/>
                  <a:ea typeface="微软雅黑" panose="020B0503020204020204" pitchFamily="34" charset="-122"/>
                </a:rPr>
                <a:t>指向</a:t>
              </a:r>
              <a:r>
                <a:rPr lang="en-US" altLang="zh-CN" sz="1600">
                  <a:latin typeface="微软雅黑" panose="020B0503020204020204" pitchFamily="34" charset="-122"/>
                  <a:ea typeface="微软雅黑" panose="020B0503020204020204" pitchFamily="34" charset="-122"/>
                </a:rPr>
                <a:t>f()</a:t>
              </a:r>
              <a:r>
                <a:rPr lang="zh-CN" altLang="en-US" sz="1600">
                  <a:latin typeface="微软雅黑" panose="020B0503020204020204" pitchFamily="34" charset="-122"/>
                  <a:ea typeface="微软雅黑" panose="020B0503020204020204" pitchFamily="34" charset="-122"/>
                </a:rPr>
                <a:t>的指针</a:t>
              </a:r>
              <a:endParaRPr lang="zh-CN" altLang="zh-CN" sz="1600">
                <a:latin typeface="微软雅黑" panose="020B0503020204020204" pitchFamily="34" charset="-122"/>
                <a:ea typeface="微软雅黑" panose="020B0503020204020204" pitchFamily="34" charset="-122"/>
              </a:endParaRPr>
            </a:p>
          </p:txBody>
        </p:sp>
        <p:sp>
          <p:nvSpPr>
            <p:cNvPr id="46087" name="Rectangle 30"/>
            <p:cNvSpPr>
              <a:spLocks noChangeArrowheads="1"/>
            </p:cNvSpPr>
            <p:nvPr/>
          </p:nvSpPr>
          <p:spPr bwMode="auto">
            <a:xfrm>
              <a:off x="3590704" y="2586077"/>
              <a:ext cx="1614153" cy="39618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zh-CN" altLang="en-US" sz="1600">
                  <a:latin typeface="微软雅黑" panose="020B0503020204020204" pitchFamily="34" charset="-122"/>
                  <a:ea typeface="微软雅黑" panose="020B0503020204020204" pitchFamily="34" charset="-122"/>
                </a:rPr>
                <a:t>指向</a:t>
              </a:r>
              <a:r>
                <a:rPr lang="en-US" altLang="zh-CN" sz="1600">
                  <a:latin typeface="微软雅黑" panose="020B0503020204020204" pitchFamily="34" charset="-122"/>
                  <a:ea typeface="微软雅黑" panose="020B0503020204020204" pitchFamily="34" charset="-122"/>
                </a:rPr>
                <a:t>g()</a:t>
              </a:r>
              <a:r>
                <a:rPr lang="zh-CN" altLang="en-US" sz="1600">
                  <a:latin typeface="微软雅黑" panose="020B0503020204020204" pitchFamily="34" charset="-122"/>
                  <a:ea typeface="微软雅黑" panose="020B0503020204020204" pitchFamily="34" charset="-122"/>
                </a:rPr>
                <a:t>的指针</a:t>
              </a:r>
              <a:endParaRPr lang="zh-CN" altLang="zh-CN" sz="1600">
                <a:latin typeface="微软雅黑" panose="020B0503020204020204" pitchFamily="34" charset="-122"/>
                <a:ea typeface="微软雅黑" panose="020B0503020204020204" pitchFamily="34" charset="-122"/>
              </a:endParaRPr>
            </a:p>
          </p:txBody>
        </p:sp>
        <p:sp>
          <p:nvSpPr>
            <p:cNvPr id="46088" name="Text Box 31"/>
            <p:cNvSpPr txBox="1">
              <a:spLocks noChangeArrowheads="1"/>
            </p:cNvSpPr>
            <p:nvPr/>
          </p:nvSpPr>
          <p:spPr bwMode="auto">
            <a:xfrm>
              <a:off x="3620123" y="2938138"/>
              <a:ext cx="1412065" cy="382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a:latin typeface="微软雅黑" panose="020B0503020204020204" pitchFamily="34" charset="-122"/>
                  <a:ea typeface="微软雅黑" panose="020B0503020204020204" pitchFamily="34" charset="-122"/>
                </a:rPr>
                <a:t>Base</a:t>
              </a:r>
              <a:r>
                <a:rPr lang="zh-CN" altLang="en-US" sz="1600">
                  <a:latin typeface="微软雅黑" panose="020B0503020204020204" pitchFamily="34" charset="-122"/>
                  <a:ea typeface="微软雅黑" panose="020B0503020204020204" pitchFamily="34" charset="-122"/>
                </a:rPr>
                <a:t>的虚表</a:t>
              </a:r>
              <a:endParaRPr lang="zh-CN" altLang="zh-CN" sz="1600">
                <a:latin typeface="微软雅黑" panose="020B0503020204020204" pitchFamily="34" charset="-122"/>
                <a:ea typeface="微软雅黑" panose="020B0503020204020204" pitchFamily="34" charset="-122"/>
              </a:endParaRPr>
            </a:p>
          </p:txBody>
        </p:sp>
        <p:sp>
          <p:nvSpPr>
            <p:cNvPr id="46089" name="Rectangle 32"/>
            <p:cNvSpPr>
              <a:spLocks noChangeArrowheads="1"/>
            </p:cNvSpPr>
            <p:nvPr/>
          </p:nvSpPr>
          <p:spPr bwMode="auto">
            <a:xfrm>
              <a:off x="3590704" y="3925672"/>
              <a:ext cx="1614153" cy="39618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zh-CN" altLang="en-US" sz="1600">
                  <a:latin typeface="微软雅黑" panose="020B0503020204020204" pitchFamily="34" charset="-122"/>
                  <a:ea typeface="微软雅黑" panose="020B0503020204020204" pitchFamily="34" charset="-122"/>
                </a:rPr>
                <a:t>指向</a:t>
              </a:r>
              <a:r>
                <a:rPr lang="en-US" altLang="zh-CN" sz="1600">
                  <a:latin typeface="微软雅黑" panose="020B0503020204020204" pitchFamily="34" charset="-122"/>
                  <a:ea typeface="微软雅黑" panose="020B0503020204020204" pitchFamily="34" charset="-122"/>
                </a:rPr>
                <a:t>f()</a:t>
              </a:r>
              <a:r>
                <a:rPr lang="zh-CN" altLang="en-US" sz="1600">
                  <a:latin typeface="微软雅黑" panose="020B0503020204020204" pitchFamily="34" charset="-122"/>
                  <a:ea typeface="微软雅黑" panose="020B0503020204020204" pitchFamily="34" charset="-122"/>
                </a:rPr>
                <a:t>的指针</a:t>
              </a:r>
              <a:endParaRPr lang="zh-CN" altLang="zh-CN" sz="1600">
                <a:latin typeface="微软雅黑" panose="020B0503020204020204" pitchFamily="34" charset="-122"/>
                <a:ea typeface="微软雅黑" panose="020B0503020204020204" pitchFamily="34" charset="-122"/>
              </a:endParaRPr>
            </a:p>
          </p:txBody>
        </p:sp>
        <p:sp>
          <p:nvSpPr>
            <p:cNvPr id="46090" name="Rectangle 33"/>
            <p:cNvSpPr>
              <a:spLocks noChangeArrowheads="1"/>
            </p:cNvSpPr>
            <p:nvPr/>
          </p:nvSpPr>
          <p:spPr bwMode="auto">
            <a:xfrm>
              <a:off x="3590704" y="4321862"/>
              <a:ext cx="1614153" cy="39717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zh-CN" altLang="en-US" sz="1600">
                  <a:latin typeface="微软雅黑" panose="020B0503020204020204" pitchFamily="34" charset="-122"/>
                  <a:ea typeface="微软雅黑" panose="020B0503020204020204" pitchFamily="34" charset="-122"/>
                </a:rPr>
                <a:t>指向</a:t>
              </a:r>
              <a:r>
                <a:rPr lang="en-US" altLang="zh-CN" sz="1600">
                  <a:latin typeface="微软雅黑" panose="020B0503020204020204" pitchFamily="34" charset="-122"/>
                  <a:ea typeface="微软雅黑" panose="020B0503020204020204" pitchFamily="34" charset="-122"/>
                </a:rPr>
                <a:t>g()</a:t>
              </a:r>
              <a:r>
                <a:rPr lang="zh-CN" altLang="en-US" sz="1600">
                  <a:latin typeface="微软雅黑" panose="020B0503020204020204" pitchFamily="34" charset="-122"/>
                  <a:ea typeface="微软雅黑" panose="020B0503020204020204" pitchFamily="34" charset="-122"/>
                </a:rPr>
                <a:t>的指针</a:t>
              </a:r>
              <a:endParaRPr lang="zh-CN" altLang="zh-CN" sz="1600">
                <a:latin typeface="微软雅黑" panose="020B0503020204020204" pitchFamily="34" charset="-122"/>
                <a:ea typeface="微软雅黑" panose="020B0503020204020204" pitchFamily="34" charset="-122"/>
              </a:endParaRPr>
            </a:p>
          </p:txBody>
        </p:sp>
        <p:sp>
          <p:nvSpPr>
            <p:cNvPr id="46091" name="Rectangle 34"/>
            <p:cNvSpPr>
              <a:spLocks noChangeArrowheads="1"/>
            </p:cNvSpPr>
            <p:nvPr/>
          </p:nvSpPr>
          <p:spPr bwMode="auto">
            <a:xfrm>
              <a:off x="3590704" y="4721975"/>
              <a:ext cx="1614153" cy="39717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zh-CN" altLang="en-US" sz="1600">
                  <a:latin typeface="微软雅黑" panose="020B0503020204020204" pitchFamily="34" charset="-122"/>
                  <a:ea typeface="微软雅黑" panose="020B0503020204020204" pitchFamily="34" charset="-122"/>
                </a:rPr>
                <a:t>指向</a:t>
              </a:r>
              <a:r>
                <a:rPr lang="en-US" altLang="zh-CN" sz="1600">
                  <a:latin typeface="微软雅黑" panose="020B0503020204020204" pitchFamily="34" charset="-122"/>
                  <a:ea typeface="微软雅黑" panose="020B0503020204020204" pitchFamily="34" charset="-122"/>
                </a:rPr>
                <a:t>h()</a:t>
              </a:r>
              <a:r>
                <a:rPr lang="zh-CN" altLang="en-US" sz="1600">
                  <a:latin typeface="微软雅黑" panose="020B0503020204020204" pitchFamily="34" charset="-122"/>
                  <a:ea typeface="微软雅黑" panose="020B0503020204020204" pitchFamily="34" charset="-122"/>
                </a:rPr>
                <a:t>的指针</a:t>
              </a:r>
              <a:endParaRPr lang="zh-CN" altLang="zh-CN" sz="1600">
                <a:latin typeface="微软雅黑" panose="020B0503020204020204" pitchFamily="34" charset="-122"/>
                <a:ea typeface="微软雅黑" panose="020B0503020204020204" pitchFamily="34" charset="-122"/>
              </a:endParaRPr>
            </a:p>
          </p:txBody>
        </p:sp>
        <p:sp>
          <p:nvSpPr>
            <p:cNvPr id="46092" name="Text Box 35"/>
            <p:cNvSpPr txBox="1">
              <a:spLocks noChangeArrowheads="1"/>
            </p:cNvSpPr>
            <p:nvPr/>
          </p:nvSpPr>
          <p:spPr bwMode="auto">
            <a:xfrm>
              <a:off x="3531869" y="5119147"/>
              <a:ext cx="1603282" cy="382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a:latin typeface="微软雅黑" panose="020B0503020204020204" pitchFamily="34" charset="-122"/>
                  <a:ea typeface="微软雅黑" panose="020B0503020204020204" pitchFamily="34" charset="-122"/>
                </a:rPr>
                <a:t>Derived</a:t>
              </a:r>
              <a:r>
                <a:rPr lang="zh-CN" altLang="en-US" sz="1600">
                  <a:latin typeface="微软雅黑" panose="020B0503020204020204" pitchFamily="34" charset="-122"/>
                  <a:ea typeface="微软雅黑" panose="020B0503020204020204" pitchFamily="34" charset="-122"/>
                </a:rPr>
                <a:t>的虚表</a:t>
              </a:r>
              <a:endParaRPr lang="zh-CN" altLang="zh-CN" sz="1600">
                <a:latin typeface="微软雅黑" panose="020B0503020204020204" pitchFamily="34" charset="-122"/>
                <a:ea typeface="微软雅黑" panose="020B0503020204020204" pitchFamily="34" charset="-122"/>
              </a:endParaRPr>
            </a:p>
          </p:txBody>
        </p:sp>
        <p:sp>
          <p:nvSpPr>
            <p:cNvPr id="46093" name="Text Box 36"/>
            <p:cNvSpPr txBox="1">
              <a:spLocks noChangeArrowheads="1"/>
            </p:cNvSpPr>
            <p:nvPr/>
          </p:nvSpPr>
          <p:spPr bwMode="auto">
            <a:xfrm>
              <a:off x="6357950" y="1453404"/>
              <a:ext cx="1794498" cy="102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600">
                  <a:latin typeface="微软雅黑" panose="020B0503020204020204" pitchFamily="34" charset="-122"/>
                  <a:ea typeface="微软雅黑" panose="020B0503020204020204" pitchFamily="34" charset="-122"/>
                </a:rPr>
                <a:t>(Base::f</a:t>
              </a:r>
              <a:r>
                <a:rPr lang="zh-CN" altLang="en-US" sz="1600">
                  <a:latin typeface="微软雅黑" panose="020B0503020204020204" pitchFamily="34" charset="-122"/>
                  <a:ea typeface="微软雅黑" panose="020B0503020204020204" pitchFamily="34" charset="-122"/>
                </a:rPr>
                <a:t>的代码</a:t>
              </a:r>
              <a:r>
                <a:rPr lang="en-US" altLang="zh-CN" sz="1600">
                  <a:latin typeface="微软雅黑" panose="020B0503020204020204" pitchFamily="34" charset="-122"/>
                  <a:ea typeface="微软雅黑" panose="020B0503020204020204" pitchFamily="34" charset="-122"/>
                </a:rPr>
                <a:t>)</a:t>
              </a:r>
            </a:p>
            <a:p>
              <a:pPr algn="just" eaLnBrk="1" hangingPunct="1"/>
              <a:endParaRPr lang="en-US" altLang="zh-CN" sz="1600">
                <a:latin typeface="微软雅黑" panose="020B0503020204020204" pitchFamily="34" charset="-122"/>
                <a:ea typeface="微软雅黑" panose="020B0503020204020204" pitchFamily="34" charset="-122"/>
              </a:endParaRPr>
            </a:p>
            <a:p>
              <a:pPr algn="just" eaLnBrk="1" hangingPunct="1"/>
              <a:r>
                <a:rPr lang="en-US" altLang="zh-CN" sz="1600">
                  <a:latin typeface="微软雅黑" panose="020B0503020204020204" pitchFamily="34" charset="-122"/>
                  <a:ea typeface="微软雅黑" panose="020B0503020204020204" pitchFamily="34" charset="-122"/>
                </a:rPr>
                <a:t>……</a:t>
              </a:r>
            </a:p>
            <a:p>
              <a:pPr eaLnBrk="1" hangingPunct="1"/>
              <a:endParaRPr lang="zh-CN" altLang="zh-CN" sz="1400">
                <a:latin typeface="微软雅黑" panose="020B0503020204020204" pitchFamily="34" charset="-122"/>
                <a:ea typeface="微软雅黑" panose="020B0503020204020204" pitchFamily="34" charset="-122"/>
              </a:endParaRPr>
            </a:p>
          </p:txBody>
        </p:sp>
        <p:sp>
          <p:nvSpPr>
            <p:cNvPr id="46094" name="Text Box 37"/>
            <p:cNvSpPr txBox="1">
              <a:spLocks noChangeArrowheads="1"/>
            </p:cNvSpPr>
            <p:nvPr/>
          </p:nvSpPr>
          <p:spPr bwMode="auto">
            <a:xfrm>
              <a:off x="6357950" y="2644917"/>
              <a:ext cx="1794498" cy="102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600">
                  <a:latin typeface="微软雅黑" panose="020B0503020204020204" pitchFamily="34" charset="-122"/>
                  <a:ea typeface="微软雅黑" panose="020B0503020204020204" pitchFamily="34" charset="-122"/>
                </a:rPr>
                <a:t>(Base::g</a:t>
              </a:r>
              <a:r>
                <a:rPr lang="zh-CN" altLang="en-US" sz="1600">
                  <a:latin typeface="微软雅黑" panose="020B0503020204020204" pitchFamily="34" charset="-122"/>
                  <a:ea typeface="微软雅黑" panose="020B0503020204020204" pitchFamily="34" charset="-122"/>
                </a:rPr>
                <a:t>的代码</a:t>
              </a:r>
              <a:r>
                <a:rPr lang="en-US" altLang="zh-CN" sz="1600">
                  <a:latin typeface="微软雅黑" panose="020B0503020204020204" pitchFamily="34" charset="-122"/>
                  <a:ea typeface="微软雅黑" panose="020B0503020204020204" pitchFamily="34" charset="-122"/>
                </a:rPr>
                <a:t>)</a:t>
              </a:r>
            </a:p>
            <a:p>
              <a:pPr algn="just" eaLnBrk="1" hangingPunct="1"/>
              <a:endParaRPr lang="en-US" altLang="zh-CN" sz="1600">
                <a:latin typeface="微软雅黑" panose="020B0503020204020204" pitchFamily="34" charset="-122"/>
                <a:ea typeface="微软雅黑" panose="020B0503020204020204" pitchFamily="34" charset="-122"/>
              </a:endParaRPr>
            </a:p>
            <a:p>
              <a:pPr algn="just" eaLnBrk="1" hangingPunct="1"/>
              <a:r>
                <a:rPr lang="en-US" altLang="zh-CN" sz="1600">
                  <a:latin typeface="微软雅黑" panose="020B0503020204020204" pitchFamily="34" charset="-122"/>
                  <a:ea typeface="微软雅黑" panose="020B0503020204020204" pitchFamily="34" charset="-122"/>
                </a:rPr>
                <a:t>……</a:t>
              </a:r>
            </a:p>
            <a:p>
              <a:pPr eaLnBrk="1" hangingPunct="1"/>
              <a:endParaRPr lang="zh-CN" altLang="zh-CN" sz="1400">
                <a:latin typeface="微软雅黑" panose="020B0503020204020204" pitchFamily="34" charset="-122"/>
                <a:ea typeface="微软雅黑" panose="020B0503020204020204" pitchFamily="34" charset="-122"/>
              </a:endParaRPr>
            </a:p>
          </p:txBody>
        </p:sp>
        <p:sp>
          <p:nvSpPr>
            <p:cNvPr id="46095" name="Text Box 38"/>
            <p:cNvSpPr txBox="1">
              <a:spLocks noChangeArrowheads="1"/>
            </p:cNvSpPr>
            <p:nvPr/>
          </p:nvSpPr>
          <p:spPr bwMode="auto">
            <a:xfrm>
              <a:off x="6357950" y="3851141"/>
              <a:ext cx="1794498" cy="118577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600">
                  <a:latin typeface="微软雅黑" panose="020B0503020204020204" pitchFamily="34" charset="-122"/>
                  <a:ea typeface="微软雅黑" panose="020B0503020204020204" pitchFamily="34" charset="-122"/>
                </a:rPr>
                <a:t>(Derived::f</a:t>
              </a:r>
              <a:r>
                <a:rPr lang="zh-CN" altLang="en-US" sz="1600">
                  <a:latin typeface="微软雅黑" panose="020B0503020204020204" pitchFamily="34" charset="-122"/>
                  <a:ea typeface="微软雅黑" panose="020B0503020204020204" pitchFamily="34" charset="-122"/>
                </a:rPr>
                <a:t>的代码</a:t>
              </a:r>
              <a:r>
                <a:rPr lang="en-US" altLang="zh-CN" sz="1600">
                  <a:latin typeface="微软雅黑" panose="020B0503020204020204" pitchFamily="34" charset="-122"/>
                  <a:ea typeface="微软雅黑" panose="020B0503020204020204" pitchFamily="34" charset="-122"/>
                </a:rPr>
                <a:t>)</a:t>
              </a:r>
            </a:p>
            <a:p>
              <a:pPr algn="just" eaLnBrk="1" hangingPunct="1"/>
              <a:endParaRPr lang="en-US" altLang="zh-CN" sz="1600">
                <a:latin typeface="微软雅黑" panose="020B0503020204020204" pitchFamily="34" charset="-122"/>
                <a:ea typeface="微软雅黑" panose="020B0503020204020204" pitchFamily="34" charset="-122"/>
              </a:endParaRPr>
            </a:p>
            <a:p>
              <a:pPr algn="just" eaLnBrk="1" hangingPunct="1"/>
              <a:r>
                <a:rPr lang="en-US" altLang="zh-CN" sz="1600">
                  <a:latin typeface="微软雅黑" panose="020B0503020204020204" pitchFamily="34" charset="-122"/>
                  <a:ea typeface="微软雅黑" panose="020B0503020204020204" pitchFamily="34" charset="-122"/>
                </a:rPr>
                <a:t>……</a:t>
              </a:r>
            </a:p>
            <a:p>
              <a:pPr eaLnBrk="1" hangingPunct="1"/>
              <a:endParaRPr lang="zh-CN" altLang="zh-CN" sz="1400">
                <a:latin typeface="微软雅黑" panose="020B0503020204020204" pitchFamily="34" charset="-122"/>
                <a:ea typeface="微软雅黑" panose="020B0503020204020204" pitchFamily="34" charset="-122"/>
              </a:endParaRPr>
            </a:p>
          </p:txBody>
        </p:sp>
        <p:sp>
          <p:nvSpPr>
            <p:cNvPr id="46096" name="Text Box 39"/>
            <p:cNvSpPr txBox="1">
              <a:spLocks noChangeArrowheads="1"/>
            </p:cNvSpPr>
            <p:nvPr/>
          </p:nvSpPr>
          <p:spPr bwMode="auto">
            <a:xfrm>
              <a:off x="6357950" y="5072074"/>
              <a:ext cx="1794498" cy="111887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600">
                  <a:latin typeface="微软雅黑" panose="020B0503020204020204" pitchFamily="34" charset="-122"/>
                  <a:ea typeface="微软雅黑" panose="020B0503020204020204" pitchFamily="34" charset="-122"/>
                </a:rPr>
                <a:t>(Derived::h</a:t>
              </a:r>
              <a:r>
                <a:rPr lang="zh-CN" altLang="en-US" sz="1600">
                  <a:latin typeface="微软雅黑" panose="020B0503020204020204" pitchFamily="34" charset="-122"/>
                  <a:ea typeface="微软雅黑" panose="020B0503020204020204" pitchFamily="34" charset="-122"/>
                </a:rPr>
                <a:t>的代码</a:t>
              </a:r>
              <a:r>
                <a:rPr lang="en-US" altLang="zh-CN" sz="1600">
                  <a:latin typeface="微软雅黑" panose="020B0503020204020204" pitchFamily="34" charset="-122"/>
                  <a:ea typeface="微软雅黑" panose="020B0503020204020204" pitchFamily="34" charset="-122"/>
                </a:rPr>
                <a:t>)</a:t>
              </a:r>
            </a:p>
            <a:p>
              <a:pPr algn="just" eaLnBrk="1" hangingPunct="1"/>
              <a:endParaRPr lang="en-US" altLang="zh-CN" sz="1600">
                <a:latin typeface="微软雅黑" panose="020B0503020204020204" pitchFamily="34" charset="-122"/>
                <a:ea typeface="微软雅黑" panose="020B0503020204020204" pitchFamily="34" charset="-122"/>
              </a:endParaRPr>
            </a:p>
            <a:p>
              <a:pPr algn="just" eaLnBrk="1" hangingPunct="1"/>
              <a:r>
                <a:rPr lang="en-US" altLang="zh-CN" sz="1600">
                  <a:latin typeface="微软雅黑" panose="020B0503020204020204" pitchFamily="34" charset="-122"/>
                  <a:ea typeface="微软雅黑" panose="020B0503020204020204" pitchFamily="34" charset="-122"/>
                </a:rPr>
                <a:t>……</a:t>
              </a:r>
            </a:p>
            <a:p>
              <a:pPr eaLnBrk="1" hangingPunct="1"/>
              <a:endParaRPr lang="zh-CN" altLang="zh-CN" sz="1400">
                <a:latin typeface="微软雅黑" panose="020B0503020204020204" pitchFamily="34" charset="-122"/>
                <a:ea typeface="微软雅黑" panose="020B0503020204020204" pitchFamily="34" charset="-122"/>
              </a:endParaRPr>
            </a:p>
          </p:txBody>
        </p:sp>
        <p:cxnSp>
          <p:nvCxnSpPr>
            <p:cNvPr id="21" name="AutoShape 40"/>
            <p:cNvCxnSpPr>
              <a:cxnSpLocks noChangeShapeType="1"/>
            </p:cNvCxnSpPr>
            <p:nvPr/>
          </p:nvCxnSpPr>
          <p:spPr bwMode="auto">
            <a:xfrm flipV="1">
              <a:off x="4960477" y="1551294"/>
              <a:ext cx="1400703" cy="845924"/>
            </a:xfrm>
            <a:prstGeom prst="straightConnector1">
              <a:avLst/>
            </a:prstGeom>
            <a:noFill/>
            <a:ln w="9525">
              <a:solidFill>
                <a:schemeClr val="tx1">
                  <a:lumMod val="50000"/>
                </a:schemeClr>
              </a:solidFill>
              <a:round/>
              <a:headEnd/>
              <a:tailEnd type="triangle" w="med" len="med"/>
            </a:ln>
          </p:spPr>
        </p:cxnSp>
        <p:cxnSp>
          <p:nvCxnSpPr>
            <p:cNvPr id="22" name="AutoShape 41"/>
            <p:cNvCxnSpPr>
              <a:cxnSpLocks noChangeShapeType="1"/>
            </p:cNvCxnSpPr>
            <p:nvPr/>
          </p:nvCxnSpPr>
          <p:spPr bwMode="auto">
            <a:xfrm>
              <a:off x="4960477" y="2774006"/>
              <a:ext cx="1400703" cy="11082"/>
            </a:xfrm>
            <a:prstGeom prst="straightConnector1">
              <a:avLst/>
            </a:prstGeom>
            <a:noFill/>
            <a:ln w="9525">
              <a:solidFill>
                <a:schemeClr val="tx1">
                  <a:lumMod val="50000"/>
                </a:schemeClr>
              </a:solidFill>
              <a:round/>
              <a:headEnd/>
              <a:tailEnd type="triangle" w="med" len="med"/>
            </a:ln>
          </p:spPr>
        </p:cxnSp>
        <p:cxnSp>
          <p:nvCxnSpPr>
            <p:cNvPr id="23" name="AutoShape 42"/>
            <p:cNvCxnSpPr>
              <a:cxnSpLocks noChangeShapeType="1"/>
            </p:cNvCxnSpPr>
            <p:nvPr/>
          </p:nvCxnSpPr>
          <p:spPr bwMode="auto">
            <a:xfrm flipV="1">
              <a:off x="4960477" y="3950544"/>
              <a:ext cx="1400703" cy="142218"/>
            </a:xfrm>
            <a:prstGeom prst="straightConnector1">
              <a:avLst/>
            </a:prstGeom>
            <a:noFill/>
            <a:ln w="9525">
              <a:solidFill>
                <a:schemeClr val="tx1">
                  <a:lumMod val="50000"/>
                </a:schemeClr>
              </a:solidFill>
              <a:round/>
              <a:headEnd/>
              <a:tailEnd type="triangle" w="med" len="med"/>
            </a:ln>
          </p:spPr>
        </p:cxnSp>
        <p:cxnSp>
          <p:nvCxnSpPr>
            <p:cNvPr id="24" name="AutoShape 43"/>
            <p:cNvCxnSpPr>
              <a:cxnSpLocks noChangeShapeType="1"/>
            </p:cNvCxnSpPr>
            <p:nvPr/>
          </p:nvCxnSpPr>
          <p:spPr bwMode="auto">
            <a:xfrm flipV="1">
              <a:off x="4960477" y="2822028"/>
              <a:ext cx="1400703" cy="1741718"/>
            </a:xfrm>
            <a:prstGeom prst="straightConnector1">
              <a:avLst/>
            </a:prstGeom>
            <a:noFill/>
            <a:ln w="9525">
              <a:solidFill>
                <a:schemeClr val="tx1">
                  <a:lumMod val="50000"/>
                </a:schemeClr>
              </a:solidFill>
              <a:round/>
              <a:headEnd/>
              <a:tailEnd type="triangle" w="med" len="med"/>
            </a:ln>
          </p:spPr>
        </p:cxnSp>
        <p:cxnSp>
          <p:nvCxnSpPr>
            <p:cNvPr id="25" name="AutoShape 44"/>
            <p:cNvCxnSpPr>
              <a:cxnSpLocks noChangeShapeType="1"/>
            </p:cNvCxnSpPr>
            <p:nvPr/>
          </p:nvCxnSpPr>
          <p:spPr bwMode="auto">
            <a:xfrm>
              <a:off x="4949497" y="4898052"/>
              <a:ext cx="1419526" cy="236416"/>
            </a:xfrm>
            <a:prstGeom prst="straightConnector1">
              <a:avLst/>
            </a:prstGeom>
            <a:noFill/>
            <a:ln w="9525">
              <a:solidFill>
                <a:schemeClr val="tx1">
                  <a:lumMod val="50000"/>
                </a:schemeClr>
              </a:solidFill>
              <a:round/>
              <a:headEnd/>
              <a:tailEnd type="triangle" w="med" len="med"/>
            </a:ln>
          </p:spPr>
        </p:cxnSp>
        <p:sp>
          <p:nvSpPr>
            <p:cNvPr id="46102" name="Rectangle 45"/>
            <p:cNvSpPr>
              <a:spLocks noChangeArrowheads="1"/>
            </p:cNvSpPr>
            <p:nvPr/>
          </p:nvSpPr>
          <p:spPr bwMode="auto">
            <a:xfrm>
              <a:off x="1121553" y="2659627"/>
              <a:ext cx="1470901" cy="39717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a:latin typeface="微软雅黑" panose="020B0503020204020204" pitchFamily="34" charset="-122"/>
                  <a:ea typeface="微软雅黑" panose="020B0503020204020204" pitchFamily="34" charset="-122"/>
                </a:rPr>
                <a:t>i</a:t>
              </a:r>
              <a:endParaRPr lang="zh-CN" altLang="zh-CN" sz="1600">
                <a:latin typeface="微软雅黑" panose="020B0503020204020204" pitchFamily="34" charset="-122"/>
                <a:ea typeface="微软雅黑" panose="020B0503020204020204" pitchFamily="34" charset="-122"/>
              </a:endParaRPr>
            </a:p>
          </p:txBody>
        </p:sp>
        <p:sp>
          <p:nvSpPr>
            <p:cNvPr id="46103" name="Rectangle 46"/>
            <p:cNvSpPr>
              <a:spLocks noChangeArrowheads="1"/>
            </p:cNvSpPr>
            <p:nvPr/>
          </p:nvSpPr>
          <p:spPr bwMode="auto">
            <a:xfrm>
              <a:off x="1121553" y="2262456"/>
              <a:ext cx="1470901" cy="39717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a:latin typeface="微软雅黑" panose="020B0503020204020204" pitchFamily="34" charset="-122"/>
                  <a:ea typeface="微软雅黑" panose="020B0503020204020204" pitchFamily="34" charset="-122"/>
                </a:rPr>
                <a:t>vptr</a:t>
              </a:r>
              <a:endParaRPr lang="zh-CN" altLang="zh-CN" sz="1600">
                <a:latin typeface="微软雅黑" panose="020B0503020204020204" pitchFamily="34" charset="-122"/>
                <a:ea typeface="微软雅黑" panose="020B0503020204020204" pitchFamily="34" charset="-122"/>
              </a:endParaRPr>
            </a:p>
          </p:txBody>
        </p:sp>
        <p:sp>
          <p:nvSpPr>
            <p:cNvPr id="46104" name="Rectangle 47"/>
            <p:cNvSpPr>
              <a:spLocks noChangeArrowheads="1"/>
            </p:cNvSpPr>
            <p:nvPr/>
          </p:nvSpPr>
          <p:spPr bwMode="auto">
            <a:xfrm>
              <a:off x="1121553" y="4423852"/>
              <a:ext cx="1470901" cy="39619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a:latin typeface="微软雅黑" panose="020B0503020204020204" pitchFamily="34" charset="-122"/>
                  <a:ea typeface="微软雅黑" panose="020B0503020204020204" pitchFamily="34" charset="-122"/>
                </a:rPr>
                <a:t>i</a:t>
              </a:r>
              <a:endParaRPr lang="zh-CN" altLang="zh-CN" sz="1600">
                <a:latin typeface="微软雅黑" panose="020B0503020204020204" pitchFamily="34" charset="-122"/>
                <a:ea typeface="微软雅黑" panose="020B0503020204020204" pitchFamily="34" charset="-122"/>
              </a:endParaRPr>
            </a:p>
          </p:txBody>
        </p:sp>
        <p:sp>
          <p:nvSpPr>
            <p:cNvPr id="46105" name="Rectangle 48"/>
            <p:cNvSpPr>
              <a:spLocks noChangeArrowheads="1"/>
            </p:cNvSpPr>
            <p:nvPr/>
          </p:nvSpPr>
          <p:spPr bwMode="auto">
            <a:xfrm>
              <a:off x="1121553" y="4024719"/>
              <a:ext cx="1470901" cy="3991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a:latin typeface="微软雅黑" panose="020B0503020204020204" pitchFamily="34" charset="-122"/>
                  <a:ea typeface="微软雅黑" panose="020B0503020204020204" pitchFamily="34" charset="-122"/>
                </a:rPr>
                <a:t>vptr</a:t>
              </a:r>
              <a:endParaRPr lang="zh-CN" altLang="zh-CN" sz="1600">
                <a:latin typeface="微软雅黑" panose="020B0503020204020204" pitchFamily="34" charset="-122"/>
                <a:ea typeface="微软雅黑" panose="020B0503020204020204" pitchFamily="34" charset="-122"/>
              </a:endParaRPr>
            </a:p>
          </p:txBody>
        </p:sp>
        <p:sp>
          <p:nvSpPr>
            <p:cNvPr id="46106" name="Rectangle 49"/>
            <p:cNvSpPr>
              <a:spLocks noChangeArrowheads="1"/>
            </p:cNvSpPr>
            <p:nvPr/>
          </p:nvSpPr>
          <p:spPr bwMode="auto">
            <a:xfrm>
              <a:off x="1121553" y="4820042"/>
              <a:ext cx="1470901" cy="39717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a:latin typeface="微软雅黑" panose="020B0503020204020204" pitchFamily="34" charset="-122"/>
                  <a:ea typeface="微软雅黑" panose="020B0503020204020204" pitchFamily="34" charset="-122"/>
                </a:rPr>
                <a:t>j</a:t>
              </a:r>
              <a:endParaRPr lang="zh-CN" altLang="zh-CN" sz="1600">
                <a:latin typeface="微软雅黑" panose="020B0503020204020204" pitchFamily="34" charset="-122"/>
                <a:ea typeface="微软雅黑" panose="020B0503020204020204" pitchFamily="34" charset="-122"/>
              </a:endParaRPr>
            </a:p>
          </p:txBody>
        </p:sp>
        <p:sp>
          <p:nvSpPr>
            <p:cNvPr id="46107" name="Text Box 50"/>
            <p:cNvSpPr txBox="1">
              <a:spLocks noChangeArrowheads="1"/>
            </p:cNvSpPr>
            <p:nvPr/>
          </p:nvSpPr>
          <p:spPr bwMode="auto">
            <a:xfrm>
              <a:off x="1180389" y="3011688"/>
              <a:ext cx="1412065" cy="382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600">
                  <a:latin typeface="微软雅黑" panose="020B0503020204020204" pitchFamily="34" charset="-122"/>
                  <a:ea typeface="微软雅黑" panose="020B0503020204020204" pitchFamily="34" charset="-122"/>
                </a:rPr>
                <a:t>Base</a:t>
              </a:r>
              <a:r>
                <a:rPr lang="zh-CN" altLang="en-US" sz="1600">
                  <a:latin typeface="微软雅黑" panose="020B0503020204020204" pitchFamily="34" charset="-122"/>
                  <a:ea typeface="微软雅黑" panose="020B0503020204020204" pitchFamily="34" charset="-122"/>
                </a:rPr>
                <a:t>类型对象</a:t>
              </a:r>
              <a:endParaRPr lang="zh-CN" altLang="zh-CN" sz="1600">
                <a:latin typeface="微软雅黑" panose="020B0503020204020204" pitchFamily="34" charset="-122"/>
                <a:ea typeface="微软雅黑" panose="020B0503020204020204" pitchFamily="34" charset="-122"/>
              </a:endParaRPr>
            </a:p>
          </p:txBody>
        </p:sp>
        <p:cxnSp>
          <p:nvCxnSpPr>
            <p:cNvPr id="32" name="AutoShape 51"/>
            <p:cNvCxnSpPr>
              <a:cxnSpLocks noChangeShapeType="1"/>
            </p:cNvCxnSpPr>
            <p:nvPr/>
          </p:nvCxnSpPr>
          <p:spPr bwMode="auto">
            <a:xfrm flipV="1">
              <a:off x="2427290" y="2262389"/>
              <a:ext cx="1154443" cy="188394"/>
            </a:xfrm>
            <a:prstGeom prst="straightConnector1">
              <a:avLst/>
            </a:prstGeom>
            <a:noFill/>
            <a:ln w="9525">
              <a:solidFill>
                <a:schemeClr val="tx1">
                  <a:lumMod val="50000"/>
                </a:schemeClr>
              </a:solidFill>
              <a:round/>
              <a:headEnd/>
              <a:tailEnd type="triangle" w="med" len="med"/>
            </a:ln>
          </p:spPr>
        </p:cxnSp>
        <p:cxnSp>
          <p:nvCxnSpPr>
            <p:cNvPr id="33" name="AutoShape 52"/>
            <p:cNvCxnSpPr>
              <a:cxnSpLocks noChangeShapeType="1"/>
            </p:cNvCxnSpPr>
            <p:nvPr/>
          </p:nvCxnSpPr>
          <p:spPr bwMode="auto">
            <a:xfrm flipV="1">
              <a:off x="2427290" y="4004106"/>
              <a:ext cx="1170128" cy="208711"/>
            </a:xfrm>
            <a:prstGeom prst="straightConnector1">
              <a:avLst/>
            </a:prstGeom>
            <a:noFill/>
            <a:ln w="9525">
              <a:solidFill>
                <a:schemeClr val="tx1">
                  <a:lumMod val="50000"/>
                </a:schemeClr>
              </a:solidFill>
              <a:round/>
              <a:headEnd/>
              <a:tailEnd type="triangle" w="med" len="med"/>
            </a:ln>
          </p:spPr>
        </p:cxnSp>
        <p:sp>
          <p:nvSpPr>
            <p:cNvPr id="46110" name="Text Box 50"/>
            <p:cNvSpPr txBox="1">
              <a:spLocks noChangeArrowheads="1"/>
            </p:cNvSpPr>
            <p:nvPr/>
          </p:nvSpPr>
          <p:spPr bwMode="auto">
            <a:xfrm>
              <a:off x="1050115" y="5168180"/>
              <a:ext cx="1714512" cy="382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1600">
                  <a:latin typeface="微软雅黑" panose="020B0503020204020204" pitchFamily="34" charset="-122"/>
                  <a:ea typeface="微软雅黑" panose="020B0503020204020204" pitchFamily="34" charset="-122"/>
                </a:rPr>
                <a:t>Derived</a:t>
              </a:r>
              <a:r>
                <a:rPr lang="zh-CN" altLang="en-US" sz="1600">
                  <a:latin typeface="微软雅黑" panose="020B0503020204020204" pitchFamily="34" charset="-122"/>
                  <a:ea typeface="微软雅黑" panose="020B0503020204020204" pitchFamily="34" charset="-122"/>
                </a:rPr>
                <a:t>类型对象</a:t>
              </a:r>
              <a:endParaRPr lang="zh-CN" altLang="zh-CN" sz="1600">
                <a:latin typeface="微软雅黑" panose="020B0503020204020204" pitchFamily="34" charset="-122"/>
                <a:ea typeface="微软雅黑" panose="020B0503020204020204" pitchFamily="34" charset="-122"/>
              </a:endParaRPr>
            </a:p>
          </p:txBody>
        </p:sp>
      </p:grpSp>
      <p:sp>
        <p:nvSpPr>
          <p:cNvPr id="35" name="TextBox 34"/>
          <p:cNvSpPr txBox="1"/>
          <p:nvPr/>
        </p:nvSpPr>
        <p:spPr>
          <a:xfrm>
            <a:off x="394493" y="1484784"/>
            <a:ext cx="3282682" cy="2031325"/>
          </a:xfrm>
          <a:prstGeom prst="rect">
            <a:avLst/>
          </a:prstGeom>
          <a:noFill/>
        </p:spPr>
        <p:txBody>
          <a:bodyPr wrap="square">
            <a:spAutoFit/>
          </a:bodyPr>
          <a:lstStyle/>
          <a:p>
            <a:pPr latinLnBrk="1">
              <a:tabLst>
                <a:tab pos="268288" algn="l"/>
              </a:tabLst>
              <a:defRPr/>
            </a:pPr>
            <a:r>
              <a:rPr lang="en-US" sz="1800" dirty="0">
                <a:solidFill>
                  <a:srgbClr val="C00000"/>
                </a:solidFill>
                <a:latin typeface="微软雅黑" panose="020B0503020204020204" pitchFamily="34" charset="-122"/>
                <a:ea typeface="微软雅黑" panose="020B0503020204020204" pitchFamily="34" charset="-122"/>
                <a:cs typeface="Courier New" pitchFamily="49" charset="0"/>
              </a:rPr>
              <a:t>class Base {</a:t>
            </a:r>
            <a:endParaRPr lang="zh-CN" altLang="en-US" sz="1800" dirty="0">
              <a:solidFill>
                <a:srgbClr val="C00000"/>
              </a:solidFill>
              <a:latin typeface="微软雅黑" panose="020B0503020204020204" pitchFamily="34" charset="-122"/>
              <a:ea typeface="微软雅黑" panose="020B0503020204020204" pitchFamily="34" charset="-122"/>
              <a:cs typeface="Courier New" pitchFamily="49" charset="0"/>
            </a:endParaRPr>
          </a:p>
          <a:p>
            <a:pPr latinLnBrk="1">
              <a:tabLst>
                <a:tab pos="268288" algn="l"/>
              </a:tabLst>
              <a:defRPr/>
            </a:pPr>
            <a:r>
              <a:rPr lang="en-US" sz="1800" dirty="0">
                <a:solidFill>
                  <a:srgbClr val="C00000"/>
                </a:solidFill>
                <a:latin typeface="微软雅黑" panose="020B0503020204020204" pitchFamily="34" charset="-122"/>
                <a:ea typeface="微软雅黑" panose="020B0503020204020204" pitchFamily="34" charset="-122"/>
                <a:cs typeface="Courier New" pitchFamily="49" charset="0"/>
              </a:rPr>
              <a:t>public:</a:t>
            </a:r>
            <a:endParaRPr lang="zh-CN" altLang="en-US" sz="1800" dirty="0">
              <a:solidFill>
                <a:srgbClr val="C00000"/>
              </a:solidFill>
              <a:latin typeface="微软雅黑" panose="020B0503020204020204" pitchFamily="34" charset="-122"/>
              <a:ea typeface="微软雅黑" panose="020B0503020204020204" pitchFamily="34" charset="-122"/>
              <a:cs typeface="Courier New" pitchFamily="49" charset="0"/>
            </a:endParaRPr>
          </a:p>
          <a:p>
            <a:pPr latinLnBrk="1">
              <a:tabLst>
                <a:tab pos="268288" algn="l"/>
              </a:tabLst>
              <a:defRPr/>
            </a:pPr>
            <a:r>
              <a:rPr lang="en-US" sz="1800" dirty="0">
                <a:solidFill>
                  <a:srgbClr val="C00000"/>
                </a:solidFill>
                <a:latin typeface="微软雅黑" panose="020B0503020204020204" pitchFamily="34" charset="-122"/>
                <a:ea typeface="微软雅黑" panose="020B0503020204020204" pitchFamily="34" charset="-122"/>
                <a:cs typeface="Courier New" pitchFamily="49" charset="0"/>
              </a:rPr>
              <a:t>	virtual void f();</a:t>
            </a:r>
            <a:endParaRPr lang="zh-CN" altLang="en-US" sz="1800" dirty="0">
              <a:solidFill>
                <a:srgbClr val="C00000"/>
              </a:solidFill>
              <a:latin typeface="微软雅黑" panose="020B0503020204020204" pitchFamily="34" charset="-122"/>
              <a:ea typeface="微软雅黑" panose="020B0503020204020204" pitchFamily="34" charset="-122"/>
              <a:cs typeface="Courier New" pitchFamily="49" charset="0"/>
            </a:endParaRPr>
          </a:p>
          <a:p>
            <a:pPr latinLnBrk="1">
              <a:tabLst>
                <a:tab pos="268288" algn="l"/>
              </a:tabLst>
              <a:defRPr/>
            </a:pPr>
            <a:r>
              <a:rPr lang="en-US" sz="1800" dirty="0">
                <a:solidFill>
                  <a:srgbClr val="C00000"/>
                </a:solidFill>
                <a:latin typeface="微软雅黑" panose="020B0503020204020204" pitchFamily="34" charset="-122"/>
                <a:ea typeface="微软雅黑" panose="020B0503020204020204" pitchFamily="34" charset="-122"/>
                <a:cs typeface="Courier New" pitchFamily="49" charset="0"/>
              </a:rPr>
              <a:t>	virtual void g();</a:t>
            </a:r>
            <a:endParaRPr lang="zh-CN" altLang="en-US" sz="1800" dirty="0">
              <a:solidFill>
                <a:srgbClr val="C00000"/>
              </a:solidFill>
              <a:latin typeface="微软雅黑" panose="020B0503020204020204" pitchFamily="34" charset="-122"/>
              <a:ea typeface="微软雅黑" panose="020B0503020204020204" pitchFamily="34" charset="-122"/>
              <a:cs typeface="Courier New" pitchFamily="49" charset="0"/>
            </a:endParaRPr>
          </a:p>
          <a:p>
            <a:pPr latinLnBrk="1">
              <a:tabLst>
                <a:tab pos="268288" algn="l"/>
              </a:tabLst>
              <a:defRPr/>
            </a:pPr>
            <a:r>
              <a:rPr lang="en-US" sz="1800" dirty="0">
                <a:solidFill>
                  <a:srgbClr val="C00000"/>
                </a:solidFill>
                <a:latin typeface="微软雅黑" panose="020B0503020204020204" pitchFamily="34" charset="-122"/>
                <a:ea typeface="微软雅黑" panose="020B0503020204020204" pitchFamily="34" charset="-122"/>
                <a:cs typeface="Courier New" pitchFamily="49" charset="0"/>
              </a:rPr>
              <a:t>private:</a:t>
            </a:r>
            <a:endParaRPr lang="zh-CN" altLang="en-US" sz="1800" dirty="0">
              <a:solidFill>
                <a:srgbClr val="C00000"/>
              </a:solidFill>
              <a:latin typeface="微软雅黑" panose="020B0503020204020204" pitchFamily="34" charset="-122"/>
              <a:ea typeface="微软雅黑" panose="020B0503020204020204" pitchFamily="34" charset="-122"/>
              <a:cs typeface="Courier New" pitchFamily="49" charset="0"/>
            </a:endParaRPr>
          </a:p>
          <a:p>
            <a:pPr latinLnBrk="1">
              <a:tabLst>
                <a:tab pos="268288" algn="l"/>
              </a:tabLst>
              <a:defRPr/>
            </a:pPr>
            <a:r>
              <a:rPr lang="en-US" sz="1800" dirty="0">
                <a:solidFill>
                  <a:srgbClr val="C00000"/>
                </a:solidFill>
                <a:latin typeface="微软雅黑" panose="020B0503020204020204" pitchFamily="34" charset="-122"/>
                <a:ea typeface="微软雅黑" panose="020B0503020204020204" pitchFamily="34" charset="-122"/>
                <a:cs typeface="Courier New" pitchFamily="49" charset="0"/>
              </a:rPr>
              <a:t>	int </a:t>
            </a:r>
            <a:r>
              <a:rPr lang="en-US" sz="1800" dirty="0" err="1">
                <a:solidFill>
                  <a:srgbClr val="C00000"/>
                </a:solidFill>
                <a:latin typeface="微软雅黑" panose="020B0503020204020204" pitchFamily="34" charset="-122"/>
                <a:ea typeface="微软雅黑" panose="020B0503020204020204" pitchFamily="34" charset="-122"/>
                <a:cs typeface="Courier New" pitchFamily="49" charset="0"/>
              </a:rPr>
              <a:t>i</a:t>
            </a:r>
            <a:r>
              <a:rPr lang="en-US" sz="1800" dirty="0">
                <a:solidFill>
                  <a:srgbClr val="C00000"/>
                </a:solidFill>
                <a:latin typeface="微软雅黑" panose="020B0503020204020204" pitchFamily="34" charset="-122"/>
                <a:ea typeface="微软雅黑" panose="020B0503020204020204" pitchFamily="34" charset="-122"/>
                <a:cs typeface="Courier New" pitchFamily="49" charset="0"/>
              </a:rPr>
              <a:t>;</a:t>
            </a:r>
            <a:endParaRPr lang="zh-CN" altLang="en-US" sz="1800" dirty="0">
              <a:solidFill>
                <a:srgbClr val="C00000"/>
              </a:solidFill>
              <a:latin typeface="微软雅黑" panose="020B0503020204020204" pitchFamily="34" charset="-122"/>
              <a:ea typeface="微软雅黑" panose="020B0503020204020204" pitchFamily="34" charset="-122"/>
              <a:cs typeface="Courier New" pitchFamily="49" charset="0"/>
            </a:endParaRPr>
          </a:p>
          <a:p>
            <a:pPr latinLnBrk="1">
              <a:tabLst>
                <a:tab pos="268288" algn="l"/>
              </a:tabLst>
              <a:defRPr/>
            </a:pPr>
            <a:r>
              <a:rPr lang="en-US" sz="1800" dirty="0">
                <a:solidFill>
                  <a:srgbClr val="C00000"/>
                </a:solidFill>
                <a:latin typeface="微软雅黑" panose="020B0503020204020204" pitchFamily="34" charset="-122"/>
                <a:ea typeface="微软雅黑" panose="020B0503020204020204" pitchFamily="34" charset="-122"/>
                <a:cs typeface="Courier New" pitchFamily="49" charset="0"/>
              </a:rPr>
              <a:t>};</a:t>
            </a:r>
            <a:endParaRPr lang="zh-CN" altLang="en-US" sz="1800" dirty="0">
              <a:solidFill>
                <a:srgbClr val="C00000"/>
              </a:solidFill>
              <a:latin typeface="微软雅黑" panose="020B0503020204020204" pitchFamily="34" charset="-122"/>
              <a:ea typeface="微软雅黑" panose="020B0503020204020204" pitchFamily="34" charset="-122"/>
              <a:cs typeface="Courier New" pitchFamily="49" charset="0"/>
            </a:endParaRPr>
          </a:p>
        </p:txBody>
      </p:sp>
      <p:sp>
        <p:nvSpPr>
          <p:cNvPr id="46084" name="TextBox 60"/>
          <p:cNvSpPr txBox="1">
            <a:spLocks noChangeArrowheads="1"/>
          </p:cNvSpPr>
          <p:nvPr/>
        </p:nvSpPr>
        <p:spPr bwMode="auto">
          <a:xfrm>
            <a:off x="394493" y="3688083"/>
            <a:ext cx="4429125"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268288" algn="l"/>
              </a:tabLst>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tabLst>
                <a:tab pos="268288" algn="l"/>
              </a:tabLst>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tabLst>
                <a:tab pos="268288" algn="l"/>
              </a:tabLst>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tabLst>
                <a:tab pos="268288" algn="l"/>
              </a:tabLst>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tabLst>
                <a:tab pos="268288" algn="l"/>
              </a:tabLst>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tabLst>
                <a:tab pos="268288" algn="l"/>
              </a:tabLs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tabLst>
                <a:tab pos="268288" algn="l"/>
              </a:tabLs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tabLst>
                <a:tab pos="268288" algn="l"/>
              </a:tabLs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tabLst>
                <a:tab pos="268288" algn="l"/>
              </a:tabLst>
              <a:defRPr kumimoji="1" sz="2400">
                <a:solidFill>
                  <a:schemeClr val="tx1"/>
                </a:solidFill>
                <a:latin typeface="Times New Roman" panose="02020603050405020304" pitchFamily="18" charset="0"/>
                <a:ea typeface="隶书" panose="02010509060101010101" pitchFamily="49" charset="-122"/>
              </a:defRPr>
            </a:lvl9pPr>
          </a:lstStyle>
          <a:p>
            <a:pPr eaLnBrk="1" latinLnBrk="1" hangingPunct="1"/>
            <a:r>
              <a:rPr lang="en-US" altLang="zh-CN" sz="18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rPr>
              <a:t>class Derived: public Base {</a:t>
            </a:r>
            <a:endParaRPr lang="zh-CN" altLang="en-US" sz="18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endParaRPr>
          </a:p>
          <a:p>
            <a:pPr eaLnBrk="1" latinLnBrk="1" hangingPunct="1"/>
            <a:r>
              <a:rPr lang="en-US" altLang="zh-CN" sz="18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rPr>
              <a:t>public:</a:t>
            </a:r>
            <a:endParaRPr lang="zh-CN" altLang="en-US" sz="18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endParaRPr>
          </a:p>
          <a:p>
            <a:pPr eaLnBrk="1" latinLnBrk="1" hangingPunct="1"/>
            <a:r>
              <a:rPr lang="en-US" altLang="zh-CN" sz="18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rPr>
              <a:t>	virtual void f(); //</a:t>
            </a:r>
            <a:r>
              <a:rPr lang="zh-CN" altLang="en-US" sz="18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rPr>
              <a:t>覆盖</a:t>
            </a:r>
            <a:r>
              <a:rPr lang="en-US" altLang="zh-CN" sz="18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rPr>
              <a:t>Base::f</a:t>
            </a:r>
            <a:endParaRPr lang="zh-CN" altLang="en-US" sz="18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endParaRPr>
          </a:p>
          <a:p>
            <a:pPr eaLnBrk="1" latinLnBrk="1" hangingPunct="1"/>
            <a:r>
              <a:rPr lang="en-US" altLang="zh-CN" sz="18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rPr>
              <a:t>	virtual void h(); //</a:t>
            </a:r>
            <a:r>
              <a:rPr lang="zh-CN" altLang="en-US" sz="18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rPr>
              <a:t>新增的虚函数</a:t>
            </a:r>
          </a:p>
          <a:p>
            <a:pPr eaLnBrk="1" latinLnBrk="1" hangingPunct="1"/>
            <a:r>
              <a:rPr lang="en-US" altLang="zh-CN" sz="18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rPr>
              <a:t>private:</a:t>
            </a:r>
            <a:endParaRPr lang="zh-CN" altLang="en-US" sz="18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endParaRPr>
          </a:p>
          <a:p>
            <a:pPr eaLnBrk="1" latinLnBrk="1" hangingPunct="1"/>
            <a:r>
              <a:rPr lang="en-US" altLang="zh-CN" sz="18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rPr>
              <a:t>	int j;</a:t>
            </a:r>
            <a:endParaRPr lang="zh-CN" altLang="en-US" sz="18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endParaRPr>
          </a:p>
          <a:p>
            <a:pPr eaLnBrk="1" latinLnBrk="1" hangingPunct="1"/>
            <a:r>
              <a:rPr lang="en-US" altLang="zh-CN" sz="18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rPr>
              <a:t>};</a:t>
            </a:r>
            <a:endParaRPr lang="zh-CN" altLang="en-US" sz="18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2" name="灯片编号占位符 1">
            <a:extLst>
              <a:ext uri="{FF2B5EF4-FFF2-40B4-BE49-F238E27FC236}">
                <a16:creationId xmlns:a16="http://schemas.microsoft.com/office/drawing/2014/main" id="{1C125210-288E-4D4B-AF3F-CE474AA7D3B7}"/>
              </a:ext>
            </a:extLst>
          </p:cNvPr>
          <p:cNvSpPr>
            <a:spLocks noGrp="1"/>
          </p:cNvSpPr>
          <p:nvPr>
            <p:ph type="sldNum" sz="quarter" idx="4"/>
          </p:nvPr>
        </p:nvSpPr>
        <p:spPr/>
        <p:txBody>
          <a:bodyPr/>
          <a:lstStyle/>
          <a:p>
            <a:fld id="{C42A670E-4250-4C14-8323-982480E0B347}" type="slidenum">
              <a:rPr lang="zh-CN" altLang="en-US" smtClean="0"/>
              <a:pPr/>
              <a:t>36</a:t>
            </a:fld>
            <a:endParaRPr lang="zh-CN" altLang="en-US"/>
          </a:p>
        </p:txBody>
      </p:sp>
    </p:spTree>
    <p:extLst>
      <p:ext uri="{BB962C8B-B14F-4D97-AF65-F5344CB8AC3E}">
        <p14:creationId xmlns:p14="http://schemas.microsoft.com/office/powerpoint/2010/main" val="10931734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609600" y="981075"/>
            <a:ext cx="10975975" cy="719138"/>
          </a:xfrm>
        </p:spPr>
        <p:txBody>
          <a:bodyPr/>
          <a:lstStyle/>
          <a:p>
            <a:r>
              <a:rPr lang="en-US" altLang="zh-CN"/>
              <a:t>virtual </a:t>
            </a:r>
            <a:r>
              <a:rPr lang="zh-CN" altLang="en-US"/>
              <a:t>关键字</a:t>
            </a:r>
          </a:p>
        </p:txBody>
      </p:sp>
      <p:sp>
        <p:nvSpPr>
          <p:cNvPr id="40963" name="内容占位符 2"/>
          <p:cNvSpPr>
            <a:spLocks noGrp="1"/>
          </p:cNvSpPr>
          <p:nvPr>
            <p:ph idx="1"/>
          </p:nvPr>
        </p:nvSpPr>
        <p:spPr>
          <a:xfrm>
            <a:off x="609599" y="1628775"/>
            <a:ext cx="10975975" cy="4945063"/>
          </a:xfrm>
        </p:spPr>
        <p:txBody>
          <a:bodyPr/>
          <a:lstStyle/>
          <a:p>
            <a:r>
              <a:rPr lang="zh-CN" altLang="en-US" sz="2400"/>
              <a:t>派生类可以不显式地用</a:t>
            </a:r>
            <a:r>
              <a:rPr lang="en-US" altLang="zh-CN" sz="2400"/>
              <a:t>virtual</a:t>
            </a:r>
            <a:r>
              <a:rPr lang="zh-CN" altLang="en-US" sz="2400"/>
              <a:t>声明虚函数，这时系统就会用以下规则来判断派生类的一个函数成员是不是虚函数：</a:t>
            </a:r>
          </a:p>
          <a:p>
            <a:pPr lvl="1"/>
            <a:r>
              <a:rPr lang="zh-CN" altLang="en-US" sz="2200"/>
              <a:t>该函数是否与基类的被覆盖的虚函数有相同的名称、参数个数及对应参数类型、</a:t>
            </a:r>
            <a:r>
              <a:rPr lang="en-US" altLang="zh-CN" sz="2200"/>
              <a:t>cv</a:t>
            </a:r>
            <a:r>
              <a:rPr lang="zh-CN" altLang="en-US" sz="2200"/>
              <a:t>限定符（是否</a:t>
            </a:r>
            <a:r>
              <a:rPr lang="en-US" altLang="zh-CN" sz="2200"/>
              <a:t>const</a:t>
            </a:r>
            <a:r>
              <a:rPr lang="zh-CN" altLang="en-US" sz="2200"/>
              <a:t>）、引用限定符（</a:t>
            </a:r>
            <a:r>
              <a:rPr lang="en-US" altLang="zh-CN" sz="2200"/>
              <a:t>&amp;</a:t>
            </a:r>
            <a:r>
              <a:rPr lang="zh-CN" altLang="en-US" sz="2200"/>
              <a:t>或</a:t>
            </a:r>
            <a:r>
              <a:rPr lang="en-US" altLang="zh-CN" sz="2200"/>
              <a:t>&amp;&amp;</a:t>
            </a:r>
            <a:r>
              <a:rPr lang="zh-CN" altLang="en-US" sz="2200"/>
              <a:t>，本课程不介绍）；</a:t>
            </a:r>
          </a:p>
          <a:p>
            <a:pPr lvl="1"/>
            <a:r>
              <a:rPr lang="zh-CN" altLang="en-US" sz="2200"/>
              <a:t>该函数的返回值类型是否与基类被覆盖的虚函数返回值类型相同， 或者可以隐含转换为基类被覆盖的的虚函数的返回值类型；</a:t>
            </a:r>
          </a:p>
          <a:p>
            <a:r>
              <a:rPr lang="zh-CN" altLang="en-US" sz="2400"/>
              <a:t>如果派生类的函数满足上述条件，就会自动确定为虚函数。这时，派生类的虚函数便覆盖了基类的虚函数。</a:t>
            </a:r>
            <a:endParaRPr lang="en-US" altLang="zh-CN" sz="2400"/>
          </a:p>
          <a:p>
            <a:r>
              <a:rPr lang="zh-CN" altLang="en-US" sz="2400"/>
              <a:t>派生类中的虚函数还会隐藏基类中同名函数的所有其它重载形式。</a:t>
            </a:r>
          </a:p>
          <a:p>
            <a:r>
              <a:rPr lang="zh-CN" altLang="en-US" sz="2400"/>
              <a:t>一般习惯于在派生类的函数中也使用</a:t>
            </a:r>
            <a:r>
              <a:rPr lang="en-US" altLang="zh-CN" sz="2400"/>
              <a:t>virtual</a:t>
            </a:r>
            <a:r>
              <a:rPr lang="zh-CN" altLang="en-US" sz="2400"/>
              <a:t>关键字，以增加程序的可读性。</a:t>
            </a:r>
          </a:p>
        </p:txBody>
      </p:sp>
      <p:sp>
        <p:nvSpPr>
          <p:cNvPr id="2" name="灯片编号占位符 1">
            <a:extLst>
              <a:ext uri="{FF2B5EF4-FFF2-40B4-BE49-F238E27FC236}">
                <a16:creationId xmlns:a16="http://schemas.microsoft.com/office/drawing/2014/main" id="{E7B6C41D-A7F7-42CE-B1A6-7D85474E5F1D}"/>
              </a:ext>
            </a:extLst>
          </p:cNvPr>
          <p:cNvSpPr>
            <a:spLocks noGrp="1"/>
          </p:cNvSpPr>
          <p:nvPr>
            <p:ph type="sldNum" sz="quarter" idx="4"/>
          </p:nvPr>
        </p:nvSpPr>
        <p:spPr/>
        <p:txBody>
          <a:bodyPr/>
          <a:lstStyle/>
          <a:p>
            <a:fld id="{C42A670E-4250-4C14-8323-982480E0B347}" type="slidenum">
              <a:rPr lang="zh-CN" altLang="en-US" smtClean="0"/>
              <a:pPr/>
              <a:t>37</a:t>
            </a:fld>
            <a:endParaRPr lang="zh-CN" altLang="en-US"/>
          </a:p>
        </p:txBody>
      </p:sp>
    </p:spTree>
    <p:extLst>
      <p:ext uri="{BB962C8B-B14F-4D97-AF65-F5344CB8AC3E}">
        <p14:creationId xmlns:p14="http://schemas.microsoft.com/office/powerpoint/2010/main" val="36039687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哪些成员函数可以是虚函数</a:t>
            </a:r>
          </a:p>
        </p:txBody>
      </p:sp>
      <p:sp>
        <p:nvSpPr>
          <p:cNvPr id="3" name="内容占位符 2"/>
          <p:cNvSpPr>
            <a:spLocks noGrp="1"/>
          </p:cNvSpPr>
          <p:nvPr>
            <p:ph idx="1"/>
          </p:nvPr>
        </p:nvSpPr>
        <p:spPr/>
        <p:txBody>
          <a:bodyPr/>
          <a:lstStyle/>
          <a:p>
            <a:r>
              <a:rPr lang="zh-CN" altLang="en-US"/>
              <a:t>一般非静态成员函数可以是虚函数</a:t>
            </a:r>
            <a:endParaRPr lang="en-US" altLang="zh-CN"/>
          </a:p>
          <a:p>
            <a:r>
              <a:rPr lang="zh-CN" altLang="en-US"/>
              <a:t>构造函数不能是虚函数</a:t>
            </a:r>
            <a:endParaRPr lang="en-US" altLang="zh-CN"/>
          </a:p>
          <a:p>
            <a:r>
              <a:rPr lang="zh-CN" altLang="en-US"/>
              <a:t>析构函数可以是虚函数</a:t>
            </a:r>
          </a:p>
        </p:txBody>
      </p:sp>
      <p:sp>
        <p:nvSpPr>
          <p:cNvPr id="4" name="灯片编号占位符 3">
            <a:extLst>
              <a:ext uri="{FF2B5EF4-FFF2-40B4-BE49-F238E27FC236}">
                <a16:creationId xmlns:a16="http://schemas.microsoft.com/office/drawing/2014/main" id="{E64576DB-8970-4FD0-8C2D-F228B7EC2F96}"/>
              </a:ext>
            </a:extLst>
          </p:cNvPr>
          <p:cNvSpPr>
            <a:spLocks noGrp="1"/>
          </p:cNvSpPr>
          <p:nvPr>
            <p:ph type="sldNum" sz="quarter" idx="4"/>
          </p:nvPr>
        </p:nvSpPr>
        <p:spPr/>
        <p:txBody>
          <a:bodyPr/>
          <a:lstStyle/>
          <a:p>
            <a:fld id="{C42A670E-4250-4C14-8323-982480E0B347}" type="slidenum">
              <a:rPr lang="zh-CN" altLang="en-US" smtClean="0"/>
              <a:pPr/>
              <a:t>38</a:t>
            </a:fld>
            <a:endParaRPr lang="zh-CN" altLang="en-US"/>
          </a:p>
        </p:txBody>
      </p:sp>
    </p:spTree>
    <p:extLst>
      <p:ext uri="{BB962C8B-B14F-4D97-AF65-F5344CB8AC3E}">
        <p14:creationId xmlns:p14="http://schemas.microsoft.com/office/powerpoint/2010/main" val="35665675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609600" y="1412875"/>
            <a:ext cx="5775325" cy="590550"/>
          </a:xfrm>
        </p:spPr>
        <p:txBody>
          <a:bodyPr/>
          <a:lstStyle/>
          <a:p>
            <a:pPr eaLnBrk="1" hangingPunct="1"/>
            <a:r>
              <a:rPr lang="zh-CN" altLang="en-US" dirty="0">
                <a:solidFill>
                  <a:srgbClr val="003399"/>
                </a:solidFill>
              </a:rPr>
              <a:t>一般虚函数成员</a:t>
            </a:r>
          </a:p>
        </p:txBody>
      </p:sp>
      <p:sp>
        <p:nvSpPr>
          <p:cNvPr id="36867" name="内容占位符 2"/>
          <p:cNvSpPr>
            <a:spLocks noGrp="1"/>
          </p:cNvSpPr>
          <p:nvPr>
            <p:ph idx="1"/>
          </p:nvPr>
        </p:nvSpPr>
        <p:spPr>
          <a:xfrm>
            <a:off x="609599" y="2276475"/>
            <a:ext cx="11032603" cy="4176713"/>
          </a:xfrm>
        </p:spPr>
        <p:txBody>
          <a:bodyPr/>
          <a:lstStyle/>
          <a:p>
            <a:pPr eaLnBrk="1" hangingPunct="1">
              <a:spcBef>
                <a:spcPts val="1200"/>
              </a:spcBef>
            </a:pPr>
            <a:r>
              <a:rPr lang="zh-CN" altLang="en-US" sz="2400"/>
              <a:t>虚函数的声明</a:t>
            </a:r>
            <a:endParaRPr lang="en-US" altLang="zh-CN" sz="2400"/>
          </a:p>
          <a:p>
            <a:pPr lvl="1" eaLnBrk="1" hangingPunct="1">
              <a:spcBef>
                <a:spcPts val="1200"/>
              </a:spcBef>
              <a:buFont typeface="Georgia" panose="02040502050405020303" pitchFamily="18" charset="0"/>
              <a:buNone/>
            </a:pPr>
            <a:r>
              <a:rPr lang="en-US" altLang="zh-CN" sz="2000">
                <a:ea typeface="宋体" panose="02010600030101010101" pitchFamily="2" charset="-122"/>
              </a:rPr>
              <a:t>	</a:t>
            </a:r>
            <a:r>
              <a:rPr lang="en-US" altLang="zh-CN" sz="2200"/>
              <a:t>virtual </a:t>
            </a:r>
            <a:r>
              <a:rPr lang="zh-CN" altLang="en-US" sz="2200"/>
              <a:t>函数类型 函数名（形参表）</a:t>
            </a:r>
            <a:r>
              <a:rPr lang="en-US" altLang="zh-CN" sz="2200"/>
              <a:t>;</a:t>
            </a:r>
            <a:endParaRPr lang="zh-CN" altLang="en-US" sz="2200"/>
          </a:p>
          <a:p>
            <a:pPr eaLnBrk="1" hangingPunct="1">
              <a:spcBef>
                <a:spcPts val="1200"/>
              </a:spcBef>
            </a:pPr>
            <a:r>
              <a:rPr lang="zh-CN" altLang="en-US" sz="2400"/>
              <a:t>虚函数声明只能出现在类定义中的函数原型声明中，而不能在成员函数实现的时候。</a:t>
            </a:r>
          </a:p>
          <a:p>
            <a:pPr eaLnBrk="1" hangingPunct="1">
              <a:spcBef>
                <a:spcPts val="1200"/>
              </a:spcBef>
            </a:pPr>
            <a:r>
              <a:rPr lang="zh-CN" altLang="en-US" sz="2400"/>
              <a:t>在派生类中可以对基类中的成员函数进行覆盖。</a:t>
            </a:r>
            <a:endParaRPr lang="en-US" altLang="zh-CN" sz="2400"/>
          </a:p>
          <a:p>
            <a:pPr eaLnBrk="1" hangingPunct="1">
              <a:spcBef>
                <a:spcPts val="1200"/>
              </a:spcBef>
            </a:pPr>
            <a:r>
              <a:rPr lang="zh-CN" altLang="en-US" sz="2400"/>
              <a:t>虚函数一般不声明为内联函数，因为对虚函数的调用需要动态绑定，而对内联函数的处理是静态的。</a:t>
            </a:r>
            <a:endParaRPr lang="en-US" altLang="zh-CN" sz="2400"/>
          </a:p>
        </p:txBody>
      </p:sp>
      <p:sp>
        <p:nvSpPr>
          <p:cNvPr id="2" name="灯片编号占位符 1">
            <a:extLst>
              <a:ext uri="{FF2B5EF4-FFF2-40B4-BE49-F238E27FC236}">
                <a16:creationId xmlns:a16="http://schemas.microsoft.com/office/drawing/2014/main" id="{A14FE8C6-A8F6-42F0-BBC8-FAEC7ACC26FD}"/>
              </a:ext>
            </a:extLst>
          </p:cNvPr>
          <p:cNvSpPr>
            <a:spLocks noGrp="1"/>
          </p:cNvSpPr>
          <p:nvPr>
            <p:ph type="sldNum" sz="quarter" idx="4"/>
          </p:nvPr>
        </p:nvSpPr>
        <p:spPr/>
        <p:txBody>
          <a:bodyPr/>
          <a:lstStyle/>
          <a:p>
            <a:fld id="{C42A670E-4250-4C14-8323-982480E0B347}" type="slidenum">
              <a:rPr lang="zh-CN" altLang="en-US" smtClean="0"/>
              <a:pPr/>
              <a:t>39</a:t>
            </a:fld>
            <a:endParaRPr lang="zh-CN" altLang="en-US"/>
          </a:p>
        </p:txBody>
      </p:sp>
    </p:spTree>
    <p:extLst>
      <p:ext uri="{BB962C8B-B14F-4D97-AF65-F5344CB8AC3E}">
        <p14:creationId xmlns:p14="http://schemas.microsoft.com/office/powerpoint/2010/main" val="6098725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609600" y="1341438"/>
            <a:ext cx="4479925" cy="588962"/>
          </a:xfrm>
        </p:spPr>
        <p:txBody>
          <a:bodyPr/>
          <a:lstStyle/>
          <a:p>
            <a:pPr eaLnBrk="1" hangingPunct="1"/>
            <a:r>
              <a:rPr lang="zh-CN" altLang="en-US" dirty="0">
                <a:solidFill>
                  <a:srgbClr val="003399"/>
                </a:solidFill>
              </a:rPr>
              <a:t>虚析构函数</a:t>
            </a:r>
          </a:p>
        </p:txBody>
      </p:sp>
      <p:sp>
        <p:nvSpPr>
          <p:cNvPr id="41987" name="内容占位符 2"/>
          <p:cNvSpPr>
            <a:spLocks noGrp="1"/>
          </p:cNvSpPr>
          <p:nvPr>
            <p:ph idx="1"/>
          </p:nvPr>
        </p:nvSpPr>
        <p:spPr>
          <a:xfrm>
            <a:off x="609600" y="2276475"/>
            <a:ext cx="10888587" cy="3673475"/>
          </a:xfrm>
        </p:spPr>
        <p:txBody>
          <a:bodyPr/>
          <a:lstStyle/>
          <a:p>
            <a:pPr eaLnBrk="1" hangingPunct="1">
              <a:lnSpc>
                <a:spcPct val="150000"/>
              </a:lnSpc>
              <a:buFont typeface="Georgia" panose="02040502050405020303" pitchFamily="18" charset="0"/>
              <a:buNone/>
            </a:pPr>
            <a:r>
              <a:rPr lang="zh-CN" altLang="en-US" sz="2800"/>
              <a:t>为什么需要虚析构函数？</a:t>
            </a:r>
          </a:p>
          <a:p>
            <a:pPr eaLnBrk="1" hangingPunct="1">
              <a:lnSpc>
                <a:spcPct val="150000"/>
              </a:lnSpc>
            </a:pPr>
            <a:r>
              <a:rPr lang="zh-CN" altLang="en-US" sz="2400"/>
              <a:t>可能通过基类指针删除派生类对象；</a:t>
            </a:r>
          </a:p>
        </p:txBody>
      </p:sp>
      <p:sp>
        <p:nvSpPr>
          <p:cNvPr id="2" name="灯片编号占位符 1">
            <a:extLst>
              <a:ext uri="{FF2B5EF4-FFF2-40B4-BE49-F238E27FC236}">
                <a16:creationId xmlns:a16="http://schemas.microsoft.com/office/drawing/2014/main" id="{68BF1DE8-F862-4D5A-9E52-30C8929D0134}"/>
              </a:ext>
            </a:extLst>
          </p:cNvPr>
          <p:cNvSpPr>
            <a:spLocks noGrp="1"/>
          </p:cNvSpPr>
          <p:nvPr>
            <p:ph type="sldNum" sz="quarter" idx="4"/>
          </p:nvPr>
        </p:nvSpPr>
        <p:spPr/>
        <p:txBody>
          <a:bodyPr/>
          <a:lstStyle/>
          <a:p>
            <a:fld id="{C42A670E-4250-4C14-8323-982480E0B347}" type="slidenum">
              <a:rPr lang="zh-CN" altLang="en-US" smtClean="0"/>
              <a:pPr/>
              <a:t>40</a:t>
            </a:fld>
            <a:endParaRPr lang="zh-CN" altLang="en-US"/>
          </a:p>
        </p:txBody>
      </p:sp>
    </p:spTree>
    <p:extLst>
      <p:ext uri="{BB962C8B-B14F-4D97-AF65-F5344CB8AC3E}">
        <p14:creationId xmlns:p14="http://schemas.microsoft.com/office/powerpoint/2010/main" val="34319901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870"/>
            <a:ext cx="12195176"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标题 1"/>
          <p:cNvSpPr txBox="1">
            <a:spLocks/>
          </p:cNvSpPr>
          <p:nvPr/>
        </p:nvSpPr>
        <p:spPr bwMode="auto">
          <a:xfrm>
            <a:off x="2929235" y="72107"/>
            <a:ext cx="9145016"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微软雅黑" pitchFamily="34" charset="-122"/>
                <a:ea typeface="微软雅黑" pitchFamily="34" charset="-122"/>
                <a:cs typeface="+mj-cs"/>
              </a:defRPr>
            </a:lvl1pPr>
            <a:lvl2pPr algn="l" rtl="0" eaLnBrk="0" fontAlgn="base" hangingPunct="0">
              <a:spcBef>
                <a:spcPct val="0"/>
              </a:spcBef>
              <a:spcAft>
                <a:spcPct val="0"/>
              </a:spcAft>
              <a:defRPr sz="4000">
                <a:solidFill>
                  <a:schemeClr val="tx2"/>
                </a:solidFill>
                <a:latin typeface="微软雅黑" pitchFamily="34" charset="-122"/>
                <a:ea typeface="微软雅黑" pitchFamily="34" charset="-122"/>
              </a:defRPr>
            </a:lvl2pPr>
            <a:lvl3pPr algn="l" rtl="0" eaLnBrk="0" fontAlgn="base" hangingPunct="0">
              <a:spcBef>
                <a:spcPct val="0"/>
              </a:spcBef>
              <a:spcAft>
                <a:spcPct val="0"/>
              </a:spcAft>
              <a:defRPr sz="4000">
                <a:solidFill>
                  <a:schemeClr val="tx2"/>
                </a:solidFill>
                <a:latin typeface="微软雅黑" pitchFamily="34" charset="-122"/>
                <a:ea typeface="微软雅黑" pitchFamily="34" charset="-122"/>
              </a:defRPr>
            </a:lvl3pPr>
            <a:lvl4pPr algn="l" rtl="0" eaLnBrk="0" fontAlgn="base" hangingPunct="0">
              <a:spcBef>
                <a:spcPct val="0"/>
              </a:spcBef>
              <a:spcAft>
                <a:spcPct val="0"/>
              </a:spcAft>
              <a:defRPr sz="4000">
                <a:solidFill>
                  <a:schemeClr val="tx2"/>
                </a:solidFill>
                <a:latin typeface="微软雅黑" pitchFamily="34" charset="-122"/>
                <a:ea typeface="微软雅黑" pitchFamily="34" charset="-122"/>
              </a:defRPr>
            </a:lvl4pPr>
            <a:lvl5pPr algn="l" rtl="0" eaLnBrk="0" fontAlgn="base" hangingPunct="0">
              <a:spcBef>
                <a:spcPct val="0"/>
              </a:spcBef>
              <a:spcAft>
                <a:spcPct val="0"/>
              </a:spcAft>
              <a:defRPr sz="4000">
                <a:solidFill>
                  <a:schemeClr val="tx2"/>
                </a:solidFill>
                <a:latin typeface="微软雅黑" pitchFamily="34" charset="-122"/>
                <a:ea typeface="微软雅黑" pitchFamily="34" charset="-122"/>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a:lstStyle>
          <a:p>
            <a:pPr eaLnBrk="1" hangingPunct="1"/>
            <a:r>
              <a:rPr lang="zh-CN" altLang="en-US" sz="3600" dirty="0">
                <a:solidFill>
                  <a:schemeClr val="tx1"/>
                </a:solidFill>
              </a:rPr>
              <a:t>例</a:t>
            </a:r>
            <a:r>
              <a:rPr lang="en-US" altLang="zh-CN" sz="3600" dirty="0">
                <a:solidFill>
                  <a:schemeClr val="tx1"/>
                </a:solidFill>
              </a:rPr>
              <a:t>8-5 </a:t>
            </a:r>
            <a:r>
              <a:rPr lang="zh-CN" altLang="en-US" sz="3600" dirty="0">
                <a:solidFill>
                  <a:schemeClr val="tx1"/>
                </a:solidFill>
              </a:rPr>
              <a:t>虚析构函数举例</a:t>
            </a:r>
          </a:p>
        </p:txBody>
      </p:sp>
      <p:sp>
        <p:nvSpPr>
          <p:cNvPr id="3" name="内容占位符 2"/>
          <p:cNvSpPr>
            <a:spLocks noGrp="1"/>
          </p:cNvSpPr>
          <p:nvPr>
            <p:ph idx="1"/>
          </p:nvPr>
        </p:nvSpPr>
        <p:spPr>
          <a:xfrm>
            <a:off x="285750" y="1412875"/>
            <a:ext cx="5526088" cy="5160963"/>
          </a:xfrm>
        </p:spPr>
        <p:txBody>
          <a:bodyPr>
            <a:noAutofit/>
          </a:bodyPr>
          <a:lstStyle/>
          <a:p>
            <a:pPr marL="365760" indent="-256032" eaLnBrk="1" fontAlgn="auto" hangingPunct="1">
              <a:spcBef>
                <a:spcPts val="0"/>
              </a:spcBef>
              <a:spcAft>
                <a:spcPts val="0"/>
              </a:spcAft>
              <a:buClr>
                <a:schemeClr val="accent3"/>
              </a:buClr>
              <a:buFont typeface="Georgia"/>
              <a:buNone/>
              <a:defRPr/>
            </a:pPr>
            <a:r>
              <a:rPr lang="en-US" altLang="zh-CN" sz="2000" dirty="0"/>
              <a:t>#include &lt;</a:t>
            </a:r>
            <a:r>
              <a:rPr lang="en-US" altLang="zh-CN" sz="2000" dirty="0" err="1"/>
              <a:t>iostream</a:t>
            </a:r>
            <a:r>
              <a:rPr lang="en-US" altLang="zh-CN" sz="2000" dirty="0"/>
              <a:t>&gt;</a:t>
            </a:r>
          </a:p>
          <a:p>
            <a:pPr marL="365760" indent="-256032" eaLnBrk="1" fontAlgn="auto" hangingPunct="1">
              <a:spcBef>
                <a:spcPts val="0"/>
              </a:spcBef>
              <a:spcAft>
                <a:spcPts val="0"/>
              </a:spcAft>
              <a:buClr>
                <a:schemeClr val="accent3"/>
              </a:buClr>
              <a:buFont typeface="Georgia"/>
              <a:buNone/>
              <a:defRPr/>
            </a:pPr>
            <a:r>
              <a:rPr lang="en-US" altLang="zh-CN" sz="2000" dirty="0"/>
              <a:t>using namespace </a:t>
            </a:r>
            <a:r>
              <a:rPr lang="en-US" altLang="zh-CN" sz="2000" dirty="0" err="1"/>
              <a:t>std</a:t>
            </a:r>
            <a:r>
              <a:rPr lang="en-US" altLang="zh-CN" sz="2000" dirty="0"/>
              <a:t>; </a:t>
            </a:r>
          </a:p>
          <a:p>
            <a:pPr marL="365760" indent="-256032" eaLnBrk="1" fontAlgn="auto" hangingPunct="1">
              <a:spcBef>
                <a:spcPts val="0"/>
              </a:spcBef>
              <a:spcAft>
                <a:spcPts val="0"/>
              </a:spcAft>
              <a:buClr>
                <a:schemeClr val="accent3"/>
              </a:buClr>
              <a:buFont typeface="Georgia"/>
              <a:buNone/>
              <a:defRPr/>
            </a:pPr>
            <a:r>
              <a:rPr lang="en-US" altLang="zh-CN" sz="2000" dirty="0"/>
              <a:t>class Base {</a:t>
            </a:r>
          </a:p>
          <a:p>
            <a:pPr marL="365760" indent="-256032" eaLnBrk="1" fontAlgn="auto" hangingPunct="1">
              <a:spcBef>
                <a:spcPts val="0"/>
              </a:spcBef>
              <a:spcAft>
                <a:spcPts val="0"/>
              </a:spcAft>
              <a:buClr>
                <a:schemeClr val="accent3"/>
              </a:buClr>
              <a:buFont typeface="Georgia"/>
              <a:buNone/>
              <a:defRPr/>
            </a:pPr>
            <a:r>
              <a:rPr lang="en-US" altLang="zh-CN" sz="2000" dirty="0"/>
              <a:t>public:</a:t>
            </a:r>
          </a:p>
          <a:p>
            <a:pPr marL="365760" indent="-256032" eaLnBrk="1" fontAlgn="auto" hangingPunct="1">
              <a:spcBef>
                <a:spcPts val="0"/>
              </a:spcBef>
              <a:spcAft>
                <a:spcPts val="0"/>
              </a:spcAft>
              <a:buClr>
                <a:schemeClr val="accent3"/>
              </a:buClr>
              <a:buFont typeface="Georgia"/>
              <a:buNone/>
              <a:defRPr/>
            </a:pPr>
            <a:r>
              <a:rPr lang="en-US" altLang="zh-CN" sz="2000" dirty="0"/>
              <a:t>	</a:t>
            </a:r>
            <a:r>
              <a:rPr lang="en-US" altLang="zh-CN" sz="2000" dirty="0">
                <a:solidFill>
                  <a:srgbClr val="FF0000"/>
                </a:solidFill>
              </a:rPr>
              <a:t>~Base(); //</a:t>
            </a:r>
            <a:r>
              <a:rPr lang="zh-CN" altLang="en-US" sz="2000" dirty="0">
                <a:solidFill>
                  <a:srgbClr val="FF0000"/>
                </a:solidFill>
              </a:rPr>
              <a:t>不是虚函数</a:t>
            </a:r>
            <a:endParaRPr lang="en-US" altLang="zh-CN" sz="2000" dirty="0">
              <a:solidFill>
                <a:srgbClr val="FF0000"/>
              </a:solidFill>
            </a:endParaRPr>
          </a:p>
          <a:p>
            <a:pPr marL="365760" indent="-256032" eaLnBrk="1" fontAlgn="auto" hangingPunct="1">
              <a:spcBef>
                <a:spcPts val="0"/>
              </a:spcBef>
              <a:spcAft>
                <a:spcPts val="0"/>
              </a:spcAft>
              <a:buClr>
                <a:schemeClr val="accent3"/>
              </a:buClr>
              <a:buFont typeface="Georgia"/>
              <a:buNone/>
              <a:defRPr/>
            </a:pPr>
            <a:r>
              <a:rPr lang="en-US" altLang="zh-CN" sz="2000" dirty="0"/>
              <a:t>};</a:t>
            </a:r>
          </a:p>
          <a:p>
            <a:pPr marL="365760" indent="-256032" eaLnBrk="1" fontAlgn="auto" hangingPunct="1">
              <a:spcBef>
                <a:spcPts val="0"/>
              </a:spcBef>
              <a:spcAft>
                <a:spcPts val="0"/>
              </a:spcAft>
              <a:buClr>
                <a:schemeClr val="accent3"/>
              </a:buClr>
              <a:buFont typeface="Georgia"/>
              <a:buNone/>
              <a:defRPr/>
            </a:pPr>
            <a:r>
              <a:rPr lang="en-US" altLang="zh-CN" sz="2000" dirty="0"/>
              <a:t>Base::~Base() {</a:t>
            </a:r>
          </a:p>
          <a:p>
            <a:pPr marL="365760" indent="-256032" eaLnBrk="1" fontAlgn="auto" hangingPunct="1">
              <a:spcBef>
                <a:spcPts val="0"/>
              </a:spcBef>
              <a:spcAft>
                <a:spcPts val="0"/>
              </a:spcAft>
              <a:buClr>
                <a:schemeClr val="accent3"/>
              </a:buClr>
              <a:buFont typeface="Georgia"/>
              <a:buNone/>
              <a:defRPr/>
            </a:pPr>
            <a:r>
              <a:rPr lang="en-US" altLang="zh-CN" sz="2000" dirty="0"/>
              <a:t>	</a:t>
            </a:r>
            <a:r>
              <a:rPr lang="en-US" altLang="zh-CN" sz="2000" dirty="0" err="1"/>
              <a:t>cout</a:t>
            </a:r>
            <a:r>
              <a:rPr lang="en-US" altLang="zh-CN" sz="2000" dirty="0"/>
              <a:t>&lt;&lt; "Base destructor" &lt;&lt; </a:t>
            </a:r>
            <a:r>
              <a:rPr lang="en-US" altLang="zh-CN" sz="2000" dirty="0" err="1"/>
              <a:t>endl</a:t>
            </a:r>
            <a:r>
              <a:rPr lang="en-US" altLang="zh-CN" sz="2000" dirty="0"/>
              <a:t>;</a:t>
            </a:r>
          </a:p>
          <a:p>
            <a:pPr marL="365760" indent="-256032" eaLnBrk="1" fontAlgn="auto" hangingPunct="1">
              <a:spcBef>
                <a:spcPts val="0"/>
              </a:spcBef>
              <a:spcAft>
                <a:spcPts val="0"/>
              </a:spcAft>
              <a:buClr>
                <a:schemeClr val="accent3"/>
              </a:buClr>
              <a:buFont typeface="Georgia"/>
              <a:buNone/>
              <a:defRPr/>
            </a:pPr>
            <a:r>
              <a:rPr lang="en-US" altLang="zh-CN" sz="2000" dirty="0"/>
              <a:t> }</a:t>
            </a:r>
          </a:p>
          <a:p>
            <a:pPr marL="365760" indent="-256032" eaLnBrk="1" fontAlgn="auto" hangingPunct="1">
              <a:spcBef>
                <a:spcPts val="0"/>
              </a:spcBef>
              <a:spcAft>
                <a:spcPts val="0"/>
              </a:spcAft>
              <a:buClr>
                <a:schemeClr val="accent3"/>
              </a:buClr>
              <a:buFont typeface="Georgia"/>
              <a:buNone/>
              <a:defRPr/>
            </a:pPr>
            <a:r>
              <a:rPr lang="en-US" altLang="zh-CN" sz="2000" dirty="0"/>
              <a:t>class Derived: public Base{</a:t>
            </a:r>
          </a:p>
          <a:p>
            <a:pPr marL="365760" indent="-256032" eaLnBrk="1" fontAlgn="auto" hangingPunct="1">
              <a:spcBef>
                <a:spcPts val="0"/>
              </a:spcBef>
              <a:spcAft>
                <a:spcPts val="0"/>
              </a:spcAft>
              <a:buClr>
                <a:schemeClr val="accent3"/>
              </a:buClr>
              <a:buFont typeface="Georgia"/>
              <a:buNone/>
              <a:defRPr/>
            </a:pPr>
            <a:r>
              <a:rPr lang="en-US" altLang="zh-CN" sz="2000" dirty="0"/>
              <a:t>public:</a:t>
            </a:r>
          </a:p>
          <a:p>
            <a:pPr marL="365760" indent="-256032" eaLnBrk="1" fontAlgn="auto" hangingPunct="1">
              <a:spcBef>
                <a:spcPts val="0"/>
              </a:spcBef>
              <a:spcAft>
                <a:spcPts val="0"/>
              </a:spcAft>
              <a:buClr>
                <a:schemeClr val="accent3"/>
              </a:buClr>
              <a:buFont typeface="Georgia"/>
              <a:buNone/>
              <a:defRPr/>
            </a:pPr>
            <a:r>
              <a:rPr lang="en-US" altLang="zh-CN" sz="2000" dirty="0"/>
              <a:t>	Derived();</a:t>
            </a:r>
          </a:p>
          <a:p>
            <a:pPr marL="365760" indent="-256032" eaLnBrk="1" fontAlgn="auto" hangingPunct="1">
              <a:spcBef>
                <a:spcPts val="0"/>
              </a:spcBef>
              <a:spcAft>
                <a:spcPts val="0"/>
              </a:spcAft>
              <a:buClr>
                <a:schemeClr val="accent3"/>
              </a:buClr>
              <a:buFont typeface="Georgia"/>
              <a:buNone/>
              <a:defRPr/>
            </a:pPr>
            <a:r>
              <a:rPr lang="en-US" altLang="zh-CN" sz="2000" dirty="0"/>
              <a:t>	</a:t>
            </a:r>
            <a:r>
              <a:rPr lang="en-US" altLang="zh-CN" sz="2000" dirty="0">
                <a:solidFill>
                  <a:srgbClr val="0070C0"/>
                </a:solidFill>
              </a:rPr>
              <a:t>~Derived(); //</a:t>
            </a:r>
            <a:r>
              <a:rPr lang="zh-CN" altLang="en-US" sz="2000" dirty="0">
                <a:solidFill>
                  <a:srgbClr val="0070C0"/>
                </a:solidFill>
              </a:rPr>
              <a:t>不是虚函数</a:t>
            </a:r>
            <a:endParaRPr lang="en-US" altLang="zh-CN" sz="2000" dirty="0">
              <a:solidFill>
                <a:srgbClr val="0070C0"/>
              </a:solidFill>
            </a:endParaRPr>
          </a:p>
          <a:p>
            <a:pPr latinLnBrk="1">
              <a:spcBef>
                <a:spcPts val="0"/>
              </a:spcBef>
              <a:buFont typeface="Georgia" panose="02040502050405020303" pitchFamily="18" charset="0"/>
              <a:buNone/>
              <a:defRPr/>
            </a:pPr>
            <a:r>
              <a:rPr lang="en-US" altLang="zh-CN" sz="2000" dirty="0"/>
              <a:t>private:</a:t>
            </a:r>
            <a:endParaRPr lang="zh-CN" altLang="en-US" sz="2000" dirty="0"/>
          </a:p>
          <a:p>
            <a:pPr latinLnBrk="1">
              <a:spcBef>
                <a:spcPts val="0"/>
              </a:spcBef>
              <a:buFont typeface="Georgia" panose="02040502050405020303" pitchFamily="18" charset="0"/>
              <a:buNone/>
              <a:defRPr/>
            </a:pPr>
            <a:r>
              <a:rPr lang="en-US" altLang="zh-CN" sz="2000" dirty="0"/>
              <a:t>	int *p;</a:t>
            </a:r>
            <a:endParaRPr lang="zh-CN" altLang="en-US" sz="2000" dirty="0"/>
          </a:p>
          <a:p>
            <a:pPr latinLnBrk="1">
              <a:spcBef>
                <a:spcPts val="0"/>
              </a:spcBef>
              <a:buFont typeface="Georgia" panose="02040502050405020303" pitchFamily="18" charset="0"/>
              <a:buNone/>
              <a:defRPr/>
            </a:pPr>
            <a:r>
              <a:rPr lang="en-US" altLang="zh-CN" sz="2000" dirty="0"/>
              <a:t>};</a:t>
            </a:r>
            <a:endParaRPr lang="zh-CN" altLang="en-US" sz="2000" dirty="0"/>
          </a:p>
        </p:txBody>
      </p:sp>
      <p:sp>
        <p:nvSpPr>
          <p:cNvPr id="43014" name="内容占位符 2"/>
          <p:cNvSpPr txBox="1">
            <a:spLocks/>
          </p:cNvSpPr>
          <p:nvPr/>
        </p:nvSpPr>
        <p:spPr bwMode="auto">
          <a:xfrm>
            <a:off x="5881688" y="1412875"/>
            <a:ext cx="6122987" cy="516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latinLnBrk="1" hangingPunct="1"/>
            <a:r>
              <a:rPr lang="en-US" altLang="zh-CN" sz="2000" dirty="0">
                <a:latin typeface="微软雅黑" panose="020B0503020204020204" pitchFamily="34" charset="-122"/>
                <a:ea typeface="微软雅黑" panose="020B0503020204020204" pitchFamily="34" charset="-122"/>
              </a:rPr>
              <a:t>Derived::Derived() {</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p = new int(0);</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Derived::~Derived() { </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cout</a:t>
            </a:r>
            <a:r>
              <a:rPr lang="en-US" altLang="zh-CN" sz="2000" dirty="0">
                <a:latin typeface="微软雅黑" panose="020B0503020204020204" pitchFamily="34" charset="-122"/>
                <a:ea typeface="微软雅黑" panose="020B0503020204020204" pitchFamily="34" charset="-122"/>
              </a:rPr>
              <a:t> &lt;&lt;  "Derived destructor" &lt;&lt; </a:t>
            </a:r>
            <a:r>
              <a:rPr lang="en-US" altLang="zh-CN" sz="2000" dirty="0" err="1">
                <a:latin typeface="微软雅黑" panose="020B0503020204020204" pitchFamily="34" charset="-122"/>
                <a:ea typeface="微软雅黑" panose="020B0503020204020204" pitchFamily="34" charset="-122"/>
              </a:rPr>
              <a:t>endl</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delete p;</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void fun(Base* b) {</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delete b; //</a:t>
            </a:r>
            <a:r>
              <a:rPr lang="zh-CN" altLang="en-US" sz="2000" dirty="0">
                <a:latin typeface="微软雅黑" panose="020B0503020204020204" pitchFamily="34" charset="-122"/>
                <a:ea typeface="微软雅黑" panose="020B0503020204020204" pitchFamily="34" charset="-122"/>
              </a:rPr>
              <a:t>静态绑定，只会调用</a:t>
            </a:r>
            <a:r>
              <a:rPr lang="en-US" altLang="zh-CN" sz="2000" dirty="0">
                <a:solidFill>
                  <a:srgbClr val="FF0000"/>
                </a:solidFill>
                <a:latin typeface="微软雅黑" panose="020B0503020204020204" pitchFamily="34" charset="-122"/>
                <a:ea typeface="微软雅黑" panose="020B0503020204020204" pitchFamily="34" charset="-122"/>
              </a:rPr>
              <a:t>~Base()</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int main() {</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Base *b = new Derived();</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fun(b);</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return 0;</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cxnSp>
        <p:nvCxnSpPr>
          <p:cNvPr id="8" name="直接连接符 7"/>
          <p:cNvCxnSpPr/>
          <p:nvPr/>
        </p:nvCxnSpPr>
        <p:spPr>
          <a:xfrm rot="5400000">
            <a:off x="3201988" y="4178300"/>
            <a:ext cx="4930775" cy="3175"/>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9991656" y="5990012"/>
            <a:ext cx="2108269" cy="707886"/>
          </a:xfrm>
          <a:prstGeom prst="rect">
            <a:avLst/>
          </a:prstGeom>
          <a:solidFill>
            <a:srgbClr val="FFFF00"/>
          </a:solidFill>
        </p:spPr>
        <p:txBody>
          <a:bodyPr wrap="none">
            <a:spAutoFit/>
          </a:bodyPr>
          <a:lstStyle/>
          <a:p>
            <a:pPr>
              <a:defRPr/>
            </a:pPr>
            <a:r>
              <a:rPr lang="zh-CN" altLang="en-US" sz="2000">
                <a:latin typeface="+mn-ea"/>
                <a:ea typeface="+mn-ea"/>
              </a:rPr>
              <a:t>运行结果：</a:t>
            </a:r>
            <a:endParaRPr lang="en-US" altLang="zh-CN" sz="2000">
              <a:latin typeface="+mn-ea"/>
              <a:ea typeface="+mn-ea"/>
            </a:endParaRPr>
          </a:p>
          <a:p>
            <a:pPr>
              <a:defRPr/>
            </a:pPr>
            <a:r>
              <a:rPr lang="en-US" altLang="zh-CN" sz="2000">
                <a:latin typeface="+mn-ea"/>
                <a:ea typeface="+mn-ea"/>
              </a:rPr>
              <a:t>Base destructor</a:t>
            </a:r>
            <a:endParaRPr lang="zh-CN" altLang="en-US" sz="2000">
              <a:latin typeface="+mn-ea"/>
              <a:ea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870"/>
            <a:ext cx="12195176"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标题 1"/>
          <p:cNvSpPr txBox="1">
            <a:spLocks/>
          </p:cNvSpPr>
          <p:nvPr/>
        </p:nvSpPr>
        <p:spPr bwMode="auto">
          <a:xfrm>
            <a:off x="2929235" y="72107"/>
            <a:ext cx="9145016"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微软雅黑" pitchFamily="34" charset="-122"/>
                <a:ea typeface="微软雅黑" pitchFamily="34" charset="-122"/>
                <a:cs typeface="+mj-cs"/>
              </a:defRPr>
            </a:lvl1pPr>
            <a:lvl2pPr algn="l" rtl="0" eaLnBrk="0" fontAlgn="base" hangingPunct="0">
              <a:spcBef>
                <a:spcPct val="0"/>
              </a:spcBef>
              <a:spcAft>
                <a:spcPct val="0"/>
              </a:spcAft>
              <a:defRPr sz="4000">
                <a:solidFill>
                  <a:schemeClr val="tx2"/>
                </a:solidFill>
                <a:latin typeface="微软雅黑" pitchFamily="34" charset="-122"/>
                <a:ea typeface="微软雅黑" pitchFamily="34" charset="-122"/>
              </a:defRPr>
            </a:lvl2pPr>
            <a:lvl3pPr algn="l" rtl="0" eaLnBrk="0" fontAlgn="base" hangingPunct="0">
              <a:spcBef>
                <a:spcPct val="0"/>
              </a:spcBef>
              <a:spcAft>
                <a:spcPct val="0"/>
              </a:spcAft>
              <a:defRPr sz="4000">
                <a:solidFill>
                  <a:schemeClr val="tx2"/>
                </a:solidFill>
                <a:latin typeface="微软雅黑" pitchFamily="34" charset="-122"/>
                <a:ea typeface="微软雅黑" pitchFamily="34" charset="-122"/>
              </a:defRPr>
            </a:lvl3pPr>
            <a:lvl4pPr algn="l" rtl="0" eaLnBrk="0" fontAlgn="base" hangingPunct="0">
              <a:spcBef>
                <a:spcPct val="0"/>
              </a:spcBef>
              <a:spcAft>
                <a:spcPct val="0"/>
              </a:spcAft>
              <a:defRPr sz="4000">
                <a:solidFill>
                  <a:schemeClr val="tx2"/>
                </a:solidFill>
                <a:latin typeface="微软雅黑" pitchFamily="34" charset="-122"/>
                <a:ea typeface="微软雅黑" pitchFamily="34" charset="-122"/>
              </a:defRPr>
            </a:lvl4pPr>
            <a:lvl5pPr algn="l" rtl="0" eaLnBrk="0" fontAlgn="base" hangingPunct="0">
              <a:spcBef>
                <a:spcPct val="0"/>
              </a:spcBef>
              <a:spcAft>
                <a:spcPct val="0"/>
              </a:spcAft>
              <a:defRPr sz="4000">
                <a:solidFill>
                  <a:schemeClr val="tx2"/>
                </a:solidFill>
                <a:latin typeface="微软雅黑" pitchFamily="34" charset="-122"/>
                <a:ea typeface="微软雅黑" pitchFamily="34" charset="-122"/>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a:lstStyle>
          <a:p>
            <a:pPr eaLnBrk="1" hangingPunct="1"/>
            <a:r>
              <a:rPr lang="zh-CN" altLang="en-US" sz="3600" dirty="0">
                <a:solidFill>
                  <a:schemeClr val="tx1"/>
                </a:solidFill>
              </a:rPr>
              <a:t>例</a:t>
            </a:r>
            <a:r>
              <a:rPr lang="en-US" altLang="zh-CN" sz="3600" dirty="0">
                <a:solidFill>
                  <a:schemeClr val="tx1"/>
                </a:solidFill>
              </a:rPr>
              <a:t>8-5 </a:t>
            </a:r>
            <a:r>
              <a:rPr lang="zh-CN" altLang="en-US" sz="3600" dirty="0">
                <a:solidFill>
                  <a:schemeClr val="tx1"/>
                </a:solidFill>
              </a:rPr>
              <a:t>虚析构函数举例</a:t>
            </a:r>
          </a:p>
        </p:txBody>
      </p:sp>
      <p:sp>
        <p:nvSpPr>
          <p:cNvPr id="6" name="内容占位符 2"/>
          <p:cNvSpPr>
            <a:spLocks noGrp="1"/>
          </p:cNvSpPr>
          <p:nvPr>
            <p:ph idx="1"/>
          </p:nvPr>
        </p:nvSpPr>
        <p:spPr>
          <a:xfrm>
            <a:off x="336550" y="1412875"/>
            <a:ext cx="5572125" cy="5184775"/>
          </a:xfrm>
        </p:spPr>
        <p:txBody>
          <a:bodyPr>
            <a:noAutofit/>
          </a:bodyPr>
          <a:lstStyle/>
          <a:p>
            <a:pPr marL="365760" indent="-256032" eaLnBrk="1" fontAlgn="auto" hangingPunct="1">
              <a:spcBef>
                <a:spcPts val="0"/>
              </a:spcBef>
              <a:spcAft>
                <a:spcPts val="0"/>
              </a:spcAft>
              <a:buClr>
                <a:schemeClr val="accent3"/>
              </a:buClr>
              <a:buFont typeface="Georgia"/>
              <a:buNone/>
              <a:defRPr/>
            </a:pPr>
            <a:r>
              <a:rPr lang="en-US" altLang="zh-CN" sz="2000" dirty="0"/>
              <a:t>#include &lt;</a:t>
            </a:r>
            <a:r>
              <a:rPr lang="en-US" altLang="zh-CN" sz="2000" dirty="0" err="1"/>
              <a:t>iostream</a:t>
            </a:r>
            <a:r>
              <a:rPr lang="en-US" altLang="zh-CN" sz="2000" dirty="0"/>
              <a:t>&gt;</a:t>
            </a:r>
          </a:p>
          <a:p>
            <a:pPr marL="365760" indent="-256032" eaLnBrk="1" fontAlgn="auto" hangingPunct="1">
              <a:spcBef>
                <a:spcPts val="0"/>
              </a:spcBef>
              <a:spcAft>
                <a:spcPts val="0"/>
              </a:spcAft>
              <a:buClr>
                <a:schemeClr val="accent3"/>
              </a:buClr>
              <a:buFont typeface="Georgia"/>
              <a:buNone/>
              <a:defRPr/>
            </a:pPr>
            <a:r>
              <a:rPr lang="en-US" altLang="zh-CN" sz="2000" dirty="0"/>
              <a:t>using namespace </a:t>
            </a:r>
            <a:r>
              <a:rPr lang="en-US" altLang="zh-CN" sz="2000" dirty="0" err="1"/>
              <a:t>std</a:t>
            </a:r>
            <a:r>
              <a:rPr lang="en-US" altLang="zh-CN" sz="2000" dirty="0"/>
              <a:t>;</a:t>
            </a:r>
          </a:p>
          <a:p>
            <a:pPr marL="365760" indent="-256032" eaLnBrk="1" fontAlgn="auto" hangingPunct="1">
              <a:spcBef>
                <a:spcPts val="0"/>
              </a:spcBef>
              <a:spcAft>
                <a:spcPts val="0"/>
              </a:spcAft>
              <a:buClr>
                <a:schemeClr val="accent3"/>
              </a:buClr>
              <a:buFont typeface="Georgia"/>
              <a:buNone/>
              <a:defRPr/>
            </a:pPr>
            <a:r>
              <a:rPr lang="en-US" altLang="zh-CN" sz="2000" dirty="0"/>
              <a:t>class Base {</a:t>
            </a:r>
          </a:p>
          <a:p>
            <a:pPr marL="365760" indent="-256032" eaLnBrk="1" fontAlgn="auto" hangingPunct="1">
              <a:spcBef>
                <a:spcPts val="0"/>
              </a:spcBef>
              <a:spcAft>
                <a:spcPts val="0"/>
              </a:spcAft>
              <a:buClr>
                <a:schemeClr val="accent3"/>
              </a:buClr>
              <a:buFont typeface="Georgia"/>
              <a:buNone/>
              <a:defRPr/>
            </a:pPr>
            <a:r>
              <a:rPr lang="en-US" altLang="zh-CN" sz="2000" dirty="0"/>
              <a:t>public:</a:t>
            </a:r>
          </a:p>
          <a:p>
            <a:pPr marL="365760" indent="-256032" eaLnBrk="1" fontAlgn="auto" hangingPunct="1">
              <a:spcBef>
                <a:spcPts val="0"/>
              </a:spcBef>
              <a:spcAft>
                <a:spcPts val="0"/>
              </a:spcAft>
              <a:buClr>
                <a:schemeClr val="accent3"/>
              </a:buClr>
              <a:buFont typeface="Georgia"/>
              <a:buNone/>
              <a:defRPr/>
            </a:pPr>
            <a:r>
              <a:rPr lang="en-US" altLang="zh-CN" sz="2000" dirty="0"/>
              <a:t>	</a:t>
            </a:r>
            <a:r>
              <a:rPr lang="en-US" altLang="zh-CN" sz="2000" dirty="0">
                <a:solidFill>
                  <a:srgbClr val="C00000"/>
                </a:solidFill>
              </a:rPr>
              <a:t>virtual </a:t>
            </a:r>
            <a:r>
              <a:rPr lang="en-US" altLang="zh-CN" sz="2000" dirty="0"/>
              <a:t>~Base();</a:t>
            </a:r>
          </a:p>
          <a:p>
            <a:pPr marL="365760" indent="-256032" eaLnBrk="1" fontAlgn="auto" hangingPunct="1">
              <a:spcBef>
                <a:spcPts val="0"/>
              </a:spcBef>
              <a:spcAft>
                <a:spcPts val="0"/>
              </a:spcAft>
              <a:buClr>
                <a:schemeClr val="accent3"/>
              </a:buClr>
              <a:buFont typeface="Georgia"/>
              <a:buNone/>
              <a:defRPr/>
            </a:pPr>
            <a:r>
              <a:rPr lang="en-US" altLang="zh-CN" sz="2000" dirty="0"/>
              <a:t>};</a:t>
            </a:r>
          </a:p>
          <a:p>
            <a:pPr marL="365760" indent="-256032" eaLnBrk="1" fontAlgn="auto" hangingPunct="1">
              <a:spcBef>
                <a:spcPts val="0"/>
              </a:spcBef>
              <a:spcAft>
                <a:spcPts val="0"/>
              </a:spcAft>
              <a:buClr>
                <a:schemeClr val="accent3"/>
              </a:buClr>
              <a:buFont typeface="Georgia"/>
              <a:buNone/>
              <a:defRPr/>
            </a:pPr>
            <a:r>
              <a:rPr lang="en-US" altLang="zh-CN" sz="2000" dirty="0"/>
              <a:t>Base::~Base() {</a:t>
            </a:r>
          </a:p>
          <a:p>
            <a:pPr marL="365760" indent="-256032" eaLnBrk="1" fontAlgn="auto" hangingPunct="1">
              <a:spcBef>
                <a:spcPts val="0"/>
              </a:spcBef>
              <a:spcAft>
                <a:spcPts val="0"/>
              </a:spcAft>
              <a:buClr>
                <a:schemeClr val="accent3"/>
              </a:buClr>
              <a:buFont typeface="Georgia"/>
              <a:buNone/>
              <a:defRPr/>
            </a:pPr>
            <a:r>
              <a:rPr lang="en-US" altLang="zh-CN" sz="2000" dirty="0"/>
              <a:t>	</a:t>
            </a:r>
            <a:r>
              <a:rPr lang="en-US" altLang="zh-CN" sz="2000" dirty="0" err="1"/>
              <a:t>cout</a:t>
            </a:r>
            <a:r>
              <a:rPr lang="en-US" altLang="zh-CN" sz="2000" dirty="0"/>
              <a:t>&lt;&lt; "Base destructor" &lt;&lt; </a:t>
            </a:r>
            <a:r>
              <a:rPr lang="en-US" altLang="zh-CN" sz="2000" dirty="0" err="1"/>
              <a:t>endl</a:t>
            </a:r>
            <a:r>
              <a:rPr lang="en-US" altLang="zh-CN" sz="2000" dirty="0"/>
              <a:t>;</a:t>
            </a:r>
          </a:p>
          <a:p>
            <a:pPr marL="365760" indent="-256032" eaLnBrk="1" fontAlgn="auto" hangingPunct="1">
              <a:spcBef>
                <a:spcPts val="0"/>
              </a:spcBef>
              <a:spcAft>
                <a:spcPts val="0"/>
              </a:spcAft>
              <a:buClr>
                <a:schemeClr val="accent3"/>
              </a:buClr>
              <a:buFont typeface="Georgia"/>
              <a:buNone/>
              <a:defRPr/>
            </a:pPr>
            <a:r>
              <a:rPr lang="en-US" altLang="zh-CN" sz="2000" dirty="0"/>
              <a:t> }</a:t>
            </a:r>
          </a:p>
          <a:p>
            <a:pPr marL="365760" indent="-256032" eaLnBrk="1" fontAlgn="auto" hangingPunct="1">
              <a:spcBef>
                <a:spcPts val="0"/>
              </a:spcBef>
              <a:spcAft>
                <a:spcPts val="0"/>
              </a:spcAft>
              <a:buClr>
                <a:schemeClr val="accent3"/>
              </a:buClr>
              <a:buFont typeface="Georgia"/>
              <a:buNone/>
              <a:defRPr/>
            </a:pPr>
            <a:r>
              <a:rPr lang="en-US" altLang="zh-CN" sz="2000" dirty="0"/>
              <a:t>class Derived: public Base{</a:t>
            </a:r>
          </a:p>
          <a:p>
            <a:pPr marL="365760" indent="-256032" eaLnBrk="1" fontAlgn="auto" hangingPunct="1">
              <a:spcBef>
                <a:spcPts val="0"/>
              </a:spcBef>
              <a:spcAft>
                <a:spcPts val="0"/>
              </a:spcAft>
              <a:buClr>
                <a:schemeClr val="accent3"/>
              </a:buClr>
              <a:buFont typeface="Georgia"/>
              <a:buNone/>
              <a:defRPr/>
            </a:pPr>
            <a:r>
              <a:rPr lang="en-US" altLang="zh-CN" sz="2000" dirty="0"/>
              <a:t>public:</a:t>
            </a:r>
          </a:p>
          <a:p>
            <a:pPr marL="365760" indent="-256032" eaLnBrk="1" fontAlgn="auto" hangingPunct="1">
              <a:spcBef>
                <a:spcPts val="0"/>
              </a:spcBef>
              <a:spcAft>
                <a:spcPts val="0"/>
              </a:spcAft>
              <a:buClr>
                <a:schemeClr val="accent3"/>
              </a:buClr>
              <a:buFont typeface="Georgia"/>
              <a:buNone/>
              <a:defRPr/>
            </a:pPr>
            <a:r>
              <a:rPr lang="en-US" altLang="zh-CN" sz="2000" dirty="0"/>
              <a:t>	Derived();</a:t>
            </a:r>
          </a:p>
          <a:p>
            <a:pPr marL="365760" indent="-256032" eaLnBrk="1" fontAlgn="auto" hangingPunct="1">
              <a:spcBef>
                <a:spcPts val="0"/>
              </a:spcBef>
              <a:spcAft>
                <a:spcPts val="0"/>
              </a:spcAft>
              <a:buClr>
                <a:schemeClr val="accent3"/>
              </a:buClr>
              <a:buFont typeface="Georgia"/>
              <a:buNone/>
              <a:defRPr/>
            </a:pPr>
            <a:r>
              <a:rPr lang="en-US" altLang="zh-CN" sz="2000" dirty="0"/>
              <a:t>	</a:t>
            </a:r>
            <a:r>
              <a:rPr lang="en-US" altLang="zh-CN" sz="2000" dirty="0">
                <a:solidFill>
                  <a:srgbClr val="C00000"/>
                </a:solidFill>
              </a:rPr>
              <a:t>virtual </a:t>
            </a:r>
            <a:r>
              <a:rPr lang="en-US" altLang="zh-CN" sz="2000" dirty="0"/>
              <a:t>~Derived();</a:t>
            </a:r>
          </a:p>
          <a:p>
            <a:pPr latinLnBrk="1">
              <a:buFont typeface="Georgia" panose="02040502050405020303" pitchFamily="18" charset="0"/>
              <a:buNone/>
              <a:defRPr/>
            </a:pPr>
            <a:r>
              <a:rPr lang="en-US" altLang="zh-CN" sz="2000" dirty="0"/>
              <a:t>private:</a:t>
            </a:r>
            <a:endParaRPr lang="zh-CN" altLang="en-US" sz="2000" dirty="0"/>
          </a:p>
          <a:p>
            <a:pPr latinLnBrk="1">
              <a:buFont typeface="Georgia" panose="02040502050405020303" pitchFamily="18" charset="0"/>
              <a:buNone/>
              <a:defRPr/>
            </a:pPr>
            <a:r>
              <a:rPr lang="en-US" altLang="zh-CN" sz="2000" dirty="0"/>
              <a:t>	int *p;</a:t>
            </a:r>
            <a:endParaRPr lang="zh-CN" altLang="en-US" sz="2000" dirty="0"/>
          </a:p>
          <a:p>
            <a:pPr latinLnBrk="1">
              <a:buFont typeface="Georgia" panose="02040502050405020303" pitchFamily="18" charset="0"/>
              <a:buNone/>
              <a:defRPr/>
            </a:pPr>
            <a:r>
              <a:rPr lang="en-US" altLang="zh-CN" sz="2000" dirty="0"/>
              <a:t>};</a:t>
            </a:r>
            <a:endParaRPr lang="zh-CN" altLang="en-US" sz="2000" dirty="0"/>
          </a:p>
        </p:txBody>
      </p:sp>
      <p:sp>
        <p:nvSpPr>
          <p:cNvPr id="44038" name="内容占位符 2"/>
          <p:cNvSpPr txBox="1">
            <a:spLocks/>
          </p:cNvSpPr>
          <p:nvPr/>
        </p:nvSpPr>
        <p:spPr bwMode="auto">
          <a:xfrm>
            <a:off x="6097588" y="1412875"/>
            <a:ext cx="5832475" cy="508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latinLnBrk="1" hangingPunct="1"/>
            <a:r>
              <a:rPr lang="en-US" altLang="zh-CN" sz="2000" dirty="0">
                <a:latin typeface="微软雅黑" panose="020B0503020204020204" pitchFamily="34" charset="-122"/>
                <a:ea typeface="微软雅黑" panose="020B0503020204020204" pitchFamily="34" charset="-122"/>
              </a:rPr>
              <a:t>Derived::Derived() {</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p = new int(0);</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Derived::~Derived() { </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cout</a:t>
            </a:r>
            <a:r>
              <a:rPr lang="en-US" altLang="zh-CN" sz="2000" dirty="0">
                <a:latin typeface="微软雅黑" panose="020B0503020204020204" pitchFamily="34" charset="-122"/>
                <a:ea typeface="微软雅黑" panose="020B0503020204020204" pitchFamily="34" charset="-122"/>
              </a:rPr>
              <a:t> &lt;&lt;  "Derived destructor"&lt;&lt;</a:t>
            </a:r>
            <a:r>
              <a:rPr lang="en-US" altLang="zh-CN" sz="2000" dirty="0" err="1">
                <a:latin typeface="微软雅黑" panose="020B0503020204020204" pitchFamily="34" charset="-122"/>
                <a:ea typeface="微软雅黑" panose="020B0503020204020204" pitchFamily="34" charset="-122"/>
              </a:rPr>
              <a:t>endl</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delete p;</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void fun(Base* b) {</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delete b; </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int main() {</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Base *b = new Derived();</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fun(b);</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	return 0;</a:t>
            </a:r>
            <a:endParaRPr lang="zh-CN" altLang="en-US" sz="2000" dirty="0">
              <a:latin typeface="微软雅黑" panose="020B0503020204020204" pitchFamily="34" charset="-122"/>
              <a:ea typeface="微软雅黑" panose="020B0503020204020204" pitchFamily="34" charset="-122"/>
            </a:endParaRPr>
          </a:p>
          <a:p>
            <a:pPr eaLnBrk="1" latinLnBrk="1" hangingPunct="1"/>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8" name="TextBox 7"/>
          <p:cNvSpPr txBox="1"/>
          <p:nvPr/>
        </p:nvSpPr>
        <p:spPr>
          <a:xfrm>
            <a:off x="9673719" y="5815360"/>
            <a:ext cx="2492990" cy="1015663"/>
          </a:xfrm>
          <a:prstGeom prst="rect">
            <a:avLst/>
          </a:prstGeom>
          <a:solidFill>
            <a:srgbClr val="FFFF00"/>
          </a:solidFill>
        </p:spPr>
        <p:txBody>
          <a:bodyPr wrap="none">
            <a:spAutoFit/>
          </a:bodyPr>
          <a:lstStyle/>
          <a:p>
            <a:pPr>
              <a:defRPr/>
            </a:pPr>
            <a:r>
              <a:rPr lang="zh-CN" altLang="en-US" sz="2000">
                <a:latin typeface="+mn-ea"/>
                <a:ea typeface="+mn-ea"/>
              </a:rPr>
              <a:t>运行结果</a:t>
            </a:r>
            <a:r>
              <a:rPr lang="zh-CN" altLang="en-US" sz="2000" dirty="0">
                <a:latin typeface="+mn-ea"/>
                <a:ea typeface="+mn-ea"/>
              </a:rPr>
              <a:t>：</a:t>
            </a:r>
            <a:endParaRPr lang="en-US" altLang="zh-CN" sz="2000" dirty="0">
              <a:latin typeface="+mn-ea"/>
              <a:ea typeface="+mn-ea"/>
            </a:endParaRPr>
          </a:p>
          <a:p>
            <a:pPr>
              <a:defRPr/>
            </a:pPr>
            <a:r>
              <a:rPr lang="en-US" altLang="zh-CN" sz="2000" dirty="0">
                <a:latin typeface="+mn-ea"/>
                <a:ea typeface="+mn-ea"/>
              </a:rPr>
              <a:t>Derived destructor</a:t>
            </a:r>
          </a:p>
          <a:p>
            <a:pPr>
              <a:defRPr/>
            </a:pPr>
            <a:r>
              <a:rPr lang="en-US" altLang="zh-CN" sz="2000" dirty="0">
                <a:latin typeface="+mn-ea"/>
                <a:ea typeface="+mn-ea"/>
              </a:rPr>
              <a:t>Base destructor</a:t>
            </a:r>
          </a:p>
        </p:txBody>
      </p:sp>
      <p:cxnSp>
        <p:nvCxnSpPr>
          <p:cNvPr id="9" name="直接连接符 8"/>
          <p:cNvCxnSpPr/>
          <p:nvPr/>
        </p:nvCxnSpPr>
        <p:spPr>
          <a:xfrm rot="5400000">
            <a:off x="3489325" y="4178300"/>
            <a:ext cx="4930775" cy="3175"/>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内容占位符 2"/>
          <p:cNvSpPr>
            <a:spLocks noGrp="1"/>
          </p:cNvSpPr>
          <p:nvPr>
            <p:ph idx="1"/>
          </p:nvPr>
        </p:nvSpPr>
        <p:spPr>
          <a:xfrm>
            <a:off x="609600" y="2276475"/>
            <a:ext cx="10888587" cy="3673475"/>
          </a:xfrm>
        </p:spPr>
        <p:txBody>
          <a:bodyPr/>
          <a:lstStyle/>
          <a:p>
            <a:pPr eaLnBrk="1" hangingPunct="1">
              <a:lnSpc>
                <a:spcPct val="150000"/>
              </a:lnSpc>
            </a:pPr>
            <a:r>
              <a:rPr lang="zh-CN" altLang="en-US" sz="2400"/>
              <a:t>如果你打算允许其他人通过基类指针调用对象的析构函数（通过</a:t>
            </a:r>
            <a:r>
              <a:rPr lang="en-US" altLang="zh-CN" sz="2400"/>
              <a:t>delete</a:t>
            </a:r>
            <a:r>
              <a:rPr lang="zh-CN" altLang="en-US" sz="2400"/>
              <a:t>这样做是正常的），就需要让基类的析构函数成为虚函数，否则执行</a:t>
            </a:r>
            <a:r>
              <a:rPr lang="en-US" altLang="zh-CN" sz="2400"/>
              <a:t>delete</a:t>
            </a:r>
            <a:r>
              <a:rPr lang="zh-CN" altLang="en-US" sz="2400"/>
              <a:t>的结果是不确定的。</a:t>
            </a:r>
            <a:endParaRPr lang="en-US" altLang="zh-CN" sz="2400"/>
          </a:p>
          <a:p>
            <a:pPr eaLnBrk="1" hangingPunct="1">
              <a:lnSpc>
                <a:spcPct val="150000"/>
              </a:lnSpc>
            </a:pPr>
            <a:r>
              <a:rPr lang="zh-CN" altLang="en-US" sz="2400"/>
              <a:t>不显示：下面通过例子来说明</a:t>
            </a:r>
          </a:p>
        </p:txBody>
      </p:sp>
      <p:sp>
        <p:nvSpPr>
          <p:cNvPr id="2" name="灯片编号占位符 1">
            <a:extLst>
              <a:ext uri="{FF2B5EF4-FFF2-40B4-BE49-F238E27FC236}">
                <a16:creationId xmlns:a16="http://schemas.microsoft.com/office/drawing/2014/main" id="{F7FABCC6-BFD6-4560-835E-4429544ABC0B}"/>
              </a:ext>
            </a:extLst>
          </p:cNvPr>
          <p:cNvSpPr>
            <a:spLocks noGrp="1"/>
          </p:cNvSpPr>
          <p:nvPr>
            <p:ph type="sldNum" sz="quarter" idx="4"/>
          </p:nvPr>
        </p:nvSpPr>
        <p:spPr/>
        <p:txBody>
          <a:bodyPr/>
          <a:lstStyle/>
          <a:p>
            <a:fld id="{C42A670E-4250-4C14-8323-982480E0B347}" type="slidenum">
              <a:rPr lang="zh-CN" altLang="en-US" smtClean="0"/>
              <a:pPr/>
              <a:t>43</a:t>
            </a:fld>
            <a:endParaRPr lang="zh-CN" altLang="en-US"/>
          </a:p>
        </p:txBody>
      </p:sp>
    </p:spTree>
    <p:extLst>
      <p:ext uri="{BB962C8B-B14F-4D97-AF65-F5344CB8AC3E}">
        <p14:creationId xmlns:p14="http://schemas.microsoft.com/office/powerpoint/2010/main" val="3624699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抽象类</a:t>
            </a:r>
          </a:p>
        </p:txBody>
      </p:sp>
      <p:sp>
        <p:nvSpPr>
          <p:cNvPr id="3" name="文本占位符 2"/>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0739A1C-9BDA-4E74-9EA6-016B5AADFA8D}"/>
              </a:ext>
            </a:extLst>
          </p:cNvPr>
          <p:cNvSpPr>
            <a:spLocks noGrp="1"/>
          </p:cNvSpPr>
          <p:nvPr>
            <p:ph type="sldNum" sz="quarter" idx="4"/>
          </p:nvPr>
        </p:nvSpPr>
        <p:spPr/>
        <p:txBody>
          <a:bodyPr/>
          <a:lstStyle/>
          <a:p>
            <a:fld id="{C42A670E-4250-4C14-8323-982480E0B347}" type="slidenum">
              <a:rPr lang="zh-CN" altLang="en-US" smtClean="0"/>
              <a:pPr/>
              <a:t>44</a:t>
            </a:fld>
            <a:endParaRPr lang="zh-CN" altLang="en-US"/>
          </a:p>
        </p:txBody>
      </p:sp>
    </p:spTree>
    <p:extLst>
      <p:ext uri="{BB962C8B-B14F-4D97-AF65-F5344CB8AC3E}">
        <p14:creationId xmlns:p14="http://schemas.microsoft.com/office/powerpoint/2010/main" val="20835797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a:spLocks/>
          </p:cNvSpPr>
          <p:nvPr/>
        </p:nvSpPr>
        <p:spPr bwMode="auto">
          <a:xfrm>
            <a:off x="2929235" y="72107"/>
            <a:ext cx="9145016"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微软雅黑" pitchFamily="34" charset="-122"/>
                <a:ea typeface="微软雅黑" pitchFamily="34" charset="-122"/>
                <a:cs typeface="+mj-cs"/>
              </a:defRPr>
            </a:lvl1pPr>
            <a:lvl2pPr algn="l" rtl="0" eaLnBrk="0" fontAlgn="base" hangingPunct="0">
              <a:spcBef>
                <a:spcPct val="0"/>
              </a:spcBef>
              <a:spcAft>
                <a:spcPct val="0"/>
              </a:spcAft>
              <a:defRPr sz="4000">
                <a:solidFill>
                  <a:schemeClr val="tx2"/>
                </a:solidFill>
                <a:latin typeface="微软雅黑" pitchFamily="34" charset="-122"/>
                <a:ea typeface="微软雅黑" pitchFamily="34" charset="-122"/>
              </a:defRPr>
            </a:lvl2pPr>
            <a:lvl3pPr algn="l" rtl="0" eaLnBrk="0" fontAlgn="base" hangingPunct="0">
              <a:spcBef>
                <a:spcPct val="0"/>
              </a:spcBef>
              <a:spcAft>
                <a:spcPct val="0"/>
              </a:spcAft>
              <a:defRPr sz="4000">
                <a:solidFill>
                  <a:schemeClr val="tx2"/>
                </a:solidFill>
                <a:latin typeface="微软雅黑" pitchFamily="34" charset="-122"/>
                <a:ea typeface="微软雅黑" pitchFamily="34" charset="-122"/>
              </a:defRPr>
            </a:lvl3pPr>
            <a:lvl4pPr algn="l" rtl="0" eaLnBrk="0" fontAlgn="base" hangingPunct="0">
              <a:spcBef>
                <a:spcPct val="0"/>
              </a:spcBef>
              <a:spcAft>
                <a:spcPct val="0"/>
              </a:spcAft>
              <a:defRPr sz="4000">
                <a:solidFill>
                  <a:schemeClr val="tx2"/>
                </a:solidFill>
                <a:latin typeface="微软雅黑" pitchFamily="34" charset="-122"/>
                <a:ea typeface="微软雅黑" pitchFamily="34" charset="-122"/>
              </a:defRPr>
            </a:lvl4pPr>
            <a:lvl5pPr algn="l" rtl="0" eaLnBrk="0" fontAlgn="base" hangingPunct="0">
              <a:spcBef>
                <a:spcPct val="0"/>
              </a:spcBef>
              <a:spcAft>
                <a:spcPct val="0"/>
              </a:spcAft>
              <a:defRPr sz="4000">
                <a:solidFill>
                  <a:schemeClr val="tx2"/>
                </a:solidFill>
                <a:latin typeface="微软雅黑" pitchFamily="34" charset="-122"/>
                <a:ea typeface="微软雅黑" pitchFamily="34" charset="-122"/>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a:lstStyle>
          <a:p>
            <a:pPr eaLnBrk="1" hangingPunct="1"/>
            <a:endParaRPr kumimoji="0" lang="zh-CN" altLang="en-US" sz="4400" dirty="0">
              <a:solidFill>
                <a:schemeClr val="tx1"/>
              </a:solidFill>
            </a:endParaRPr>
          </a:p>
        </p:txBody>
      </p:sp>
      <p:sp>
        <p:nvSpPr>
          <p:cNvPr id="8" name="标题 7">
            <a:extLst>
              <a:ext uri="{FF2B5EF4-FFF2-40B4-BE49-F238E27FC236}">
                <a16:creationId xmlns:a16="http://schemas.microsoft.com/office/drawing/2014/main" id="{CE30ACF8-3B74-41F7-9AC8-B1EE099FE900}"/>
              </a:ext>
            </a:extLst>
          </p:cNvPr>
          <p:cNvSpPr>
            <a:spLocks noGrp="1"/>
          </p:cNvSpPr>
          <p:nvPr>
            <p:ph type="title"/>
          </p:nvPr>
        </p:nvSpPr>
        <p:spPr/>
        <p:txBody>
          <a:bodyPr/>
          <a:lstStyle/>
          <a:p>
            <a:r>
              <a:rPr lang="zh-CN" altLang="en-US" dirty="0"/>
              <a:t>例</a:t>
            </a:r>
            <a:r>
              <a:rPr lang="en-US" altLang="zh-CN" dirty="0"/>
              <a:t>8-6 </a:t>
            </a:r>
            <a:r>
              <a:rPr lang="zh-CN" altLang="en-US" dirty="0"/>
              <a:t>抽象类举例</a:t>
            </a:r>
          </a:p>
        </p:txBody>
      </p:sp>
      <p:sp>
        <p:nvSpPr>
          <p:cNvPr id="3" name="内容占位符 2"/>
          <p:cNvSpPr>
            <a:spLocks noGrp="1"/>
          </p:cNvSpPr>
          <p:nvPr>
            <p:ph idx="1"/>
          </p:nvPr>
        </p:nvSpPr>
        <p:spPr/>
        <p:txBody>
          <a:bodyPr/>
          <a:lstStyle/>
          <a:p>
            <a:pPr>
              <a:spcBef>
                <a:spcPts val="0"/>
              </a:spcBef>
            </a:pPr>
            <a:r>
              <a:rPr lang="en-US" altLang="zh-CN" sz="2200" dirty="0"/>
              <a:t>//8_6.cpp</a:t>
            </a:r>
          </a:p>
          <a:p>
            <a:pPr>
              <a:spcBef>
                <a:spcPts val="0"/>
              </a:spcBef>
            </a:pPr>
            <a:r>
              <a:rPr lang="en-US" altLang="zh-CN" sz="2200" dirty="0"/>
              <a:t>#include &lt;iostream&gt;</a:t>
            </a:r>
          </a:p>
          <a:p>
            <a:pPr>
              <a:spcBef>
                <a:spcPts val="0"/>
              </a:spcBef>
            </a:pPr>
            <a:r>
              <a:rPr lang="en-US" altLang="zh-CN" sz="2200" dirty="0"/>
              <a:t>using namespace std;</a:t>
            </a:r>
          </a:p>
          <a:p>
            <a:pPr>
              <a:spcBef>
                <a:spcPts val="0"/>
              </a:spcBef>
            </a:pPr>
            <a:r>
              <a:rPr lang="en-US" altLang="zh-CN" sz="2200" dirty="0"/>
              <a:t> </a:t>
            </a:r>
          </a:p>
          <a:p>
            <a:pPr>
              <a:spcBef>
                <a:spcPts val="0"/>
              </a:spcBef>
            </a:pPr>
            <a:r>
              <a:rPr lang="en-US" altLang="zh-CN" sz="2200" dirty="0"/>
              <a:t>class Base1 { </a:t>
            </a:r>
            <a:endParaRPr lang="zh-CN" altLang="en-US" sz="2200" dirty="0"/>
          </a:p>
          <a:p>
            <a:pPr>
              <a:spcBef>
                <a:spcPts val="0"/>
              </a:spcBef>
            </a:pPr>
            <a:r>
              <a:rPr lang="en-US" altLang="zh-CN" sz="2200" dirty="0"/>
              <a:t>public:</a:t>
            </a:r>
          </a:p>
          <a:p>
            <a:pPr>
              <a:spcBef>
                <a:spcPts val="0"/>
              </a:spcBef>
            </a:pPr>
            <a:r>
              <a:rPr lang="en-US" altLang="zh-CN" sz="2200" dirty="0"/>
              <a:t>	virtual void display() const = 0;	//</a:t>
            </a:r>
            <a:r>
              <a:rPr lang="zh-CN" altLang="en-US" sz="2200" dirty="0"/>
              <a:t>纯虚函数</a:t>
            </a:r>
          </a:p>
          <a:p>
            <a:pPr>
              <a:spcBef>
                <a:spcPts val="0"/>
              </a:spcBef>
            </a:pPr>
            <a:r>
              <a:rPr lang="en-US" altLang="zh-CN" sz="2200" dirty="0"/>
              <a:t>};</a:t>
            </a:r>
          </a:p>
          <a:p>
            <a:pPr>
              <a:spcBef>
                <a:spcPts val="0"/>
              </a:spcBef>
            </a:pPr>
            <a:r>
              <a:rPr lang="en-US" altLang="zh-CN" sz="2200" dirty="0"/>
              <a:t> </a:t>
            </a:r>
          </a:p>
          <a:p>
            <a:pPr>
              <a:spcBef>
                <a:spcPts val="0"/>
              </a:spcBef>
            </a:pPr>
            <a:r>
              <a:rPr lang="en-US" altLang="zh-CN" sz="2200" dirty="0"/>
              <a:t>class Base2: public Base1 { </a:t>
            </a:r>
            <a:endParaRPr lang="zh-CN" altLang="en-US" sz="2200" dirty="0"/>
          </a:p>
          <a:p>
            <a:pPr>
              <a:spcBef>
                <a:spcPts val="0"/>
              </a:spcBef>
            </a:pPr>
            <a:r>
              <a:rPr lang="en-US" altLang="zh-CN" sz="2200" dirty="0"/>
              <a:t>public:</a:t>
            </a:r>
          </a:p>
          <a:p>
            <a:pPr>
              <a:spcBef>
                <a:spcPts val="0"/>
              </a:spcBef>
            </a:pPr>
            <a:r>
              <a:rPr lang="en-US" altLang="zh-CN" sz="2200" dirty="0"/>
              <a:t>	virtual void display() const; //</a:t>
            </a:r>
            <a:r>
              <a:rPr lang="zh-CN" altLang="en-US" sz="2200" dirty="0"/>
              <a:t>覆盖基类的虚函数</a:t>
            </a:r>
          </a:p>
          <a:p>
            <a:pPr>
              <a:spcBef>
                <a:spcPts val="0"/>
              </a:spcBef>
            </a:pPr>
            <a:r>
              <a:rPr lang="en-US" altLang="zh-CN" sz="2200" dirty="0"/>
              <a:t>};</a:t>
            </a:r>
          </a:p>
          <a:p>
            <a:pPr>
              <a:spcBef>
                <a:spcPts val="0"/>
              </a:spcBef>
            </a:pPr>
            <a:r>
              <a:rPr lang="en-US" altLang="zh-CN" sz="2200" dirty="0"/>
              <a:t>void Base2::display() const {</a:t>
            </a:r>
          </a:p>
          <a:p>
            <a:pPr>
              <a:spcBef>
                <a:spcPts val="0"/>
              </a:spcBef>
            </a:pPr>
            <a:r>
              <a:rPr lang="en-US" altLang="zh-CN" sz="2200" dirty="0"/>
              <a:t>	</a:t>
            </a:r>
            <a:r>
              <a:rPr lang="en-US" altLang="zh-CN" sz="2200" dirty="0" err="1"/>
              <a:t>cout</a:t>
            </a:r>
            <a:r>
              <a:rPr lang="en-US" altLang="zh-CN" sz="2200" dirty="0"/>
              <a:t> &lt;&lt; "Base2::display()" &lt;&lt; </a:t>
            </a:r>
            <a:r>
              <a:rPr lang="en-US" altLang="zh-CN" sz="2200" dirty="0" err="1"/>
              <a:t>endl</a:t>
            </a:r>
            <a:r>
              <a:rPr lang="en-US" altLang="zh-CN" sz="2200" dirty="0"/>
              <a:t>;</a:t>
            </a:r>
          </a:p>
          <a:p>
            <a:pPr>
              <a:spcBef>
                <a:spcPts val="0"/>
              </a:spcBef>
            </a:pPr>
            <a:r>
              <a:rPr lang="en-US" altLang="zh-CN" sz="2200" dirty="0"/>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a:spLocks/>
          </p:cNvSpPr>
          <p:nvPr/>
        </p:nvSpPr>
        <p:spPr bwMode="auto">
          <a:xfrm>
            <a:off x="2929235" y="72107"/>
            <a:ext cx="9145016"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微软雅黑" pitchFamily="34" charset="-122"/>
                <a:ea typeface="微软雅黑" pitchFamily="34" charset="-122"/>
                <a:cs typeface="+mj-cs"/>
              </a:defRPr>
            </a:lvl1pPr>
            <a:lvl2pPr algn="l" rtl="0" eaLnBrk="0" fontAlgn="base" hangingPunct="0">
              <a:spcBef>
                <a:spcPct val="0"/>
              </a:spcBef>
              <a:spcAft>
                <a:spcPct val="0"/>
              </a:spcAft>
              <a:defRPr sz="4000">
                <a:solidFill>
                  <a:schemeClr val="tx2"/>
                </a:solidFill>
                <a:latin typeface="微软雅黑" pitchFamily="34" charset="-122"/>
                <a:ea typeface="微软雅黑" pitchFamily="34" charset="-122"/>
              </a:defRPr>
            </a:lvl2pPr>
            <a:lvl3pPr algn="l" rtl="0" eaLnBrk="0" fontAlgn="base" hangingPunct="0">
              <a:spcBef>
                <a:spcPct val="0"/>
              </a:spcBef>
              <a:spcAft>
                <a:spcPct val="0"/>
              </a:spcAft>
              <a:defRPr sz="4000">
                <a:solidFill>
                  <a:schemeClr val="tx2"/>
                </a:solidFill>
                <a:latin typeface="微软雅黑" pitchFamily="34" charset="-122"/>
                <a:ea typeface="微软雅黑" pitchFamily="34" charset="-122"/>
              </a:defRPr>
            </a:lvl3pPr>
            <a:lvl4pPr algn="l" rtl="0" eaLnBrk="0" fontAlgn="base" hangingPunct="0">
              <a:spcBef>
                <a:spcPct val="0"/>
              </a:spcBef>
              <a:spcAft>
                <a:spcPct val="0"/>
              </a:spcAft>
              <a:defRPr sz="4000">
                <a:solidFill>
                  <a:schemeClr val="tx2"/>
                </a:solidFill>
                <a:latin typeface="微软雅黑" pitchFamily="34" charset="-122"/>
                <a:ea typeface="微软雅黑" pitchFamily="34" charset="-122"/>
              </a:defRPr>
            </a:lvl4pPr>
            <a:lvl5pPr algn="l" rtl="0" eaLnBrk="0" fontAlgn="base" hangingPunct="0">
              <a:spcBef>
                <a:spcPct val="0"/>
              </a:spcBef>
              <a:spcAft>
                <a:spcPct val="0"/>
              </a:spcAft>
              <a:defRPr sz="4000">
                <a:solidFill>
                  <a:schemeClr val="tx2"/>
                </a:solidFill>
                <a:latin typeface="微软雅黑" pitchFamily="34" charset="-122"/>
                <a:ea typeface="微软雅黑" pitchFamily="34" charset="-122"/>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a:lstStyle>
          <a:p>
            <a:pPr eaLnBrk="1" hangingPunct="1"/>
            <a:endParaRPr kumimoji="0" lang="zh-CN" altLang="en-US" sz="4400" dirty="0">
              <a:solidFill>
                <a:schemeClr val="bg1"/>
              </a:solidFill>
            </a:endParaRPr>
          </a:p>
        </p:txBody>
      </p:sp>
      <p:sp>
        <p:nvSpPr>
          <p:cNvPr id="4" name="标题 3">
            <a:extLst>
              <a:ext uri="{FF2B5EF4-FFF2-40B4-BE49-F238E27FC236}">
                <a16:creationId xmlns:a16="http://schemas.microsoft.com/office/drawing/2014/main" id="{9006D317-A3E0-47FF-A370-189510345596}"/>
              </a:ext>
            </a:extLst>
          </p:cNvPr>
          <p:cNvSpPr>
            <a:spLocks noGrp="1"/>
          </p:cNvSpPr>
          <p:nvPr>
            <p:ph type="title"/>
          </p:nvPr>
        </p:nvSpPr>
        <p:spPr/>
        <p:txBody>
          <a:bodyPr/>
          <a:lstStyle/>
          <a:p>
            <a:r>
              <a:rPr lang="zh-CN" altLang="en-US" dirty="0"/>
              <a:t>例</a:t>
            </a:r>
            <a:r>
              <a:rPr lang="en-US" altLang="zh-CN" dirty="0"/>
              <a:t>8-6 </a:t>
            </a:r>
            <a:r>
              <a:rPr lang="zh-CN" altLang="en-US" dirty="0"/>
              <a:t>抽象类举例</a:t>
            </a:r>
          </a:p>
        </p:txBody>
      </p:sp>
      <p:sp>
        <p:nvSpPr>
          <p:cNvPr id="50179" name="内容占位符 2"/>
          <p:cNvSpPr>
            <a:spLocks noGrp="1"/>
          </p:cNvSpPr>
          <p:nvPr>
            <p:ph idx="1"/>
          </p:nvPr>
        </p:nvSpPr>
        <p:spPr>
          <a:xfrm>
            <a:off x="2353171" y="1052736"/>
            <a:ext cx="9232404" cy="5521102"/>
          </a:xfrm>
        </p:spPr>
        <p:txBody>
          <a:bodyPr/>
          <a:lstStyle/>
          <a:p>
            <a:pPr>
              <a:spcBef>
                <a:spcPts val="0"/>
              </a:spcBef>
            </a:pPr>
            <a:r>
              <a:rPr lang="en-US" altLang="zh-CN" sz="2200" dirty="0"/>
              <a:t>class Derived: public Base2 { </a:t>
            </a:r>
            <a:endParaRPr lang="zh-CN" altLang="en-US" sz="2200" dirty="0"/>
          </a:p>
          <a:p>
            <a:pPr>
              <a:spcBef>
                <a:spcPts val="0"/>
              </a:spcBef>
            </a:pPr>
            <a:r>
              <a:rPr lang="en-US" altLang="zh-CN" sz="2200" dirty="0"/>
              <a:t>public:</a:t>
            </a:r>
          </a:p>
          <a:p>
            <a:pPr>
              <a:spcBef>
                <a:spcPts val="0"/>
              </a:spcBef>
            </a:pPr>
            <a:r>
              <a:rPr lang="en-US" altLang="zh-CN" sz="2200" dirty="0"/>
              <a:t>	 virtual void display() const; //</a:t>
            </a:r>
            <a:r>
              <a:rPr lang="zh-CN" altLang="en-US" sz="2200" dirty="0"/>
              <a:t>覆盖基类的虚函数</a:t>
            </a:r>
          </a:p>
          <a:p>
            <a:pPr>
              <a:spcBef>
                <a:spcPts val="0"/>
              </a:spcBef>
            </a:pPr>
            <a:r>
              <a:rPr lang="en-US" altLang="zh-CN" sz="2200" dirty="0"/>
              <a:t>};</a:t>
            </a:r>
          </a:p>
          <a:p>
            <a:pPr>
              <a:spcBef>
                <a:spcPts val="0"/>
              </a:spcBef>
            </a:pPr>
            <a:r>
              <a:rPr lang="en-US" altLang="zh-CN" sz="2200" dirty="0"/>
              <a:t>void Derived::display() const {</a:t>
            </a:r>
          </a:p>
          <a:p>
            <a:pPr>
              <a:spcBef>
                <a:spcPts val="0"/>
              </a:spcBef>
            </a:pPr>
            <a:r>
              <a:rPr lang="en-US" altLang="zh-CN" sz="2200" dirty="0"/>
              <a:t>	</a:t>
            </a:r>
            <a:r>
              <a:rPr lang="en-US" altLang="zh-CN" sz="2200" dirty="0" err="1"/>
              <a:t>cout</a:t>
            </a:r>
            <a:r>
              <a:rPr lang="en-US" altLang="zh-CN" sz="2200" dirty="0"/>
              <a:t> &lt;&lt; "Derived::display()" &lt;&lt; </a:t>
            </a:r>
            <a:r>
              <a:rPr lang="en-US" altLang="zh-CN" sz="2200" dirty="0" err="1"/>
              <a:t>endl</a:t>
            </a:r>
            <a:r>
              <a:rPr lang="en-US" altLang="zh-CN" sz="2200" dirty="0"/>
              <a:t>;</a:t>
            </a:r>
          </a:p>
          <a:p>
            <a:pPr>
              <a:spcBef>
                <a:spcPts val="0"/>
              </a:spcBef>
            </a:pPr>
            <a:r>
              <a:rPr lang="en-US" altLang="zh-CN" sz="2200" dirty="0"/>
              <a:t>} </a:t>
            </a:r>
          </a:p>
          <a:p>
            <a:pPr>
              <a:spcBef>
                <a:spcPts val="0"/>
              </a:spcBef>
            </a:pPr>
            <a:r>
              <a:rPr lang="en-US" altLang="zh-CN" sz="2200" dirty="0"/>
              <a:t>void fun(Base1 *</a:t>
            </a:r>
            <a:r>
              <a:rPr lang="en-US" altLang="zh-CN" sz="2200" dirty="0" err="1"/>
              <a:t>ptr</a:t>
            </a:r>
            <a:r>
              <a:rPr lang="en-US" altLang="zh-CN" sz="2200" dirty="0"/>
              <a:t>) { </a:t>
            </a:r>
            <a:endParaRPr lang="zh-CN" altLang="en-US" sz="2200" dirty="0"/>
          </a:p>
          <a:p>
            <a:pPr>
              <a:spcBef>
                <a:spcPts val="0"/>
              </a:spcBef>
            </a:pPr>
            <a:r>
              <a:rPr lang="zh-CN" altLang="en-US" sz="2200" dirty="0"/>
              <a:t>	</a:t>
            </a:r>
            <a:r>
              <a:rPr lang="en-US" altLang="zh-CN" sz="2200" dirty="0" err="1"/>
              <a:t>ptr</a:t>
            </a:r>
            <a:r>
              <a:rPr lang="en-US" altLang="zh-CN" sz="2200" dirty="0"/>
              <a:t>-&gt;display();	</a:t>
            </a:r>
          </a:p>
          <a:p>
            <a:pPr>
              <a:spcBef>
                <a:spcPts val="0"/>
              </a:spcBef>
            </a:pPr>
            <a:r>
              <a:rPr lang="en-US" altLang="zh-CN" sz="2200" dirty="0"/>
              <a:t>}</a:t>
            </a:r>
          </a:p>
          <a:p>
            <a:pPr>
              <a:spcBef>
                <a:spcPts val="0"/>
              </a:spcBef>
            </a:pPr>
            <a:r>
              <a:rPr lang="en-US" altLang="zh-CN" sz="2200" dirty="0"/>
              <a:t>int main() {	</a:t>
            </a:r>
            <a:endParaRPr lang="zh-CN" altLang="en-US" sz="2200" dirty="0"/>
          </a:p>
          <a:p>
            <a:pPr>
              <a:spcBef>
                <a:spcPts val="0"/>
              </a:spcBef>
            </a:pPr>
            <a:r>
              <a:rPr lang="zh-CN" altLang="en-US" sz="2200" dirty="0"/>
              <a:t>	</a:t>
            </a:r>
            <a:r>
              <a:rPr lang="en-US" altLang="zh-CN" sz="2200" dirty="0"/>
              <a:t>Base2 </a:t>
            </a:r>
            <a:r>
              <a:rPr lang="en-US" altLang="zh-CN" sz="2200" dirty="0" err="1"/>
              <a:t>base2</a:t>
            </a:r>
            <a:r>
              <a:rPr lang="en-US" altLang="zh-CN" sz="2200" dirty="0"/>
              <a:t>;	</a:t>
            </a:r>
            <a:endParaRPr lang="zh-CN" altLang="en-US" sz="2200" dirty="0"/>
          </a:p>
          <a:p>
            <a:pPr>
              <a:spcBef>
                <a:spcPts val="0"/>
              </a:spcBef>
            </a:pPr>
            <a:r>
              <a:rPr lang="zh-CN" altLang="en-US" sz="2200" dirty="0"/>
              <a:t>	</a:t>
            </a:r>
            <a:r>
              <a:rPr lang="en-US" altLang="zh-CN" sz="2200" dirty="0"/>
              <a:t>Derived </a:t>
            </a:r>
            <a:r>
              <a:rPr lang="en-US" altLang="zh-CN" sz="2200" dirty="0" err="1"/>
              <a:t>derived</a:t>
            </a:r>
            <a:r>
              <a:rPr lang="en-US" altLang="zh-CN" sz="2200" dirty="0"/>
              <a:t>;	</a:t>
            </a:r>
            <a:endParaRPr lang="zh-CN" altLang="en-US" sz="2200" dirty="0"/>
          </a:p>
          <a:p>
            <a:pPr>
              <a:spcBef>
                <a:spcPts val="0"/>
              </a:spcBef>
            </a:pPr>
            <a:r>
              <a:rPr lang="zh-CN" altLang="en-US" sz="2200" dirty="0"/>
              <a:t>	</a:t>
            </a:r>
            <a:r>
              <a:rPr lang="en-US" altLang="zh-CN" sz="2200" dirty="0"/>
              <a:t>fun(&amp;base2);	</a:t>
            </a:r>
            <a:endParaRPr lang="zh-CN" altLang="en-US" sz="2200" dirty="0"/>
          </a:p>
          <a:p>
            <a:pPr>
              <a:spcBef>
                <a:spcPts val="0"/>
              </a:spcBef>
            </a:pPr>
            <a:r>
              <a:rPr lang="zh-CN" altLang="en-US" sz="2200" dirty="0"/>
              <a:t>	</a:t>
            </a:r>
            <a:r>
              <a:rPr lang="en-US" altLang="zh-CN" sz="2200" dirty="0"/>
              <a:t>fun(&amp;derived);	</a:t>
            </a:r>
            <a:endParaRPr lang="zh-CN" altLang="en-US" sz="2200" dirty="0"/>
          </a:p>
          <a:p>
            <a:pPr>
              <a:spcBef>
                <a:spcPts val="0"/>
              </a:spcBef>
            </a:pPr>
            <a:r>
              <a:rPr lang="zh-CN" altLang="en-US" sz="2200" dirty="0"/>
              <a:t>	</a:t>
            </a:r>
            <a:r>
              <a:rPr lang="en-US" altLang="zh-CN" sz="2200" dirty="0"/>
              <a:t>return 0;</a:t>
            </a:r>
          </a:p>
          <a:p>
            <a:pPr>
              <a:spcBef>
                <a:spcPts val="0"/>
              </a:spcBef>
            </a:pPr>
            <a:r>
              <a:rPr lang="en-US" altLang="zh-CN" sz="2200" dirty="0"/>
              <a:t>}</a:t>
            </a:r>
          </a:p>
          <a:p>
            <a:pPr>
              <a:spcBef>
                <a:spcPts val="0"/>
              </a:spcBef>
            </a:pPr>
            <a:endParaRPr lang="en-US" altLang="zh-CN" sz="2200" dirty="0"/>
          </a:p>
          <a:p>
            <a:pPr>
              <a:spcBef>
                <a:spcPts val="0"/>
              </a:spcBef>
            </a:pPr>
            <a:r>
              <a:rPr lang="en-US" altLang="zh-CN" sz="2200" dirty="0"/>
              <a:t> </a:t>
            </a:r>
          </a:p>
        </p:txBody>
      </p:sp>
      <p:sp>
        <p:nvSpPr>
          <p:cNvPr id="50182" name="Text Box 4"/>
          <p:cNvSpPr txBox="1">
            <a:spLocks noChangeArrowheads="1"/>
          </p:cNvSpPr>
          <p:nvPr/>
        </p:nvSpPr>
        <p:spPr bwMode="auto">
          <a:xfrm>
            <a:off x="8761883" y="5221644"/>
            <a:ext cx="2665412" cy="1138238"/>
          </a:xfrm>
          <a:prstGeom prst="rect">
            <a:avLst/>
          </a:prstGeom>
          <a:solidFill>
            <a:srgbClr val="FFFF66"/>
          </a:solidFill>
          <a:ln w="12700" cap="sq">
            <a:solidFill>
              <a:schemeClr val="tx1"/>
            </a:solidFill>
            <a:miter lim="800000"/>
            <a:headEnd type="none" w="sm" len="sm"/>
            <a:tailEnd type="none" w="sm" len="sm"/>
          </a:ln>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spcBef>
                <a:spcPct val="20000"/>
              </a:spcBef>
              <a:buClr>
                <a:schemeClr val="accent2"/>
              </a:buClr>
              <a:buSzPct val="80000"/>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运行结果：</a:t>
            </a:r>
          </a:p>
          <a:p>
            <a:pPr algn="just" eaLnBrk="1" hangingPunct="1">
              <a:spcBef>
                <a:spcPct val="20000"/>
              </a:spcBef>
              <a:buClr>
                <a:schemeClr val="accent2"/>
              </a:buClr>
              <a:buSzPct val="80000"/>
              <a:buFont typeface="Wingdings" panose="05000000000000000000" pitchFamily="2" charset="2"/>
              <a:buNone/>
            </a:pPr>
            <a:r>
              <a:rPr lang="en-US" altLang="zh-CN" sz="2000">
                <a:latin typeface="微软雅黑" panose="020B0503020204020204" pitchFamily="34" charset="-122"/>
                <a:ea typeface="微软雅黑" panose="020B0503020204020204" pitchFamily="34" charset="-122"/>
              </a:rPr>
              <a:t>Base2::display()</a:t>
            </a:r>
          </a:p>
          <a:p>
            <a:pPr algn="just" eaLnBrk="1" hangingPunct="1">
              <a:spcBef>
                <a:spcPct val="20000"/>
              </a:spcBef>
              <a:buClr>
                <a:schemeClr val="accent2"/>
              </a:buClr>
              <a:buSzPct val="80000"/>
              <a:buFont typeface="Wingdings" panose="05000000000000000000" pitchFamily="2" charset="2"/>
              <a:buNone/>
            </a:pPr>
            <a:r>
              <a:rPr lang="en-US" altLang="zh-CN" sz="2000">
                <a:latin typeface="微软雅黑" panose="020B0503020204020204" pitchFamily="34" charset="-122"/>
                <a:ea typeface="微软雅黑" panose="020B0503020204020204" pitchFamily="34" charset="-122"/>
              </a:rPr>
              <a:t>Derived::display()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xfrm>
            <a:off x="609600" y="1341438"/>
            <a:ext cx="3616325" cy="588962"/>
          </a:xfrm>
        </p:spPr>
        <p:txBody>
          <a:bodyPr/>
          <a:lstStyle/>
          <a:p>
            <a:pPr eaLnBrk="1" hangingPunct="1"/>
            <a:r>
              <a:rPr lang="zh-CN" altLang="en-US">
                <a:solidFill>
                  <a:srgbClr val="003399"/>
                </a:solidFill>
              </a:rPr>
              <a:t>纯虚函数</a:t>
            </a:r>
          </a:p>
        </p:txBody>
      </p:sp>
      <p:sp>
        <p:nvSpPr>
          <p:cNvPr id="44035" name="内容占位符 2"/>
          <p:cNvSpPr>
            <a:spLocks noGrp="1"/>
          </p:cNvSpPr>
          <p:nvPr>
            <p:ph idx="1"/>
          </p:nvPr>
        </p:nvSpPr>
        <p:spPr>
          <a:xfrm>
            <a:off x="625475" y="2205038"/>
            <a:ext cx="10584680" cy="4319587"/>
          </a:xfrm>
        </p:spPr>
        <p:txBody>
          <a:bodyPr/>
          <a:lstStyle/>
          <a:p>
            <a:pPr marL="365760" indent="-256032" eaLnBrk="1" fontAlgn="auto" hangingPunct="1">
              <a:spcAft>
                <a:spcPts val="0"/>
              </a:spcAft>
              <a:buClr>
                <a:schemeClr val="accent3"/>
              </a:buClr>
              <a:buFont typeface="Georgia"/>
              <a:buChar char="•"/>
              <a:defRPr/>
            </a:pPr>
            <a:r>
              <a:rPr lang="zh-CN" altLang="en-US" sz="2400" dirty="0">
                <a:latin typeface="Consolas" pitchFamily="49" charset="0"/>
              </a:rPr>
              <a:t>纯虚函数是一个在基类中声明的虚函数，它在该基类中没有定义具体的操作内容，要求各派生类根据实际需要定义自己的版本，纯虚函数的声明格式为：</a:t>
            </a:r>
          </a:p>
          <a:p>
            <a:pPr marL="658368" lvl="1" indent="-246888" eaLnBrk="1" fontAlgn="auto" hangingPunct="1">
              <a:spcAft>
                <a:spcPts val="0"/>
              </a:spcAft>
              <a:buFont typeface="Georgia" panose="02040502050405020303" pitchFamily="18" charset="0"/>
              <a:buNone/>
              <a:defRPr/>
            </a:pPr>
            <a:r>
              <a:rPr lang="en-US" altLang="zh-CN" sz="2400" dirty="0">
                <a:latin typeface="Consolas" pitchFamily="49" charset="0"/>
              </a:rPr>
              <a:t>virtual </a:t>
            </a:r>
            <a:r>
              <a:rPr lang="zh-CN" altLang="en-US" sz="2400" dirty="0">
                <a:latin typeface="Consolas" pitchFamily="49" charset="0"/>
              </a:rPr>
              <a:t>函数类型 函数名</a:t>
            </a:r>
            <a:r>
              <a:rPr lang="en-US" altLang="zh-CN" sz="2400" dirty="0">
                <a:latin typeface="Consolas" pitchFamily="49" charset="0"/>
              </a:rPr>
              <a:t>(</a:t>
            </a:r>
            <a:r>
              <a:rPr lang="zh-CN" altLang="en-US" sz="2400" dirty="0">
                <a:latin typeface="Consolas" pitchFamily="49" charset="0"/>
              </a:rPr>
              <a:t>参数表</a:t>
            </a:r>
            <a:r>
              <a:rPr lang="en-US" altLang="zh-CN" sz="2400" dirty="0">
                <a:latin typeface="Consolas" pitchFamily="49" charset="0"/>
              </a:rPr>
              <a:t>) = 0;</a:t>
            </a:r>
          </a:p>
        </p:txBody>
      </p:sp>
      <p:sp>
        <p:nvSpPr>
          <p:cNvPr id="2" name="灯片编号占位符 1">
            <a:extLst>
              <a:ext uri="{FF2B5EF4-FFF2-40B4-BE49-F238E27FC236}">
                <a16:creationId xmlns:a16="http://schemas.microsoft.com/office/drawing/2014/main" id="{01748407-45B5-415B-BC1B-325A1B5A8B2E}"/>
              </a:ext>
            </a:extLst>
          </p:cNvPr>
          <p:cNvSpPr>
            <a:spLocks noGrp="1"/>
          </p:cNvSpPr>
          <p:nvPr>
            <p:ph type="sldNum" sz="quarter" idx="4"/>
          </p:nvPr>
        </p:nvSpPr>
        <p:spPr/>
        <p:txBody>
          <a:bodyPr/>
          <a:lstStyle/>
          <a:p>
            <a:fld id="{C42A670E-4250-4C14-8323-982480E0B347}" type="slidenum">
              <a:rPr lang="zh-CN" altLang="en-US" smtClean="0"/>
              <a:pPr/>
              <a:t>47</a:t>
            </a:fld>
            <a:endParaRPr lang="zh-CN" altLang="en-US"/>
          </a:p>
        </p:txBody>
      </p:sp>
    </p:spTree>
    <p:extLst>
      <p:ext uri="{BB962C8B-B14F-4D97-AF65-F5344CB8AC3E}">
        <p14:creationId xmlns:p14="http://schemas.microsoft.com/office/powerpoint/2010/main" val="26415980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xfrm>
            <a:off x="609600" y="1341438"/>
            <a:ext cx="3616325" cy="588962"/>
          </a:xfrm>
        </p:spPr>
        <p:txBody>
          <a:bodyPr/>
          <a:lstStyle/>
          <a:p>
            <a:pPr eaLnBrk="1" hangingPunct="1"/>
            <a:r>
              <a:rPr lang="zh-CN" altLang="en-US">
                <a:solidFill>
                  <a:srgbClr val="003399"/>
                </a:solidFill>
              </a:rPr>
              <a:t>抽象类</a:t>
            </a:r>
          </a:p>
        </p:txBody>
      </p:sp>
      <p:sp>
        <p:nvSpPr>
          <p:cNvPr id="44035" name="内容占位符 2"/>
          <p:cNvSpPr>
            <a:spLocks noGrp="1"/>
          </p:cNvSpPr>
          <p:nvPr>
            <p:ph idx="1"/>
          </p:nvPr>
        </p:nvSpPr>
        <p:spPr>
          <a:xfrm>
            <a:off x="625475" y="2205038"/>
            <a:ext cx="10584680" cy="4319587"/>
          </a:xfrm>
        </p:spPr>
        <p:txBody>
          <a:bodyPr/>
          <a:lstStyle/>
          <a:p>
            <a:pPr marL="365760" indent="-256032" eaLnBrk="1" fontAlgn="auto" hangingPunct="1">
              <a:spcBef>
                <a:spcPts val="1200"/>
              </a:spcBef>
              <a:spcAft>
                <a:spcPts val="0"/>
              </a:spcAft>
              <a:buClr>
                <a:schemeClr val="accent3"/>
              </a:buClr>
              <a:buFont typeface="Arial" pitchFamily="34" charset="0"/>
              <a:buChar char="•"/>
              <a:defRPr/>
            </a:pPr>
            <a:r>
              <a:rPr lang="zh-CN" altLang="zh-CN" sz="2400">
                <a:latin typeface="Consolas" pitchFamily="49" charset="0"/>
              </a:rPr>
              <a:t>带有</a:t>
            </a:r>
            <a:r>
              <a:rPr lang="zh-CN" altLang="zh-CN" sz="2400" dirty="0">
                <a:latin typeface="Consolas" pitchFamily="49" charset="0"/>
              </a:rPr>
              <a:t>纯虚函数的类称为抽象类:</a:t>
            </a:r>
          </a:p>
          <a:p>
            <a:pPr marL="657860" lvl="1" indent="-256032" eaLnBrk="1" fontAlgn="auto" hangingPunct="1">
              <a:spcAft>
                <a:spcPts val="0"/>
              </a:spcAft>
              <a:buClr>
                <a:schemeClr val="accent3"/>
              </a:buClr>
              <a:buFont typeface="Georgia"/>
              <a:buNone/>
              <a:defRPr/>
            </a:pPr>
            <a:r>
              <a:rPr lang="en-US" altLang="zh-CN" sz="2400" dirty="0">
                <a:latin typeface="Consolas" pitchFamily="49" charset="0"/>
              </a:rPr>
              <a:t>class  </a:t>
            </a:r>
            <a:r>
              <a:rPr lang="zh-CN" altLang="zh-CN" sz="2400" dirty="0">
                <a:latin typeface="Consolas" pitchFamily="49" charset="0"/>
              </a:rPr>
              <a:t>类名</a:t>
            </a:r>
          </a:p>
          <a:p>
            <a:pPr marL="657860" lvl="1" indent="-256032" eaLnBrk="1" fontAlgn="auto" hangingPunct="1">
              <a:spcAft>
                <a:spcPts val="0"/>
              </a:spcAft>
              <a:buClr>
                <a:schemeClr val="accent3"/>
              </a:buClr>
              <a:buFont typeface="Georgia"/>
              <a:buNone/>
              <a:defRPr/>
            </a:pPr>
            <a:r>
              <a:rPr lang="en-US" altLang="zh-CN" sz="2400" dirty="0">
                <a:latin typeface="Consolas" pitchFamily="49" charset="0"/>
              </a:rPr>
              <a:t>{</a:t>
            </a:r>
          </a:p>
          <a:p>
            <a:pPr marL="657860" lvl="1" indent="-256032" eaLnBrk="1" fontAlgn="auto" hangingPunct="1">
              <a:spcAft>
                <a:spcPts val="0"/>
              </a:spcAft>
              <a:buClr>
                <a:schemeClr val="accent3"/>
              </a:buClr>
              <a:buFont typeface="Georgia"/>
              <a:buNone/>
              <a:defRPr/>
            </a:pPr>
            <a:r>
              <a:rPr lang="en-US" altLang="en-US" sz="2400" dirty="0">
                <a:latin typeface="Consolas" pitchFamily="49" charset="0"/>
              </a:rPr>
              <a:t>     </a:t>
            </a:r>
            <a:r>
              <a:rPr lang="en-US" altLang="zh-CN" sz="2400" dirty="0">
                <a:solidFill>
                  <a:schemeClr val="tx2"/>
                </a:solidFill>
                <a:latin typeface="Consolas" pitchFamily="49" charset="0"/>
              </a:rPr>
              <a:t>virtual</a:t>
            </a:r>
            <a:r>
              <a:rPr lang="en-US" altLang="zh-CN" sz="2400" dirty="0">
                <a:latin typeface="Consolas" pitchFamily="49" charset="0"/>
              </a:rPr>
              <a:t> </a:t>
            </a:r>
            <a:r>
              <a:rPr lang="zh-CN" altLang="en-US" sz="2400" dirty="0">
                <a:latin typeface="Consolas" pitchFamily="49" charset="0"/>
              </a:rPr>
              <a:t>类型 函数名</a:t>
            </a:r>
            <a:r>
              <a:rPr lang="en-US" altLang="zh-CN" sz="2400" dirty="0">
                <a:latin typeface="Consolas" pitchFamily="49" charset="0"/>
              </a:rPr>
              <a:t>(</a:t>
            </a:r>
            <a:r>
              <a:rPr lang="zh-CN" altLang="en-US" sz="2400" dirty="0">
                <a:latin typeface="Consolas" pitchFamily="49" charset="0"/>
              </a:rPr>
              <a:t>参数表</a:t>
            </a:r>
            <a:r>
              <a:rPr lang="en-US" altLang="zh-CN" sz="2400" dirty="0">
                <a:latin typeface="Consolas" pitchFamily="49" charset="0"/>
              </a:rPr>
              <a:t>)</a:t>
            </a:r>
            <a:r>
              <a:rPr lang="en-US" altLang="zh-CN" sz="2400" dirty="0">
                <a:solidFill>
                  <a:schemeClr val="tx2"/>
                </a:solidFill>
                <a:latin typeface="Consolas" pitchFamily="49" charset="0"/>
              </a:rPr>
              <a:t>=0</a:t>
            </a:r>
            <a:r>
              <a:rPr lang="en-US" altLang="zh-CN" sz="2400" dirty="0">
                <a:latin typeface="Consolas" pitchFamily="49" charset="0"/>
              </a:rPr>
              <a:t>;</a:t>
            </a:r>
            <a:endParaRPr lang="zh-CN" altLang="en-US" sz="2400" b="1" dirty="0">
              <a:latin typeface="Consolas" pitchFamily="49" charset="0"/>
            </a:endParaRPr>
          </a:p>
          <a:p>
            <a:pPr marL="657860" lvl="1" indent="-256032" eaLnBrk="1" fontAlgn="auto" hangingPunct="1">
              <a:spcAft>
                <a:spcPts val="0"/>
              </a:spcAft>
              <a:buClr>
                <a:schemeClr val="accent3"/>
              </a:buClr>
              <a:buFont typeface="Georgia"/>
              <a:buNone/>
              <a:defRPr/>
            </a:pPr>
            <a:r>
              <a:rPr lang="zh-CN" altLang="en-US" sz="2400">
                <a:latin typeface="Consolas" pitchFamily="49" charset="0"/>
              </a:rPr>
              <a:t>     </a:t>
            </a:r>
            <a:r>
              <a:rPr lang="en-US" altLang="zh-CN">
                <a:latin typeface="Consolas" pitchFamily="49" charset="0"/>
              </a:rPr>
              <a:t>//</a:t>
            </a:r>
            <a:r>
              <a:rPr lang="zh-CN" altLang="en-US">
                <a:latin typeface="Consolas" pitchFamily="49" charset="0"/>
              </a:rPr>
              <a:t>其他成员</a:t>
            </a:r>
            <a:r>
              <a:rPr lang="en-US" altLang="zh-CN">
                <a:latin typeface="Consolas" pitchFamily="49" charset="0"/>
              </a:rPr>
              <a:t>……</a:t>
            </a:r>
            <a:endParaRPr lang="en-US" altLang="zh-CN" sz="2400" dirty="0">
              <a:latin typeface="Consolas" pitchFamily="49" charset="0"/>
            </a:endParaRPr>
          </a:p>
          <a:p>
            <a:pPr marL="657860" lvl="1" indent="-256032" eaLnBrk="1" fontAlgn="auto" hangingPunct="1">
              <a:spcAft>
                <a:spcPts val="0"/>
              </a:spcAft>
              <a:buClr>
                <a:schemeClr val="accent3"/>
              </a:buClr>
              <a:buFont typeface="Georgia"/>
              <a:buNone/>
              <a:defRPr/>
            </a:pPr>
            <a:r>
              <a:rPr lang="en-US" altLang="zh-CN" sz="2400" dirty="0">
                <a:latin typeface="Consolas" pitchFamily="49" charset="0"/>
              </a:rPr>
              <a:t>}</a:t>
            </a:r>
            <a:endParaRPr lang="zh-CN" altLang="en-US" sz="2400" dirty="0">
              <a:latin typeface="Consolas" pitchFamily="49" charset="0"/>
            </a:endParaRPr>
          </a:p>
        </p:txBody>
      </p:sp>
      <p:sp>
        <p:nvSpPr>
          <p:cNvPr id="2" name="灯片编号占位符 1">
            <a:extLst>
              <a:ext uri="{FF2B5EF4-FFF2-40B4-BE49-F238E27FC236}">
                <a16:creationId xmlns:a16="http://schemas.microsoft.com/office/drawing/2014/main" id="{DED3783F-474F-4DB8-AFE8-85F2B1E40F7F}"/>
              </a:ext>
            </a:extLst>
          </p:cNvPr>
          <p:cNvSpPr>
            <a:spLocks noGrp="1"/>
          </p:cNvSpPr>
          <p:nvPr>
            <p:ph type="sldNum" sz="quarter" idx="4"/>
          </p:nvPr>
        </p:nvSpPr>
        <p:spPr/>
        <p:txBody>
          <a:bodyPr/>
          <a:lstStyle/>
          <a:p>
            <a:fld id="{C42A670E-4250-4C14-8323-982480E0B347}" type="slidenum">
              <a:rPr lang="zh-CN" altLang="en-US" smtClean="0"/>
              <a:pPr/>
              <a:t>48</a:t>
            </a:fld>
            <a:endParaRPr lang="zh-CN" altLang="en-US"/>
          </a:p>
        </p:txBody>
      </p:sp>
    </p:spTree>
    <p:extLst>
      <p:ext uri="{BB962C8B-B14F-4D97-AF65-F5344CB8AC3E}">
        <p14:creationId xmlns:p14="http://schemas.microsoft.com/office/powerpoint/2010/main" val="3331661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抽象类的作用</a:t>
            </a:r>
          </a:p>
        </p:txBody>
      </p:sp>
      <p:sp>
        <p:nvSpPr>
          <p:cNvPr id="48131" name="内容占位符 2"/>
          <p:cNvSpPr>
            <a:spLocks noGrp="1"/>
          </p:cNvSpPr>
          <p:nvPr>
            <p:ph idx="1"/>
          </p:nvPr>
        </p:nvSpPr>
        <p:spPr/>
        <p:txBody>
          <a:bodyPr/>
          <a:lstStyle/>
          <a:p>
            <a:pPr eaLnBrk="1" hangingPunct="1">
              <a:lnSpc>
                <a:spcPct val="110000"/>
              </a:lnSpc>
            </a:pPr>
            <a:r>
              <a:rPr lang="zh-CN" altLang="en-US"/>
              <a:t>抽象类为抽象和设计的目的而声明；</a:t>
            </a:r>
          </a:p>
          <a:p>
            <a:pPr eaLnBrk="1" hangingPunct="1">
              <a:lnSpc>
                <a:spcPct val="110000"/>
              </a:lnSpc>
            </a:pPr>
            <a:r>
              <a:rPr lang="zh-CN" altLang="en-US"/>
              <a:t>将有关的数据和行为组织在一个继承层次结构中，保证派生类具有要求的行为；</a:t>
            </a:r>
          </a:p>
          <a:p>
            <a:pPr eaLnBrk="1" hangingPunct="1">
              <a:lnSpc>
                <a:spcPct val="110000"/>
              </a:lnSpc>
            </a:pPr>
            <a:r>
              <a:rPr lang="zh-CN" altLang="en-US"/>
              <a:t>对于暂时无法实现的函数，可以声明为纯虚函数，留给派生类去实现；</a:t>
            </a:r>
          </a:p>
          <a:p>
            <a:pPr eaLnBrk="1" hangingPunct="1">
              <a:lnSpc>
                <a:spcPct val="110000"/>
              </a:lnSpc>
            </a:pPr>
            <a:r>
              <a:rPr lang="zh-CN" altLang="en-US"/>
              <a:t>注意</a:t>
            </a:r>
          </a:p>
          <a:p>
            <a:pPr lvl="1" eaLnBrk="1" hangingPunct="1">
              <a:lnSpc>
                <a:spcPct val="110000"/>
              </a:lnSpc>
            </a:pPr>
            <a:r>
              <a:rPr lang="zh-CN" altLang="en-US"/>
              <a:t>抽象类只能作为基类来使用；</a:t>
            </a:r>
          </a:p>
          <a:p>
            <a:pPr lvl="1" eaLnBrk="1" hangingPunct="1">
              <a:lnSpc>
                <a:spcPct val="110000"/>
              </a:lnSpc>
            </a:pPr>
            <a:r>
              <a:rPr lang="zh-CN" altLang="en-US"/>
              <a:t>不能定义抽象类的对象。</a:t>
            </a:r>
            <a:endParaRPr lang="en-US" altLang="zh-CN"/>
          </a:p>
        </p:txBody>
      </p:sp>
      <p:sp>
        <p:nvSpPr>
          <p:cNvPr id="3" name="灯片编号占位符 2">
            <a:extLst>
              <a:ext uri="{FF2B5EF4-FFF2-40B4-BE49-F238E27FC236}">
                <a16:creationId xmlns:a16="http://schemas.microsoft.com/office/drawing/2014/main" id="{8B77BDE4-22CE-4DFA-A3C1-7DDBE081CAD8}"/>
              </a:ext>
            </a:extLst>
          </p:cNvPr>
          <p:cNvSpPr>
            <a:spLocks noGrp="1"/>
          </p:cNvSpPr>
          <p:nvPr>
            <p:ph type="sldNum" sz="quarter" idx="4"/>
          </p:nvPr>
        </p:nvSpPr>
        <p:spPr/>
        <p:txBody>
          <a:bodyPr/>
          <a:lstStyle/>
          <a:p>
            <a:fld id="{C42A670E-4250-4C14-8323-982480E0B347}" type="slidenum">
              <a:rPr lang="zh-CN" altLang="en-US" smtClean="0"/>
              <a:pPr/>
              <a:t>49</a:t>
            </a:fld>
            <a:endParaRPr lang="zh-CN" altLang="en-US"/>
          </a:p>
        </p:txBody>
      </p:sp>
    </p:spTree>
    <p:extLst>
      <p:ext uri="{BB962C8B-B14F-4D97-AF65-F5344CB8AC3E}">
        <p14:creationId xmlns:p14="http://schemas.microsoft.com/office/powerpoint/2010/main" val="30302312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override  </a:t>
            </a:r>
            <a:r>
              <a:rPr lang="zh-CN" altLang="en-US" dirty="0"/>
              <a:t>与 </a:t>
            </a:r>
            <a:r>
              <a:rPr lang="en-US" altLang="zh-CN" dirty="0"/>
              <a:t>final</a:t>
            </a:r>
            <a:endParaRPr lang="zh-CN" altLang="en-US" dirty="0"/>
          </a:p>
        </p:txBody>
      </p:sp>
      <p:sp>
        <p:nvSpPr>
          <p:cNvPr id="3" name="副标题 2"/>
          <p:cNvSpPr>
            <a:spLocks noGrp="1"/>
          </p:cNvSpPr>
          <p:nvPr>
            <p:ph type="body" idx="1"/>
          </p:nvPr>
        </p:nvSpPr>
        <p:spPr/>
        <p:txBody>
          <a:bodyPr/>
          <a:lstStyle/>
          <a:p>
            <a:r>
              <a:rPr lang="en-US" altLang="zh-CN" dirty="0"/>
              <a:t>override</a:t>
            </a:r>
            <a:r>
              <a:rPr lang="zh-CN" altLang="en-US" dirty="0"/>
              <a:t>与</a:t>
            </a:r>
            <a:r>
              <a:rPr lang="en-US" altLang="zh-CN" dirty="0"/>
              <a:t>final</a:t>
            </a:r>
            <a:r>
              <a:rPr lang="zh-CN" altLang="en-US" dirty="0"/>
              <a:t>都不是语言关键字（</a:t>
            </a:r>
            <a:r>
              <a:rPr lang="en-US" altLang="zh-CN" dirty="0"/>
              <a:t>keyword</a:t>
            </a:r>
            <a:r>
              <a:rPr lang="zh-CN" altLang="en-US" dirty="0"/>
              <a:t>），只有在特定的位置才有特别含意，其他地方仍旧可以作为一般标识符（</a:t>
            </a:r>
            <a:r>
              <a:rPr lang="en-US" altLang="zh-CN" dirty="0"/>
              <a:t>identifier</a:t>
            </a:r>
            <a:r>
              <a:rPr lang="zh-CN" altLang="en-US" dirty="0"/>
              <a:t>）使用。</a:t>
            </a:r>
          </a:p>
        </p:txBody>
      </p:sp>
      <p:sp>
        <p:nvSpPr>
          <p:cNvPr id="4" name="灯片编号占位符 3">
            <a:extLst>
              <a:ext uri="{FF2B5EF4-FFF2-40B4-BE49-F238E27FC236}">
                <a16:creationId xmlns:a16="http://schemas.microsoft.com/office/drawing/2014/main" id="{B048B6A7-8612-45A2-B56A-1744E4F69739}"/>
              </a:ext>
            </a:extLst>
          </p:cNvPr>
          <p:cNvSpPr>
            <a:spLocks noGrp="1"/>
          </p:cNvSpPr>
          <p:nvPr>
            <p:ph type="sldNum" sz="quarter" idx="4"/>
          </p:nvPr>
        </p:nvSpPr>
        <p:spPr/>
        <p:txBody>
          <a:bodyPr/>
          <a:lstStyle/>
          <a:p>
            <a:fld id="{C42A670E-4250-4C14-8323-982480E0B347}" type="slidenum">
              <a:rPr lang="zh-CN" altLang="en-US" smtClean="0"/>
              <a:pPr/>
              <a:t>50</a:t>
            </a:fld>
            <a:endParaRPr lang="zh-CN" altLang="en-US"/>
          </a:p>
        </p:txBody>
      </p:sp>
    </p:spTree>
    <p:extLst>
      <p:ext uri="{BB962C8B-B14F-4D97-AF65-F5344CB8AC3E}">
        <p14:creationId xmlns:p14="http://schemas.microsoft.com/office/powerpoint/2010/main" val="14482460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override</a:t>
            </a:r>
            <a:endParaRPr lang="zh-CN" altLang="en-US" dirty="0"/>
          </a:p>
        </p:txBody>
      </p:sp>
      <p:sp>
        <p:nvSpPr>
          <p:cNvPr id="3" name="内容占位符 2"/>
          <p:cNvSpPr>
            <a:spLocks noGrp="1"/>
          </p:cNvSpPr>
          <p:nvPr>
            <p:ph idx="1"/>
          </p:nvPr>
        </p:nvSpPr>
        <p:spPr/>
        <p:txBody>
          <a:bodyPr/>
          <a:lstStyle/>
          <a:p>
            <a:r>
              <a:rPr lang="zh-CN" altLang="en-US" dirty="0"/>
              <a:t>显式函数覆盖</a:t>
            </a:r>
            <a:endParaRPr lang="en-US" altLang="zh-CN" dirty="0"/>
          </a:p>
          <a:p>
            <a:r>
              <a:rPr lang="zh-CN" altLang="en-US" dirty="0"/>
              <a:t>声明该函数必须覆盖基类的虚函数，编译器可发现“未覆盖”错误</a:t>
            </a:r>
            <a:endParaRPr lang="en-US" altLang="zh-CN" dirty="0"/>
          </a:p>
          <a:p>
            <a:r>
              <a:rPr lang="zh-CN" altLang="en-US" dirty="0"/>
              <a:t>复习：覆盖要求</a:t>
            </a:r>
            <a:endParaRPr lang="en-US" altLang="zh-CN" dirty="0"/>
          </a:p>
          <a:p>
            <a:pPr lvl="1"/>
            <a:r>
              <a:rPr lang="zh-CN" altLang="en-US" dirty="0"/>
              <a:t>函数签名（</a:t>
            </a:r>
            <a:r>
              <a:rPr lang="en-US" altLang="zh-CN" dirty="0"/>
              <a:t>signature</a:t>
            </a:r>
            <a:r>
              <a:rPr lang="zh-CN" altLang="en-US" dirty="0"/>
              <a:t>）完全一致</a:t>
            </a:r>
            <a:endParaRPr lang="en-US" altLang="zh-CN" dirty="0"/>
          </a:p>
          <a:p>
            <a:pPr lvl="1"/>
            <a:r>
              <a:rPr lang="zh-CN" altLang="en-US" dirty="0"/>
              <a:t>函数签名包括：函数名 参数列表 </a:t>
            </a:r>
            <a:r>
              <a:rPr lang="en-US" altLang="zh-CN" dirty="0" err="1"/>
              <a:t>const</a:t>
            </a:r>
            <a:endParaRPr lang="en-US" altLang="zh-CN" dirty="0"/>
          </a:p>
          <a:p>
            <a:endParaRPr lang="en-US" altLang="zh-CN" dirty="0"/>
          </a:p>
        </p:txBody>
      </p:sp>
      <p:sp>
        <p:nvSpPr>
          <p:cNvPr id="4" name="灯片编号占位符 3">
            <a:extLst>
              <a:ext uri="{FF2B5EF4-FFF2-40B4-BE49-F238E27FC236}">
                <a16:creationId xmlns:a16="http://schemas.microsoft.com/office/drawing/2014/main" id="{58572075-AA16-451B-946D-33FAE39BDFE1}"/>
              </a:ext>
            </a:extLst>
          </p:cNvPr>
          <p:cNvSpPr>
            <a:spLocks noGrp="1"/>
          </p:cNvSpPr>
          <p:nvPr>
            <p:ph type="sldNum" sz="quarter" idx="4"/>
          </p:nvPr>
        </p:nvSpPr>
        <p:spPr/>
        <p:txBody>
          <a:bodyPr/>
          <a:lstStyle/>
          <a:p>
            <a:fld id="{C42A670E-4250-4C14-8323-982480E0B347}" type="slidenum">
              <a:rPr lang="zh-CN" altLang="en-US" smtClean="0"/>
              <a:pPr/>
              <a:t>51</a:t>
            </a:fld>
            <a:endParaRPr lang="zh-CN" altLang="en-US"/>
          </a:p>
        </p:txBody>
      </p:sp>
    </p:spTree>
    <p:extLst>
      <p:ext uri="{BB962C8B-B14F-4D97-AF65-F5344CB8AC3E}">
        <p14:creationId xmlns:p14="http://schemas.microsoft.com/office/powerpoint/2010/main" val="29421568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53429" y="1484785"/>
            <a:ext cx="6096000" cy="4401205"/>
          </a:xfrm>
          <a:prstGeom prst="rect">
            <a:avLst/>
          </a:prstGeom>
        </p:spPr>
        <p:txBody>
          <a:bodyPr>
            <a:spAutoFit/>
          </a:bodyPr>
          <a:lstStyle/>
          <a:p>
            <a:r>
              <a:rPr lang="en-US" altLang="zh-CN" sz="2000" dirty="0">
                <a:solidFill>
                  <a:srgbClr val="7F0055"/>
                </a:solidFill>
                <a:latin typeface="微软雅黑" panose="020B0503020204020204" pitchFamily="34" charset="-122"/>
                <a:ea typeface="微软雅黑" panose="020B0503020204020204" pitchFamily="34" charset="-122"/>
              </a:rPr>
              <a:t>#include</a:t>
            </a:r>
            <a:r>
              <a:rPr lang="en-US" altLang="zh-CN" sz="2000" dirty="0">
                <a:solidFill>
                  <a:srgbClr val="000000"/>
                </a:solidFill>
                <a:latin typeface="微软雅黑" panose="020B0503020204020204" pitchFamily="34" charset="-122"/>
                <a:ea typeface="微软雅黑" panose="020B0503020204020204" pitchFamily="34" charset="-122"/>
              </a:rPr>
              <a:t> </a:t>
            </a:r>
            <a:r>
              <a:rPr lang="en-US" altLang="zh-CN" sz="2000" dirty="0">
                <a:solidFill>
                  <a:srgbClr val="2A00FF"/>
                </a:solidFill>
                <a:latin typeface="微软雅黑" panose="020B0503020204020204" pitchFamily="34" charset="-122"/>
                <a:ea typeface="微软雅黑" panose="020B0503020204020204" pitchFamily="34" charset="-122"/>
              </a:rPr>
              <a:t>&lt;</a:t>
            </a:r>
            <a:r>
              <a:rPr lang="en-US" altLang="zh-CN" sz="2000" dirty="0" err="1">
                <a:solidFill>
                  <a:srgbClr val="2A00FF"/>
                </a:solidFill>
                <a:latin typeface="微软雅黑" panose="020B0503020204020204" pitchFamily="34" charset="-122"/>
                <a:ea typeface="微软雅黑" panose="020B0503020204020204" pitchFamily="34" charset="-122"/>
              </a:rPr>
              <a:t>iostream</a:t>
            </a:r>
            <a:r>
              <a:rPr lang="en-US" altLang="zh-CN" sz="2000" dirty="0">
                <a:solidFill>
                  <a:srgbClr val="2A00FF"/>
                </a:solidFill>
                <a:latin typeface="微软雅黑" panose="020B0503020204020204" pitchFamily="34" charset="-122"/>
                <a:ea typeface="微软雅黑" panose="020B0503020204020204" pitchFamily="34" charset="-122"/>
              </a:rPr>
              <a:t>&gt;</a:t>
            </a:r>
          </a:p>
          <a:p>
            <a:r>
              <a:rPr lang="en-US" altLang="zh-CN" sz="2000" dirty="0">
                <a:solidFill>
                  <a:srgbClr val="7F0055"/>
                </a:solidFill>
                <a:latin typeface="微软雅黑" panose="020B0503020204020204" pitchFamily="34" charset="-122"/>
                <a:ea typeface="微软雅黑" panose="020B0503020204020204" pitchFamily="34" charset="-122"/>
              </a:rPr>
              <a:t>using</a:t>
            </a:r>
            <a:r>
              <a:rPr lang="en-US" altLang="zh-CN" sz="2000" dirty="0">
                <a:solidFill>
                  <a:srgbClr val="000000"/>
                </a:solidFill>
                <a:latin typeface="微软雅黑" panose="020B0503020204020204" pitchFamily="34" charset="-122"/>
                <a:ea typeface="微软雅黑" panose="020B0503020204020204" pitchFamily="34" charset="-122"/>
              </a:rPr>
              <a:t> </a:t>
            </a:r>
            <a:r>
              <a:rPr lang="en-US" altLang="zh-CN" sz="2000" dirty="0">
                <a:solidFill>
                  <a:srgbClr val="7F0055"/>
                </a:solidFill>
                <a:latin typeface="微软雅黑" panose="020B0503020204020204" pitchFamily="34" charset="-122"/>
                <a:ea typeface="微软雅黑" panose="020B0503020204020204" pitchFamily="34" charset="-122"/>
              </a:rPr>
              <a:t>namespace</a:t>
            </a:r>
            <a:r>
              <a:rPr lang="en-US" altLang="zh-CN" sz="2000" dirty="0">
                <a:solidFill>
                  <a:srgbClr val="000000"/>
                </a:solidFill>
                <a:latin typeface="微软雅黑" panose="020B0503020204020204" pitchFamily="34" charset="-122"/>
                <a:ea typeface="微软雅黑" panose="020B0503020204020204" pitchFamily="34" charset="-122"/>
              </a:rPr>
              <a:t> </a:t>
            </a:r>
            <a:r>
              <a:rPr lang="en-US" altLang="zh-CN" sz="2000" dirty="0" err="1">
                <a:solidFill>
                  <a:srgbClr val="000000"/>
                </a:solidFill>
                <a:latin typeface="微软雅黑" panose="020B0503020204020204" pitchFamily="34" charset="-122"/>
                <a:ea typeface="微软雅黑" panose="020B0503020204020204" pitchFamily="34" charset="-122"/>
              </a:rPr>
              <a:t>std</a:t>
            </a:r>
            <a:r>
              <a:rPr lang="en-US" altLang="zh-CN" sz="2000" dirty="0">
                <a:solidFill>
                  <a:srgbClr val="000000"/>
                </a:solidFill>
                <a:latin typeface="微软雅黑" panose="020B0503020204020204" pitchFamily="34" charset="-122"/>
                <a:ea typeface="微软雅黑" panose="020B0503020204020204" pitchFamily="34" charset="-122"/>
              </a:rPr>
              <a:t>;</a:t>
            </a:r>
          </a:p>
          <a:p>
            <a:endParaRPr lang="zh-CN" altLang="en-US" sz="2000" dirty="0">
              <a:latin typeface="微软雅黑" panose="020B0503020204020204" pitchFamily="34" charset="-122"/>
              <a:ea typeface="微软雅黑" panose="020B0503020204020204" pitchFamily="34" charset="-122"/>
            </a:endParaRPr>
          </a:p>
          <a:p>
            <a:r>
              <a:rPr lang="en-US" altLang="zh-CN" sz="2000" dirty="0">
                <a:solidFill>
                  <a:srgbClr val="7F0055"/>
                </a:solidFill>
                <a:latin typeface="微软雅黑" panose="020B0503020204020204" pitchFamily="34" charset="-122"/>
                <a:ea typeface="微软雅黑" panose="020B0503020204020204" pitchFamily="34" charset="-122"/>
              </a:rPr>
              <a:t>class</a:t>
            </a:r>
            <a:r>
              <a:rPr lang="en-US" altLang="zh-CN" sz="2000" dirty="0">
                <a:solidFill>
                  <a:srgbClr val="000000"/>
                </a:solidFill>
                <a:latin typeface="微软雅黑" panose="020B0503020204020204" pitchFamily="34" charset="-122"/>
                <a:ea typeface="微软雅黑" panose="020B0503020204020204" pitchFamily="34" charset="-122"/>
              </a:rPr>
              <a:t> </a:t>
            </a:r>
            <a:r>
              <a:rPr lang="en-US" altLang="zh-CN" sz="2000" dirty="0">
                <a:solidFill>
                  <a:srgbClr val="005032"/>
                </a:solidFill>
                <a:latin typeface="微软雅黑" panose="020B0503020204020204" pitchFamily="34" charset="-122"/>
                <a:ea typeface="微软雅黑" panose="020B0503020204020204" pitchFamily="34" charset="-122"/>
              </a:rPr>
              <a:t>Base</a:t>
            </a:r>
            <a:r>
              <a:rPr lang="en-US" altLang="zh-CN" sz="2000" dirty="0">
                <a:solidFill>
                  <a:srgbClr val="000000"/>
                </a:solidFill>
                <a:latin typeface="微软雅黑" panose="020B0503020204020204" pitchFamily="34" charset="-122"/>
                <a:ea typeface="微软雅黑" panose="020B0503020204020204" pitchFamily="34" charset="-122"/>
              </a:rPr>
              <a:t> {</a:t>
            </a:r>
          </a:p>
          <a:p>
            <a:r>
              <a:rPr lang="en-US" altLang="zh-CN" sz="2000" dirty="0">
                <a:solidFill>
                  <a:srgbClr val="7F0055"/>
                </a:solidFill>
                <a:latin typeface="微软雅黑" panose="020B0503020204020204" pitchFamily="34" charset="-122"/>
                <a:ea typeface="微软雅黑" panose="020B0503020204020204" pitchFamily="34" charset="-122"/>
              </a:rPr>
              <a:t>public</a:t>
            </a:r>
            <a:r>
              <a:rPr lang="en-US" altLang="zh-CN" sz="2000" dirty="0">
                <a:solidFill>
                  <a:srgbClr val="000000"/>
                </a:solidFill>
                <a:latin typeface="微软雅黑" panose="020B0503020204020204" pitchFamily="34" charset="-122"/>
                <a:ea typeface="微软雅黑" panose="020B0503020204020204" pitchFamily="34" charset="-122"/>
              </a:rPr>
              <a:t>:</a:t>
            </a:r>
          </a:p>
          <a:p>
            <a:r>
              <a:rPr lang="en-US" altLang="zh-CN" sz="2000" dirty="0">
                <a:solidFill>
                  <a:srgbClr val="7F0055"/>
                </a:solidFill>
                <a:latin typeface="微软雅黑" panose="020B0503020204020204" pitchFamily="34" charset="-122"/>
                <a:ea typeface="微软雅黑" panose="020B0503020204020204" pitchFamily="34" charset="-122"/>
              </a:rPr>
              <a:t>  virtual</a:t>
            </a:r>
            <a:r>
              <a:rPr lang="en-US" altLang="zh-CN" sz="2000" dirty="0">
                <a:solidFill>
                  <a:srgbClr val="000000"/>
                </a:solidFill>
                <a:latin typeface="微软雅黑" panose="020B0503020204020204" pitchFamily="34" charset="-122"/>
                <a:ea typeface="微软雅黑" panose="020B0503020204020204" pitchFamily="34" charset="-122"/>
              </a:rPr>
              <a:t> </a:t>
            </a:r>
            <a:r>
              <a:rPr lang="en-US" altLang="zh-CN" sz="2000" dirty="0">
                <a:solidFill>
                  <a:srgbClr val="7F0055"/>
                </a:solidFill>
                <a:latin typeface="微软雅黑" panose="020B0503020204020204" pitchFamily="34" charset="-122"/>
                <a:ea typeface="微软雅黑" panose="020B0503020204020204" pitchFamily="34" charset="-122"/>
              </a:rPr>
              <a:t>void</a:t>
            </a:r>
            <a:r>
              <a:rPr lang="en-US" altLang="zh-CN" sz="2000" dirty="0">
                <a:solidFill>
                  <a:srgbClr val="000000"/>
                </a:solidFill>
                <a:latin typeface="微软雅黑" panose="020B0503020204020204" pitchFamily="34" charset="-122"/>
                <a:ea typeface="微软雅黑" panose="020B0503020204020204" pitchFamily="34" charset="-122"/>
              </a:rPr>
              <a:t> f1(</a:t>
            </a:r>
            <a:r>
              <a:rPr lang="en-US" altLang="zh-CN" sz="2000" dirty="0">
                <a:solidFill>
                  <a:srgbClr val="7F0055"/>
                </a:solidFill>
                <a:latin typeface="微软雅黑" panose="020B0503020204020204" pitchFamily="34" charset="-122"/>
                <a:ea typeface="微软雅黑" panose="020B0503020204020204" pitchFamily="34" charset="-122"/>
              </a:rPr>
              <a:t>int</a:t>
            </a:r>
            <a:r>
              <a:rPr lang="en-US" altLang="zh-CN" sz="2000" dirty="0">
                <a:solidFill>
                  <a:srgbClr val="000000"/>
                </a:solidFill>
                <a:latin typeface="微软雅黑" panose="020B0503020204020204" pitchFamily="34" charset="-122"/>
                <a:ea typeface="微软雅黑" panose="020B0503020204020204" pitchFamily="34" charset="-122"/>
              </a:rPr>
              <a:t>) </a:t>
            </a:r>
            <a:r>
              <a:rPr lang="en-US" altLang="zh-CN" sz="2000" dirty="0" err="1">
                <a:solidFill>
                  <a:srgbClr val="7F0055"/>
                </a:solidFill>
                <a:latin typeface="微软雅黑" panose="020B0503020204020204" pitchFamily="34" charset="-122"/>
                <a:ea typeface="微软雅黑" panose="020B0503020204020204" pitchFamily="34" charset="-122"/>
              </a:rPr>
              <a:t>const</a:t>
            </a:r>
            <a:r>
              <a:rPr lang="en-US" altLang="zh-CN" sz="2000" dirty="0">
                <a:solidFill>
                  <a:srgbClr val="000000"/>
                </a:solidFill>
                <a:latin typeface="微软雅黑" panose="020B0503020204020204" pitchFamily="34" charset="-122"/>
                <a:ea typeface="微软雅黑" panose="020B0503020204020204" pitchFamily="34" charset="-122"/>
              </a:rPr>
              <a:t>;</a:t>
            </a:r>
          </a:p>
          <a:p>
            <a:r>
              <a:rPr lang="en-US" altLang="zh-CN" sz="2000" dirty="0">
                <a:solidFill>
                  <a:srgbClr val="7F0055"/>
                </a:solidFill>
                <a:latin typeface="微软雅黑" panose="020B0503020204020204" pitchFamily="34" charset="-122"/>
                <a:ea typeface="微软雅黑" panose="020B0503020204020204" pitchFamily="34" charset="-122"/>
              </a:rPr>
              <a:t>  virtual</a:t>
            </a:r>
            <a:r>
              <a:rPr lang="en-US" altLang="zh-CN" sz="2000" dirty="0">
                <a:solidFill>
                  <a:srgbClr val="000000"/>
                </a:solidFill>
                <a:latin typeface="微软雅黑" panose="020B0503020204020204" pitchFamily="34" charset="-122"/>
                <a:ea typeface="微软雅黑" panose="020B0503020204020204" pitchFamily="34" charset="-122"/>
              </a:rPr>
              <a:t> ~Base() {</a:t>
            </a:r>
          </a:p>
          <a:p>
            <a:r>
              <a:rPr lang="en-US" altLang="zh-CN" sz="2000" dirty="0">
                <a:solidFill>
                  <a:srgbClr val="000000"/>
                </a:solidFill>
                <a:latin typeface="微软雅黑" panose="020B0503020204020204" pitchFamily="34" charset="-122"/>
                <a:ea typeface="微软雅黑" panose="020B0503020204020204" pitchFamily="34" charset="-122"/>
              </a:rPr>
              <a:t>};</a:t>
            </a:r>
          </a:p>
          <a:p>
            <a:r>
              <a:rPr lang="en-US" altLang="zh-CN" sz="2000" dirty="0">
                <a:solidFill>
                  <a:srgbClr val="000000"/>
                </a:solidFill>
                <a:latin typeface="微软雅黑" panose="020B0503020204020204" pitchFamily="34" charset="-122"/>
                <a:ea typeface="微软雅黑" panose="020B0503020204020204" pitchFamily="34" charset="-122"/>
              </a:rPr>
              <a:t>};</a:t>
            </a:r>
          </a:p>
          <a:p>
            <a:endParaRPr lang="zh-CN" altLang="en-US" sz="2000" dirty="0">
              <a:latin typeface="微软雅黑" panose="020B0503020204020204" pitchFamily="34" charset="-122"/>
              <a:ea typeface="微软雅黑" panose="020B0503020204020204" pitchFamily="34" charset="-122"/>
            </a:endParaRPr>
          </a:p>
          <a:p>
            <a:r>
              <a:rPr lang="en-US" altLang="zh-CN" sz="2000" dirty="0">
                <a:solidFill>
                  <a:srgbClr val="7F0055"/>
                </a:solidFill>
                <a:latin typeface="微软雅黑" panose="020B0503020204020204" pitchFamily="34" charset="-122"/>
                <a:ea typeface="微软雅黑" panose="020B0503020204020204" pitchFamily="34" charset="-122"/>
              </a:rPr>
              <a:t>void</a:t>
            </a:r>
            <a:r>
              <a:rPr lang="en-US" altLang="zh-CN" sz="2000" dirty="0">
                <a:solidFill>
                  <a:srgbClr val="000000"/>
                </a:solidFill>
                <a:latin typeface="微软雅黑" panose="020B0503020204020204" pitchFamily="34" charset="-122"/>
                <a:ea typeface="微软雅黑" panose="020B0503020204020204" pitchFamily="34" charset="-122"/>
              </a:rPr>
              <a:t> Base::f1(</a:t>
            </a:r>
            <a:r>
              <a:rPr lang="en-US" altLang="zh-CN" sz="2000" dirty="0">
                <a:solidFill>
                  <a:srgbClr val="7F0055"/>
                </a:solidFill>
                <a:latin typeface="微软雅黑" panose="020B0503020204020204" pitchFamily="34" charset="-122"/>
                <a:ea typeface="微软雅黑" panose="020B0503020204020204" pitchFamily="34" charset="-122"/>
              </a:rPr>
              <a:t>int</a:t>
            </a:r>
            <a:r>
              <a:rPr lang="en-US" altLang="zh-CN" sz="2000" dirty="0">
                <a:solidFill>
                  <a:srgbClr val="000000"/>
                </a:solidFill>
                <a:latin typeface="微软雅黑" panose="020B0503020204020204" pitchFamily="34" charset="-122"/>
                <a:ea typeface="微软雅黑" panose="020B0503020204020204" pitchFamily="34" charset="-122"/>
              </a:rPr>
              <a:t>) </a:t>
            </a:r>
            <a:r>
              <a:rPr lang="en-US" altLang="zh-CN" sz="2000" dirty="0" err="1">
                <a:solidFill>
                  <a:srgbClr val="7F0055"/>
                </a:solidFill>
                <a:latin typeface="微软雅黑" panose="020B0503020204020204" pitchFamily="34" charset="-122"/>
                <a:ea typeface="微软雅黑" panose="020B0503020204020204" pitchFamily="34" charset="-122"/>
              </a:rPr>
              <a:t>const</a:t>
            </a:r>
            <a:r>
              <a:rPr lang="en-US" altLang="zh-CN" sz="2000" dirty="0">
                <a:solidFill>
                  <a:srgbClr val="000000"/>
                </a:solidFill>
                <a:latin typeface="微软雅黑" panose="020B0503020204020204" pitchFamily="34" charset="-122"/>
                <a:ea typeface="微软雅黑" panose="020B0503020204020204" pitchFamily="34" charset="-122"/>
              </a:rPr>
              <a:t> {</a:t>
            </a:r>
          </a:p>
          <a:p>
            <a:r>
              <a:rPr lang="en-US" altLang="zh-CN" sz="2000" dirty="0">
                <a:solidFill>
                  <a:srgbClr val="000000"/>
                </a:solidFill>
                <a:latin typeface="微软雅黑" panose="020B0503020204020204" pitchFamily="34" charset="-122"/>
                <a:ea typeface="微软雅黑" panose="020B0503020204020204" pitchFamily="34" charset="-122"/>
              </a:rPr>
              <a:t>  </a:t>
            </a:r>
            <a:r>
              <a:rPr lang="en-US" altLang="zh-CN" sz="2000" dirty="0" err="1">
                <a:solidFill>
                  <a:srgbClr val="000000"/>
                </a:solidFill>
                <a:latin typeface="微软雅黑" panose="020B0503020204020204" pitchFamily="34" charset="-122"/>
                <a:ea typeface="微软雅黑" panose="020B0503020204020204" pitchFamily="34" charset="-122"/>
              </a:rPr>
              <a:t>cout</a:t>
            </a:r>
            <a:r>
              <a:rPr lang="en-US" altLang="zh-CN" sz="2000" dirty="0">
                <a:solidFill>
                  <a:srgbClr val="000000"/>
                </a:solidFill>
                <a:latin typeface="微软雅黑" panose="020B0503020204020204" pitchFamily="34" charset="-122"/>
                <a:ea typeface="微软雅黑" panose="020B0503020204020204" pitchFamily="34" charset="-122"/>
              </a:rPr>
              <a:t> &lt;&lt; </a:t>
            </a:r>
            <a:r>
              <a:rPr lang="en-US" altLang="zh-CN" sz="2000" dirty="0">
                <a:solidFill>
                  <a:srgbClr val="2A00FF"/>
                </a:solidFill>
                <a:latin typeface="微软雅黑" panose="020B0503020204020204" pitchFamily="34" charset="-122"/>
                <a:ea typeface="微软雅黑" panose="020B0503020204020204" pitchFamily="34" charset="-122"/>
              </a:rPr>
              <a:t>"Base f1"</a:t>
            </a:r>
            <a:r>
              <a:rPr lang="en-US" altLang="zh-CN" sz="2000" dirty="0">
                <a:solidFill>
                  <a:srgbClr val="000000"/>
                </a:solidFill>
                <a:latin typeface="微软雅黑" panose="020B0503020204020204" pitchFamily="34" charset="-122"/>
                <a:ea typeface="微软雅黑" panose="020B0503020204020204" pitchFamily="34" charset="-122"/>
              </a:rPr>
              <a:t> &lt;&lt; </a:t>
            </a:r>
            <a:r>
              <a:rPr lang="en-US" altLang="zh-CN" sz="2000" dirty="0" err="1">
                <a:solidFill>
                  <a:srgbClr val="642880"/>
                </a:solidFill>
                <a:latin typeface="微软雅黑" panose="020B0503020204020204" pitchFamily="34" charset="-122"/>
                <a:ea typeface="微软雅黑" panose="020B0503020204020204" pitchFamily="34" charset="-122"/>
              </a:rPr>
              <a:t>endl</a:t>
            </a:r>
            <a:r>
              <a:rPr lang="en-US" altLang="zh-CN" sz="2000" dirty="0">
                <a:solidFill>
                  <a:srgbClr val="000000"/>
                </a:solidFill>
                <a:latin typeface="微软雅黑" panose="020B0503020204020204" pitchFamily="34" charset="-122"/>
                <a:ea typeface="微软雅黑" panose="020B0503020204020204" pitchFamily="34" charset="-122"/>
              </a:rPr>
              <a:t>;</a:t>
            </a:r>
          </a:p>
          <a:p>
            <a:r>
              <a:rPr lang="en-US" altLang="zh-CN" sz="2000" dirty="0">
                <a:solidFill>
                  <a:srgbClr val="7F0055"/>
                </a:solidFill>
                <a:latin typeface="微软雅黑" panose="020B0503020204020204" pitchFamily="34" charset="-122"/>
                <a:ea typeface="微软雅黑" panose="020B0503020204020204" pitchFamily="34" charset="-122"/>
              </a:rPr>
              <a:t>  return</a:t>
            </a:r>
            <a:r>
              <a:rPr lang="en-US" altLang="zh-CN" sz="2000" dirty="0">
                <a:solidFill>
                  <a:srgbClr val="000000"/>
                </a:solidFill>
                <a:latin typeface="微软雅黑" panose="020B0503020204020204" pitchFamily="34" charset="-122"/>
                <a:ea typeface="微软雅黑" panose="020B0503020204020204" pitchFamily="34" charset="-122"/>
              </a:rPr>
              <a:t>;</a:t>
            </a:r>
          </a:p>
          <a:p>
            <a:r>
              <a:rPr lang="en-US" altLang="zh-CN" sz="2000" dirty="0">
                <a:solidFill>
                  <a:srgbClr val="000000"/>
                </a:solidFill>
                <a:latin typeface="微软雅黑" panose="020B0503020204020204" pitchFamily="34" charset="-122"/>
                <a:ea typeface="微软雅黑" panose="020B0503020204020204" pitchFamily="34" charset="-122"/>
              </a:rPr>
              <a:t>}</a:t>
            </a:r>
          </a:p>
        </p:txBody>
      </p:sp>
      <p:sp>
        <p:nvSpPr>
          <p:cNvPr id="5" name="矩形 4"/>
          <p:cNvSpPr/>
          <p:nvPr/>
        </p:nvSpPr>
        <p:spPr>
          <a:xfrm>
            <a:off x="4617354" y="1484784"/>
            <a:ext cx="6096000" cy="3231654"/>
          </a:xfrm>
          <a:prstGeom prst="rect">
            <a:avLst/>
          </a:prstGeom>
        </p:spPr>
        <p:txBody>
          <a:bodyPr>
            <a:spAutoFit/>
          </a:bodyPr>
          <a:lstStyle/>
          <a:p>
            <a:r>
              <a:rPr lang="en-US" altLang="zh-CN" sz="2000" dirty="0">
                <a:solidFill>
                  <a:srgbClr val="7F0055"/>
                </a:solidFill>
                <a:latin typeface="微软雅黑" panose="020B0503020204020204" pitchFamily="34" charset="-122"/>
                <a:ea typeface="微软雅黑" panose="020B0503020204020204" pitchFamily="34" charset="-122"/>
              </a:rPr>
              <a:t>class</a:t>
            </a:r>
            <a:r>
              <a:rPr lang="en-US" altLang="zh-CN" sz="2000" dirty="0">
                <a:solidFill>
                  <a:srgbClr val="000000"/>
                </a:solidFill>
                <a:latin typeface="微软雅黑" panose="020B0503020204020204" pitchFamily="34" charset="-122"/>
                <a:ea typeface="微软雅黑" panose="020B0503020204020204" pitchFamily="34" charset="-122"/>
              </a:rPr>
              <a:t> </a:t>
            </a:r>
            <a:r>
              <a:rPr lang="en-US" altLang="zh-CN" sz="2000" dirty="0">
                <a:solidFill>
                  <a:srgbClr val="005032"/>
                </a:solidFill>
                <a:latin typeface="微软雅黑" panose="020B0503020204020204" pitchFamily="34" charset="-122"/>
                <a:ea typeface="微软雅黑" panose="020B0503020204020204" pitchFamily="34" charset="-122"/>
              </a:rPr>
              <a:t>Derived</a:t>
            </a:r>
            <a:r>
              <a:rPr lang="en-US" altLang="zh-CN" sz="2000" dirty="0">
                <a:solidFill>
                  <a:srgbClr val="000000"/>
                </a:solidFill>
                <a:latin typeface="微软雅黑" panose="020B0503020204020204" pitchFamily="34" charset="-122"/>
                <a:ea typeface="微软雅黑" panose="020B0503020204020204" pitchFamily="34" charset="-122"/>
              </a:rPr>
              <a:t>: </a:t>
            </a:r>
            <a:r>
              <a:rPr lang="en-US" altLang="zh-CN" sz="2000" dirty="0">
                <a:solidFill>
                  <a:srgbClr val="7F0055"/>
                </a:solidFill>
                <a:latin typeface="微软雅黑" panose="020B0503020204020204" pitchFamily="34" charset="-122"/>
                <a:ea typeface="微软雅黑" panose="020B0503020204020204" pitchFamily="34" charset="-122"/>
              </a:rPr>
              <a:t>public</a:t>
            </a:r>
            <a:r>
              <a:rPr lang="en-US" altLang="zh-CN" sz="2000" dirty="0">
                <a:solidFill>
                  <a:srgbClr val="000000"/>
                </a:solidFill>
                <a:latin typeface="微软雅黑" panose="020B0503020204020204" pitchFamily="34" charset="-122"/>
                <a:ea typeface="微软雅黑" panose="020B0503020204020204" pitchFamily="34" charset="-122"/>
              </a:rPr>
              <a:t> </a:t>
            </a:r>
            <a:r>
              <a:rPr lang="en-US" altLang="zh-CN" sz="2000" dirty="0">
                <a:solidFill>
                  <a:srgbClr val="005032"/>
                </a:solidFill>
                <a:latin typeface="微软雅黑" panose="020B0503020204020204" pitchFamily="34" charset="-122"/>
                <a:ea typeface="微软雅黑" panose="020B0503020204020204" pitchFamily="34" charset="-122"/>
              </a:rPr>
              <a:t>Base</a:t>
            </a:r>
            <a:r>
              <a:rPr lang="en-US" altLang="zh-CN" sz="2000" dirty="0">
                <a:solidFill>
                  <a:srgbClr val="000000"/>
                </a:solidFill>
                <a:latin typeface="微软雅黑" panose="020B0503020204020204" pitchFamily="34" charset="-122"/>
                <a:ea typeface="微软雅黑" panose="020B0503020204020204" pitchFamily="34" charset="-122"/>
              </a:rPr>
              <a:t> {</a:t>
            </a:r>
          </a:p>
          <a:p>
            <a:r>
              <a:rPr lang="en-US" altLang="zh-CN" sz="2000" dirty="0">
                <a:solidFill>
                  <a:srgbClr val="7F0055"/>
                </a:solidFill>
                <a:latin typeface="微软雅黑" panose="020B0503020204020204" pitchFamily="34" charset="-122"/>
                <a:ea typeface="微软雅黑" panose="020B0503020204020204" pitchFamily="34" charset="-122"/>
              </a:rPr>
              <a:t>public</a:t>
            </a:r>
            <a:r>
              <a:rPr lang="en-US" altLang="zh-CN" sz="2000" dirty="0">
                <a:solidFill>
                  <a:srgbClr val="000000"/>
                </a:solidFill>
                <a:latin typeface="微软雅黑" panose="020B0503020204020204" pitchFamily="34" charset="-122"/>
                <a:ea typeface="微软雅黑" panose="020B0503020204020204" pitchFamily="34" charset="-122"/>
              </a:rPr>
              <a:t>:</a:t>
            </a:r>
          </a:p>
          <a:p>
            <a:r>
              <a:rPr lang="en-US" altLang="zh-CN" sz="2000" dirty="0">
                <a:solidFill>
                  <a:srgbClr val="7F0055"/>
                </a:solidFill>
                <a:latin typeface="微软雅黑" panose="020B0503020204020204" pitchFamily="34" charset="-122"/>
                <a:ea typeface="微软雅黑" panose="020B0503020204020204" pitchFamily="34" charset="-122"/>
              </a:rPr>
              <a:t>  void</a:t>
            </a:r>
            <a:r>
              <a:rPr lang="en-US" altLang="zh-CN" sz="2000" dirty="0">
                <a:solidFill>
                  <a:srgbClr val="000000"/>
                </a:solidFill>
                <a:latin typeface="微软雅黑" panose="020B0503020204020204" pitchFamily="34" charset="-122"/>
                <a:ea typeface="微软雅黑" panose="020B0503020204020204" pitchFamily="34" charset="-122"/>
              </a:rPr>
              <a:t> f1(</a:t>
            </a:r>
            <a:r>
              <a:rPr lang="en-US" altLang="zh-CN" sz="2000" dirty="0">
                <a:solidFill>
                  <a:srgbClr val="7F0055"/>
                </a:solidFill>
                <a:latin typeface="微软雅黑" panose="020B0503020204020204" pitchFamily="34" charset="-122"/>
                <a:ea typeface="微软雅黑" panose="020B0503020204020204" pitchFamily="34" charset="-122"/>
              </a:rPr>
              <a:t>int</a:t>
            </a:r>
            <a:r>
              <a:rPr lang="en-US" altLang="zh-CN" sz="2000" dirty="0">
                <a:solidFill>
                  <a:srgbClr val="000000"/>
                </a:solidFill>
                <a:latin typeface="微软雅黑" panose="020B0503020204020204" pitchFamily="34" charset="-122"/>
                <a:ea typeface="微软雅黑" panose="020B0503020204020204" pitchFamily="34" charset="-122"/>
              </a:rPr>
              <a:t>);</a:t>
            </a:r>
          </a:p>
          <a:p>
            <a:r>
              <a:rPr lang="en-US" altLang="zh-CN" sz="2000" dirty="0">
                <a:solidFill>
                  <a:srgbClr val="000000"/>
                </a:solidFill>
                <a:latin typeface="微软雅黑" panose="020B0503020204020204" pitchFamily="34" charset="-122"/>
                <a:ea typeface="微软雅黑" panose="020B0503020204020204" pitchFamily="34" charset="-122"/>
              </a:rPr>
              <a:t>  ~Derived() {</a:t>
            </a:r>
          </a:p>
          <a:p>
            <a:r>
              <a:rPr lang="en-US" altLang="zh-CN" sz="2000" dirty="0">
                <a:solidFill>
                  <a:srgbClr val="000000"/>
                </a:solidFill>
                <a:latin typeface="微软雅黑" panose="020B0503020204020204" pitchFamily="34" charset="-122"/>
                <a:ea typeface="微软雅黑" panose="020B0503020204020204" pitchFamily="34" charset="-122"/>
              </a:rPr>
              <a:t>};</a:t>
            </a:r>
          </a:p>
          <a:p>
            <a:r>
              <a:rPr lang="en-US" altLang="zh-CN" sz="2000" dirty="0">
                <a:solidFill>
                  <a:srgbClr val="000000"/>
                </a:solidFill>
                <a:latin typeface="微软雅黑" panose="020B0503020204020204" pitchFamily="34" charset="-122"/>
                <a:ea typeface="微软雅黑" panose="020B0503020204020204" pitchFamily="34" charset="-122"/>
              </a:rPr>
              <a:t>};</a:t>
            </a:r>
          </a:p>
          <a:p>
            <a:endParaRPr lang="zh-CN" altLang="en-US" sz="2000" dirty="0">
              <a:latin typeface="微软雅黑" panose="020B0503020204020204" pitchFamily="34" charset="-122"/>
              <a:ea typeface="微软雅黑" panose="020B0503020204020204" pitchFamily="34" charset="-122"/>
            </a:endParaRPr>
          </a:p>
          <a:p>
            <a:r>
              <a:rPr lang="en-US" altLang="zh-CN" sz="2000" dirty="0">
                <a:solidFill>
                  <a:srgbClr val="7F0055"/>
                </a:solidFill>
                <a:latin typeface="微软雅黑" panose="020B0503020204020204" pitchFamily="34" charset="-122"/>
                <a:ea typeface="微软雅黑" panose="020B0503020204020204" pitchFamily="34" charset="-122"/>
              </a:rPr>
              <a:t>void</a:t>
            </a:r>
            <a:r>
              <a:rPr lang="en-US" altLang="zh-CN" sz="2000" dirty="0">
                <a:solidFill>
                  <a:srgbClr val="000000"/>
                </a:solidFill>
                <a:latin typeface="微软雅黑" panose="020B0503020204020204" pitchFamily="34" charset="-122"/>
                <a:ea typeface="微软雅黑" panose="020B0503020204020204" pitchFamily="34" charset="-122"/>
              </a:rPr>
              <a:t> Derived::f1(</a:t>
            </a:r>
            <a:r>
              <a:rPr lang="en-US" altLang="zh-CN" sz="2000" dirty="0">
                <a:solidFill>
                  <a:srgbClr val="7F0055"/>
                </a:solidFill>
                <a:latin typeface="微软雅黑" panose="020B0503020204020204" pitchFamily="34" charset="-122"/>
                <a:ea typeface="微软雅黑" panose="020B0503020204020204" pitchFamily="34" charset="-122"/>
              </a:rPr>
              <a:t>int</a:t>
            </a:r>
            <a:r>
              <a:rPr lang="en-US" altLang="zh-CN" sz="2000" dirty="0">
                <a:solidFill>
                  <a:srgbClr val="000000"/>
                </a:solidFill>
                <a:latin typeface="微软雅黑" panose="020B0503020204020204" pitchFamily="34" charset="-122"/>
                <a:ea typeface="微软雅黑" panose="020B0503020204020204" pitchFamily="34" charset="-122"/>
              </a:rPr>
              <a:t>) {</a:t>
            </a:r>
          </a:p>
          <a:p>
            <a:r>
              <a:rPr lang="en-US" altLang="zh-CN" sz="2000" dirty="0">
                <a:solidFill>
                  <a:srgbClr val="000000"/>
                </a:solidFill>
                <a:latin typeface="微软雅黑" panose="020B0503020204020204" pitchFamily="34" charset="-122"/>
                <a:ea typeface="微软雅黑" panose="020B0503020204020204" pitchFamily="34" charset="-122"/>
              </a:rPr>
              <a:t>  </a:t>
            </a:r>
            <a:r>
              <a:rPr lang="en-US" altLang="zh-CN" sz="2000" dirty="0" err="1">
                <a:solidFill>
                  <a:srgbClr val="000000"/>
                </a:solidFill>
                <a:latin typeface="微软雅黑" panose="020B0503020204020204" pitchFamily="34" charset="-122"/>
                <a:ea typeface="微软雅黑" panose="020B0503020204020204" pitchFamily="34" charset="-122"/>
              </a:rPr>
              <a:t>cout</a:t>
            </a:r>
            <a:r>
              <a:rPr lang="en-US" altLang="zh-CN" sz="2000" dirty="0">
                <a:solidFill>
                  <a:srgbClr val="000000"/>
                </a:solidFill>
                <a:latin typeface="微软雅黑" panose="020B0503020204020204" pitchFamily="34" charset="-122"/>
                <a:ea typeface="微软雅黑" panose="020B0503020204020204" pitchFamily="34" charset="-122"/>
              </a:rPr>
              <a:t> &lt;&lt; </a:t>
            </a:r>
            <a:r>
              <a:rPr lang="en-US" altLang="zh-CN" sz="2000" dirty="0">
                <a:solidFill>
                  <a:srgbClr val="2A00FF"/>
                </a:solidFill>
                <a:latin typeface="微软雅黑" panose="020B0503020204020204" pitchFamily="34" charset="-122"/>
                <a:ea typeface="微软雅黑" panose="020B0503020204020204" pitchFamily="34" charset="-122"/>
              </a:rPr>
              <a:t>"derived f1"</a:t>
            </a:r>
            <a:r>
              <a:rPr lang="en-US" altLang="zh-CN" sz="2000" dirty="0">
                <a:solidFill>
                  <a:srgbClr val="000000"/>
                </a:solidFill>
                <a:latin typeface="微软雅黑" panose="020B0503020204020204" pitchFamily="34" charset="-122"/>
                <a:ea typeface="微软雅黑" panose="020B0503020204020204" pitchFamily="34" charset="-122"/>
              </a:rPr>
              <a:t> &lt;&lt; </a:t>
            </a:r>
            <a:r>
              <a:rPr lang="en-US" altLang="zh-CN" sz="2000" dirty="0" err="1">
                <a:solidFill>
                  <a:srgbClr val="642880"/>
                </a:solidFill>
                <a:latin typeface="微软雅黑" panose="020B0503020204020204" pitchFamily="34" charset="-122"/>
                <a:ea typeface="微软雅黑" panose="020B0503020204020204" pitchFamily="34" charset="-122"/>
              </a:rPr>
              <a:t>endl</a:t>
            </a:r>
            <a:r>
              <a:rPr lang="en-US" altLang="zh-CN" sz="2000" dirty="0">
                <a:solidFill>
                  <a:srgbClr val="000000"/>
                </a:solidFill>
                <a:latin typeface="微软雅黑" panose="020B0503020204020204" pitchFamily="34" charset="-122"/>
                <a:ea typeface="微软雅黑" panose="020B0503020204020204" pitchFamily="34" charset="-122"/>
              </a:rPr>
              <a:t>;</a:t>
            </a:r>
          </a:p>
          <a:p>
            <a:r>
              <a:rPr lang="en-US" altLang="zh-CN" sz="2000" dirty="0">
                <a:solidFill>
                  <a:srgbClr val="000000"/>
                </a:solidFill>
                <a:latin typeface="微软雅黑" panose="020B0503020204020204" pitchFamily="34" charset="-122"/>
                <a:ea typeface="微软雅黑" panose="020B0503020204020204" pitchFamily="34" charset="-122"/>
              </a:rPr>
              <a:t>}</a:t>
            </a:r>
          </a:p>
        </p:txBody>
      </p:sp>
      <p:sp>
        <p:nvSpPr>
          <p:cNvPr id="6" name="矩形 5"/>
          <p:cNvSpPr/>
          <p:nvPr/>
        </p:nvSpPr>
        <p:spPr>
          <a:xfrm>
            <a:off x="8976262" y="1577117"/>
            <a:ext cx="2449917" cy="2554545"/>
          </a:xfrm>
          <a:prstGeom prst="rect">
            <a:avLst/>
          </a:prstGeom>
        </p:spPr>
        <p:txBody>
          <a:bodyPr wrap="square">
            <a:spAutoFit/>
          </a:bodyPr>
          <a:lstStyle/>
          <a:p>
            <a:r>
              <a:rPr lang="en-US" altLang="zh-CN" sz="2000" dirty="0">
                <a:solidFill>
                  <a:srgbClr val="7F0055"/>
                </a:solidFill>
                <a:latin typeface="微软雅黑" panose="020B0503020204020204" pitchFamily="34" charset="-122"/>
                <a:ea typeface="微软雅黑" panose="020B0503020204020204" pitchFamily="34" charset="-122"/>
              </a:rPr>
              <a:t>int</a:t>
            </a:r>
            <a:r>
              <a:rPr lang="en-US" altLang="zh-CN" sz="2000" dirty="0">
                <a:solidFill>
                  <a:srgbClr val="000000"/>
                </a:solidFill>
                <a:latin typeface="微软雅黑" panose="020B0503020204020204" pitchFamily="34" charset="-122"/>
                <a:ea typeface="微软雅黑" panose="020B0503020204020204" pitchFamily="34" charset="-122"/>
              </a:rPr>
              <a:t> main() {</a:t>
            </a:r>
          </a:p>
          <a:p>
            <a:r>
              <a:rPr lang="en-US" altLang="zh-CN" sz="2000" dirty="0">
                <a:solidFill>
                  <a:srgbClr val="005032"/>
                </a:solidFill>
                <a:latin typeface="微软雅黑" panose="020B0503020204020204" pitchFamily="34" charset="-122"/>
                <a:ea typeface="微软雅黑" panose="020B0503020204020204" pitchFamily="34" charset="-122"/>
              </a:rPr>
              <a:t>  Base</a:t>
            </a:r>
            <a:r>
              <a:rPr lang="en-US" altLang="zh-CN" sz="2000" dirty="0">
                <a:solidFill>
                  <a:srgbClr val="000000"/>
                </a:solidFill>
                <a:latin typeface="微软雅黑" panose="020B0503020204020204" pitchFamily="34" charset="-122"/>
                <a:ea typeface="微软雅黑" panose="020B0503020204020204" pitchFamily="34" charset="-122"/>
              </a:rPr>
              <a:t> *b;</a:t>
            </a:r>
          </a:p>
          <a:p>
            <a:r>
              <a:rPr lang="en-US" altLang="zh-CN" sz="2000" dirty="0">
                <a:solidFill>
                  <a:srgbClr val="000000"/>
                </a:solidFill>
                <a:latin typeface="微软雅黑" panose="020B0503020204020204" pitchFamily="34" charset="-122"/>
                <a:ea typeface="微软雅黑" panose="020B0503020204020204" pitchFamily="34" charset="-122"/>
              </a:rPr>
              <a:t>  b = </a:t>
            </a:r>
            <a:r>
              <a:rPr lang="en-US" altLang="zh-CN" sz="2000" dirty="0">
                <a:solidFill>
                  <a:srgbClr val="7F0055"/>
                </a:solidFill>
                <a:latin typeface="微软雅黑" panose="020B0503020204020204" pitchFamily="34" charset="-122"/>
                <a:ea typeface="微软雅黑" panose="020B0503020204020204" pitchFamily="34" charset="-122"/>
              </a:rPr>
              <a:t>new</a:t>
            </a:r>
            <a:r>
              <a:rPr lang="en-US" altLang="zh-CN" sz="2000" dirty="0">
                <a:solidFill>
                  <a:srgbClr val="000000"/>
                </a:solidFill>
                <a:latin typeface="微软雅黑" panose="020B0503020204020204" pitchFamily="34" charset="-122"/>
                <a:ea typeface="微软雅黑" panose="020B0503020204020204" pitchFamily="34" charset="-122"/>
              </a:rPr>
              <a:t> </a:t>
            </a:r>
            <a:r>
              <a:rPr lang="en-US" altLang="zh-CN" sz="2000" dirty="0">
                <a:solidFill>
                  <a:srgbClr val="005032"/>
                </a:solidFill>
                <a:latin typeface="微软雅黑" panose="020B0503020204020204" pitchFamily="34" charset="-122"/>
                <a:ea typeface="微软雅黑" panose="020B0503020204020204" pitchFamily="34" charset="-122"/>
              </a:rPr>
              <a:t>Base</a:t>
            </a:r>
            <a:r>
              <a:rPr lang="en-US" altLang="zh-CN" sz="2000" dirty="0">
                <a:solidFill>
                  <a:srgbClr val="000000"/>
                </a:solidFill>
                <a:latin typeface="微软雅黑" panose="020B0503020204020204" pitchFamily="34" charset="-122"/>
                <a:ea typeface="微软雅黑" panose="020B0503020204020204" pitchFamily="34" charset="-122"/>
              </a:rPr>
              <a:t>;</a:t>
            </a:r>
          </a:p>
          <a:p>
            <a:r>
              <a:rPr lang="en-US" altLang="zh-CN" sz="2000" dirty="0">
                <a:solidFill>
                  <a:srgbClr val="000000"/>
                </a:solidFill>
                <a:latin typeface="微软雅黑" panose="020B0503020204020204" pitchFamily="34" charset="-122"/>
                <a:ea typeface="微软雅黑" panose="020B0503020204020204" pitchFamily="34" charset="-122"/>
              </a:rPr>
              <a:t>  b-&gt;f1(1);</a:t>
            </a:r>
          </a:p>
          <a:p>
            <a:r>
              <a:rPr lang="en-US" altLang="zh-CN" sz="2000" dirty="0">
                <a:solidFill>
                  <a:srgbClr val="000000"/>
                </a:solidFill>
                <a:latin typeface="微软雅黑" panose="020B0503020204020204" pitchFamily="34" charset="-122"/>
                <a:ea typeface="微软雅黑" panose="020B0503020204020204" pitchFamily="34" charset="-122"/>
              </a:rPr>
              <a:t>  b = </a:t>
            </a:r>
            <a:r>
              <a:rPr lang="en-US" altLang="zh-CN" sz="2000" dirty="0">
                <a:solidFill>
                  <a:srgbClr val="7F0055"/>
                </a:solidFill>
                <a:latin typeface="微软雅黑" panose="020B0503020204020204" pitchFamily="34" charset="-122"/>
                <a:ea typeface="微软雅黑" panose="020B0503020204020204" pitchFamily="34" charset="-122"/>
              </a:rPr>
              <a:t>new</a:t>
            </a:r>
            <a:r>
              <a:rPr lang="en-US" altLang="zh-CN" sz="2000" dirty="0">
                <a:solidFill>
                  <a:srgbClr val="000000"/>
                </a:solidFill>
                <a:latin typeface="微软雅黑" panose="020B0503020204020204" pitchFamily="34" charset="-122"/>
                <a:ea typeface="微软雅黑" panose="020B0503020204020204" pitchFamily="34" charset="-122"/>
              </a:rPr>
              <a:t> </a:t>
            </a:r>
            <a:r>
              <a:rPr lang="en-US" altLang="zh-CN" sz="2000" dirty="0">
                <a:solidFill>
                  <a:srgbClr val="005032"/>
                </a:solidFill>
                <a:latin typeface="微软雅黑" panose="020B0503020204020204" pitchFamily="34" charset="-122"/>
                <a:ea typeface="微软雅黑" panose="020B0503020204020204" pitchFamily="34" charset="-122"/>
              </a:rPr>
              <a:t>Derived</a:t>
            </a:r>
            <a:r>
              <a:rPr lang="en-US" altLang="zh-CN" sz="2000" dirty="0">
                <a:solidFill>
                  <a:srgbClr val="000000"/>
                </a:solidFill>
                <a:latin typeface="微软雅黑" panose="020B0503020204020204" pitchFamily="34" charset="-122"/>
                <a:ea typeface="微软雅黑" panose="020B0503020204020204" pitchFamily="34" charset="-122"/>
              </a:rPr>
              <a:t>;</a:t>
            </a:r>
          </a:p>
          <a:p>
            <a:r>
              <a:rPr lang="en-US" altLang="zh-CN" sz="2000" dirty="0">
                <a:solidFill>
                  <a:srgbClr val="000000"/>
                </a:solidFill>
                <a:latin typeface="微软雅黑" panose="020B0503020204020204" pitchFamily="34" charset="-122"/>
                <a:ea typeface="微软雅黑" panose="020B0503020204020204" pitchFamily="34" charset="-122"/>
              </a:rPr>
              <a:t>  b-&gt;f1(1);</a:t>
            </a:r>
          </a:p>
          <a:p>
            <a:r>
              <a:rPr lang="en-US" altLang="zh-CN" sz="2000" dirty="0">
                <a:solidFill>
                  <a:srgbClr val="000000"/>
                </a:solidFill>
                <a:latin typeface="微软雅黑" panose="020B0503020204020204" pitchFamily="34" charset="-122"/>
                <a:ea typeface="微软雅黑" panose="020B0503020204020204" pitchFamily="34" charset="-122"/>
              </a:rPr>
              <a:t>  return 0;</a:t>
            </a:r>
            <a:endParaRPr lang="zh-CN" altLang="en-US" sz="2000" dirty="0">
              <a:latin typeface="微软雅黑" panose="020B0503020204020204" pitchFamily="34" charset="-122"/>
              <a:ea typeface="微软雅黑" panose="020B0503020204020204" pitchFamily="34" charset="-122"/>
            </a:endParaRPr>
          </a:p>
          <a:p>
            <a:r>
              <a:rPr lang="en-US" altLang="zh-CN" sz="2000" dirty="0">
                <a:solidFill>
                  <a:srgbClr val="000000"/>
                </a:solidFill>
                <a:latin typeface="微软雅黑" panose="020B0503020204020204" pitchFamily="34" charset="-122"/>
                <a:ea typeface="微软雅黑" panose="020B0503020204020204" pitchFamily="34" charset="-122"/>
              </a:rPr>
              <a:t>}</a:t>
            </a:r>
          </a:p>
        </p:txBody>
      </p:sp>
      <p:sp>
        <p:nvSpPr>
          <p:cNvPr id="7" name="矩形 6"/>
          <p:cNvSpPr/>
          <p:nvPr/>
        </p:nvSpPr>
        <p:spPr>
          <a:xfrm>
            <a:off x="8113811" y="4532927"/>
            <a:ext cx="2628405" cy="1200329"/>
          </a:xfrm>
          <a:prstGeom prst="rect">
            <a:avLst/>
          </a:prstGeom>
          <a:solidFill>
            <a:srgbClr val="FFFF00"/>
          </a:solid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rPr>
              <a:t>运行结果</a:t>
            </a:r>
            <a:endParaRPr lang="en-US" altLang="zh-CN" dirty="0">
              <a:solidFill>
                <a:srgbClr val="000000"/>
              </a:solidFill>
              <a:latin typeface="微软雅黑" panose="020B0503020204020204" pitchFamily="34" charset="-122"/>
              <a:ea typeface="微软雅黑" panose="020B0503020204020204" pitchFamily="34" charset="-122"/>
            </a:endParaRPr>
          </a:p>
          <a:p>
            <a:r>
              <a:rPr lang="en-US" altLang="zh-CN" dirty="0">
                <a:solidFill>
                  <a:srgbClr val="000000"/>
                </a:solidFill>
                <a:latin typeface="微软雅黑" panose="020B0503020204020204" pitchFamily="34" charset="-122"/>
                <a:ea typeface="微软雅黑" panose="020B0503020204020204" pitchFamily="34" charset="-122"/>
              </a:rPr>
              <a:t>Base f1</a:t>
            </a:r>
          </a:p>
          <a:p>
            <a:r>
              <a:rPr lang="en-US" altLang="zh-CN" dirty="0">
                <a:solidFill>
                  <a:srgbClr val="000000"/>
                </a:solidFill>
                <a:latin typeface="微软雅黑" panose="020B0503020204020204" pitchFamily="34" charset="-122"/>
                <a:ea typeface="微软雅黑" panose="020B0503020204020204" pitchFamily="34" charset="-122"/>
              </a:rPr>
              <a:t>Base f1</a:t>
            </a:r>
            <a:endParaRPr lang="zh-CN" altLang="en-US" dirty="0">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FEA8252B-2A90-4600-98B0-819C6D1AD1EE}"/>
              </a:ext>
            </a:extLst>
          </p:cNvPr>
          <p:cNvSpPr>
            <a:spLocks noGrp="1"/>
          </p:cNvSpPr>
          <p:nvPr>
            <p:ph type="title"/>
          </p:nvPr>
        </p:nvSpPr>
        <p:spPr/>
        <p:txBody>
          <a:bodyPr/>
          <a:lstStyle/>
          <a:p>
            <a:r>
              <a:rPr lang="zh-CN" altLang="en-US" dirty="0"/>
              <a:t>例：因为漏写了</a:t>
            </a:r>
            <a:r>
              <a:rPr lang="en-US" altLang="zh-CN" dirty="0"/>
              <a:t>const</a:t>
            </a:r>
            <a:r>
              <a:rPr lang="zh-CN" altLang="en-US" dirty="0"/>
              <a:t>导致未成功覆盖</a:t>
            </a:r>
          </a:p>
        </p:txBody>
      </p:sp>
    </p:spTree>
    <p:extLst>
      <p:ext uri="{BB962C8B-B14F-4D97-AF65-F5344CB8AC3E}">
        <p14:creationId xmlns:p14="http://schemas.microsoft.com/office/powerpoint/2010/main" val="35956273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2315020E-5E38-4CFD-BA61-678423ABAD77}"/>
              </a:ext>
            </a:extLst>
          </p:cNvPr>
          <p:cNvSpPr>
            <a:spLocks noGrp="1"/>
          </p:cNvSpPr>
          <p:nvPr>
            <p:ph type="title"/>
          </p:nvPr>
        </p:nvSpPr>
        <p:spPr/>
        <p:txBody>
          <a:bodyPr/>
          <a:lstStyle/>
          <a:p>
            <a:r>
              <a:rPr lang="zh-CN" altLang="en-US"/>
              <a:t>显式覆盖的作用</a:t>
            </a:r>
            <a:endParaRPr lang="zh-CN" altLang="en-US" dirty="0"/>
          </a:p>
        </p:txBody>
      </p:sp>
      <p:sp>
        <p:nvSpPr>
          <p:cNvPr id="3" name="内容占位符 2"/>
          <p:cNvSpPr>
            <a:spLocks noGrp="1"/>
          </p:cNvSpPr>
          <p:nvPr>
            <p:ph idx="1"/>
          </p:nvPr>
        </p:nvSpPr>
        <p:spPr>
          <a:xfrm>
            <a:off x="609600" y="2119536"/>
            <a:ext cx="10975975" cy="4454302"/>
          </a:xfrm>
        </p:spPr>
        <p:txBody>
          <a:bodyPr/>
          <a:lstStyle/>
          <a:p>
            <a:r>
              <a:rPr lang="zh-CN" altLang="en-US" sz="2400" dirty="0"/>
              <a:t>声明显式函数覆盖，在编译期间发现未覆盖的错误。</a:t>
            </a:r>
            <a:endParaRPr lang="en-US" altLang="zh-CN" sz="2400" dirty="0"/>
          </a:p>
          <a:p>
            <a:r>
              <a:rPr lang="zh-CN" altLang="en-US" sz="2400" dirty="0"/>
              <a:t>运用显式覆盖，编译器会检查派生类中声明</a:t>
            </a:r>
            <a:r>
              <a:rPr lang="en-US" altLang="zh-CN" sz="2400" dirty="0" err="1"/>
              <a:t>overrid</a:t>
            </a:r>
            <a:r>
              <a:rPr lang="zh-CN" altLang="en-US" sz="2400" dirty="0"/>
              <a:t>的函数，在基类中是否存在可被覆盖的虚函数，若不存在，则会报错。</a:t>
            </a:r>
            <a:endParaRPr lang="en-US" altLang="zh-CN" sz="2400" dirty="0"/>
          </a:p>
          <a:p>
            <a:r>
              <a:rPr lang="zh-CN" altLang="en-US" sz="2400" dirty="0"/>
              <a:t>例：</a:t>
            </a:r>
          </a:p>
          <a:p>
            <a:pPr marL="411162" lvl="1" indent="0">
              <a:buNone/>
            </a:pPr>
            <a:r>
              <a:rPr lang="en-US" altLang="zh-CN" sz="2000" dirty="0">
                <a:solidFill>
                  <a:srgbClr val="7F0055"/>
                </a:solidFill>
              </a:rPr>
              <a:t>struct</a:t>
            </a:r>
            <a:r>
              <a:rPr lang="en-US" altLang="zh-CN" sz="2000" dirty="0">
                <a:solidFill>
                  <a:srgbClr val="000000"/>
                </a:solidFill>
              </a:rPr>
              <a:t> </a:t>
            </a:r>
            <a:r>
              <a:rPr lang="en-US" altLang="zh-CN" sz="2000" u="sng" dirty="0">
                <a:solidFill>
                  <a:srgbClr val="000000"/>
                </a:solidFill>
              </a:rPr>
              <a:t>Base {</a:t>
            </a:r>
          </a:p>
          <a:p>
            <a:pPr marL="411162" lvl="1" indent="0">
              <a:buNone/>
            </a:pPr>
            <a:r>
              <a:rPr lang="en-US" altLang="zh-CN" sz="2000" dirty="0">
                <a:solidFill>
                  <a:srgbClr val="000000"/>
                </a:solidFill>
              </a:rPr>
              <a:t>    </a:t>
            </a:r>
            <a:r>
              <a:rPr lang="en-US" altLang="zh-CN" sz="2000" dirty="0">
                <a:solidFill>
                  <a:srgbClr val="7F0055"/>
                </a:solidFill>
              </a:rPr>
              <a:t>virtual</a:t>
            </a:r>
            <a:r>
              <a:rPr lang="en-US" altLang="zh-CN" sz="2000" dirty="0">
                <a:solidFill>
                  <a:srgbClr val="000000"/>
                </a:solidFill>
              </a:rPr>
              <a:t> </a:t>
            </a:r>
            <a:r>
              <a:rPr lang="en-US" altLang="zh-CN" sz="2000" dirty="0">
                <a:solidFill>
                  <a:srgbClr val="7F0055"/>
                </a:solidFill>
              </a:rPr>
              <a:t>void</a:t>
            </a:r>
            <a:r>
              <a:rPr lang="en-US" altLang="zh-CN" sz="2000" dirty="0">
                <a:solidFill>
                  <a:srgbClr val="000000"/>
                </a:solidFill>
              </a:rPr>
              <a:t> </a:t>
            </a:r>
            <a:r>
              <a:rPr lang="en-US" altLang="zh-CN" sz="2000" dirty="0" err="1">
                <a:solidFill>
                  <a:srgbClr val="000000"/>
                </a:solidFill>
              </a:rPr>
              <a:t>some_func</a:t>
            </a:r>
            <a:r>
              <a:rPr lang="en-US" altLang="zh-CN" sz="2000" dirty="0">
                <a:solidFill>
                  <a:srgbClr val="000000"/>
                </a:solidFill>
              </a:rPr>
              <a:t>(</a:t>
            </a:r>
            <a:r>
              <a:rPr lang="en-US" altLang="zh-CN" sz="2000" dirty="0">
                <a:solidFill>
                  <a:srgbClr val="7F0055"/>
                </a:solidFill>
              </a:rPr>
              <a:t>float</a:t>
            </a:r>
            <a:r>
              <a:rPr lang="en-US" altLang="zh-CN" sz="2000" dirty="0">
                <a:solidFill>
                  <a:srgbClr val="000000"/>
                </a:solidFill>
              </a:rPr>
              <a:t>);</a:t>
            </a:r>
          </a:p>
          <a:p>
            <a:pPr marL="411162" lvl="1" indent="0">
              <a:buNone/>
            </a:pPr>
            <a:r>
              <a:rPr lang="en-US" altLang="zh-CN" sz="2000" dirty="0">
                <a:solidFill>
                  <a:srgbClr val="000000"/>
                </a:solidFill>
              </a:rPr>
              <a:t>};</a:t>
            </a:r>
            <a:endParaRPr lang="zh-CN" altLang="en-US" sz="2000" dirty="0">
              <a:solidFill>
                <a:srgbClr val="000000"/>
              </a:solidFill>
            </a:endParaRPr>
          </a:p>
          <a:p>
            <a:pPr marL="411162" lvl="1" indent="0">
              <a:buNone/>
            </a:pPr>
            <a:r>
              <a:rPr lang="en-US" altLang="zh-CN" sz="2000" dirty="0">
                <a:solidFill>
                  <a:srgbClr val="7F0055"/>
                </a:solidFill>
              </a:rPr>
              <a:t>struct</a:t>
            </a:r>
            <a:r>
              <a:rPr lang="en-US" altLang="zh-CN" sz="2000" dirty="0">
                <a:solidFill>
                  <a:srgbClr val="000000"/>
                </a:solidFill>
              </a:rPr>
              <a:t> </a:t>
            </a:r>
            <a:r>
              <a:rPr lang="en-US" altLang="zh-CN" sz="2000" u="sng" dirty="0">
                <a:solidFill>
                  <a:srgbClr val="000000"/>
                </a:solidFill>
              </a:rPr>
              <a:t>Derived : </a:t>
            </a:r>
            <a:r>
              <a:rPr lang="en-US" altLang="zh-CN" sz="2000" u="sng" dirty="0">
                <a:solidFill>
                  <a:srgbClr val="005032"/>
                </a:solidFill>
              </a:rPr>
              <a:t>Base</a:t>
            </a:r>
            <a:r>
              <a:rPr lang="en-US" altLang="zh-CN" sz="2000" u="sng" dirty="0">
                <a:solidFill>
                  <a:srgbClr val="000000"/>
                </a:solidFill>
              </a:rPr>
              <a:t> {</a:t>
            </a:r>
          </a:p>
          <a:p>
            <a:pPr marL="411162" lvl="1" indent="0">
              <a:buNone/>
            </a:pPr>
            <a:r>
              <a:rPr lang="en-US" altLang="zh-CN" sz="2000" dirty="0">
                <a:solidFill>
                  <a:srgbClr val="000000"/>
                </a:solidFill>
              </a:rPr>
              <a:t>    </a:t>
            </a:r>
            <a:r>
              <a:rPr lang="en-US" altLang="zh-CN" sz="2000" dirty="0">
                <a:solidFill>
                  <a:srgbClr val="7F0055"/>
                </a:solidFill>
              </a:rPr>
              <a:t>virtual</a:t>
            </a:r>
            <a:r>
              <a:rPr lang="en-US" altLang="zh-CN" sz="2000" dirty="0">
                <a:solidFill>
                  <a:srgbClr val="000000"/>
                </a:solidFill>
              </a:rPr>
              <a:t> </a:t>
            </a:r>
            <a:r>
              <a:rPr lang="en-US" altLang="zh-CN" sz="2000" dirty="0">
                <a:solidFill>
                  <a:srgbClr val="7F0055"/>
                </a:solidFill>
              </a:rPr>
              <a:t>void</a:t>
            </a:r>
            <a:r>
              <a:rPr lang="en-US" altLang="zh-CN" sz="2000" dirty="0">
                <a:solidFill>
                  <a:srgbClr val="000000"/>
                </a:solidFill>
              </a:rPr>
              <a:t> </a:t>
            </a:r>
            <a:r>
              <a:rPr lang="en-US" altLang="zh-CN" sz="2000" dirty="0" err="1">
                <a:solidFill>
                  <a:srgbClr val="000000"/>
                </a:solidFill>
              </a:rPr>
              <a:t>some_func</a:t>
            </a:r>
            <a:r>
              <a:rPr lang="en-US" altLang="zh-CN" sz="2000" dirty="0">
                <a:solidFill>
                  <a:srgbClr val="000000"/>
                </a:solidFill>
              </a:rPr>
              <a:t>(</a:t>
            </a:r>
            <a:r>
              <a:rPr lang="en-US" altLang="zh-CN" sz="2000" dirty="0">
                <a:solidFill>
                  <a:srgbClr val="7F0055"/>
                </a:solidFill>
              </a:rPr>
              <a:t>int</a:t>
            </a:r>
            <a:r>
              <a:rPr lang="en-US" altLang="zh-CN" sz="2000" dirty="0">
                <a:solidFill>
                  <a:srgbClr val="000000"/>
                </a:solidFill>
              </a:rPr>
              <a:t>) </a:t>
            </a:r>
            <a:r>
              <a:rPr lang="en-US" altLang="zh-CN" sz="2000" dirty="0">
                <a:solidFill>
                  <a:srgbClr val="7F0055"/>
                </a:solidFill>
              </a:rPr>
              <a:t>override</a:t>
            </a:r>
            <a:r>
              <a:rPr lang="en-US" altLang="zh-CN" sz="2000" dirty="0">
                <a:solidFill>
                  <a:srgbClr val="000000"/>
                </a:solidFill>
              </a:rPr>
              <a:t>;   </a:t>
            </a:r>
            <a:r>
              <a:rPr lang="en-US" altLang="zh-CN" sz="2000" dirty="0">
                <a:solidFill>
                  <a:srgbClr val="3F7F5F"/>
                </a:solidFill>
              </a:rPr>
              <a:t>// </a:t>
            </a:r>
            <a:r>
              <a:rPr lang="zh-CN" altLang="en-US" sz="2000" dirty="0">
                <a:solidFill>
                  <a:srgbClr val="3F7F5F"/>
                </a:solidFill>
              </a:rPr>
              <a:t>错误：</a:t>
            </a:r>
            <a:r>
              <a:rPr lang="en-US" altLang="zh-CN" sz="2000" dirty="0">
                <a:solidFill>
                  <a:srgbClr val="3F7F5F"/>
                </a:solidFill>
              </a:rPr>
              <a:t>Derive::</a:t>
            </a:r>
            <a:r>
              <a:rPr lang="en-US" altLang="zh-CN" sz="2000" dirty="0" err="1">
                <a:solidFill>
                  <a:srgbClr val="3F7F5F"/>
                </a:solidFill>
              </a:rPr>
              <a:t>some_func</a:t>
            </a:r>
            <a:r>
              <a:rPr lang="zh-CN" altLang="en-US" sz="2000" dirty="0">
                <a:solidFill>
                  <a:srgbClr val="3F7F5F"/>
                </a:solidFill>
              </a:rPr>
              <a:t>並沒有</a:t>
            </a:r>
            <a:r>
              <a:rPr lang="en-US" altLang="zh-CN" sz="2000" dirty="0">
                <a:solidFill>
                  <a:srgbClr val="3F7F5F"/>
                </a:solidFill>
              </a:rPr>
              <a:t>override Base::</a:t>
            </a:r>
            <a:r>
              <a:rPr lang="en-US" altLang="zh-CN" sz="2000" dirty="0" err="1">
                <a:solidFill>
                  <a:srgbClr val="3F7F5F"/>
                </a:solidFill>
              </a:rPr>
              <a:t>some_func</a:t>
            </a:r>
            <a:endParaRPr lang="en-US" altLang="zh-CN" sz="2000" dirty="0">
              <a:solidFill>
                <a:srgbClr val="3F7F5F"/>
              </a:solidFill>
            </a:endParaRPr>
          </a:p>
          <a:p>
            <a:pPr marL="411162" lvl="1" indent="0">
              <a:buNone/>
            </a:pPr>
            <a:r>
              <a:rPr lang="en-US" altLang="zh-CN" sz="2000" dirty="0">
                <a:solidFill>
                  <a:srgbClr val="000000"/>
                </a:solidFill>
              </a:rPr>
              <a:t>    </a:t>
            </a:r>
            <a:r>
              <a:rPr lang="en-US" altLang="zh-CN" sz="2000" dirty="0">
                <a:solidFill>
                  <a:srgbClr val="7F0055"/>
                </a:solidFill>
              </a:rPr>
              <a:t>virtual</a:t>
            </a:r>
            <a:r>
              <a:rPr lang="en-US" altLang="zh-CN" sz="2000" dirty="0">
                <a:solidFill>
                  <a:srgbClr val="000000"/>
                </a:solidFill>
              </a:rPr>
              <a:t> </a:t>
            </a:r>
            <a:r>
              <a:rPr lang="en-US" altLang="zh-CN" sz="2000" dirty="0">
                <a:solidFill>
                  <a:srgbClr val="7F0055"/>
                </a:solidFill>
              </a:rPr>
              <a:t>void</a:t>
            </a:r>
            <a:r>
              <a:rPr lang="en-US" altLang="zh-CN" sz="2000" dirty="0">
                <a:solidFill>
                  <a:srgbClr val="000000"/>
                </a:solidFill>
              </a:rPr>
              <a:t> </a:t>
            </a:r>
            <a:r>
              <a:rPr lang="en-US" altLang="zh-CN" sz="2000" dirty="0" err="1">
                <a:solidFill>
                  <a:srgbClr val="000000"/>
                </a:solidFill>
              </a:rPr>
              <a:t>some_func</a:t>
            </a:r>
            <a:r>
              <a:rPr lang="en-US" altLang="zh-CN" sz="2000" dirty="0">
                <a:solidFill>
                  <a:srgbClr val="000000"/>
                </a:solidFill>
              </a:rPr>
              <a:t>(</a:t>
            </a:r>
            <a:r>
              <a:rPr lang="en-US" altLang="zh-CN" sz="2000" dirty="0">
                <a:solidFill>
                  <a:srgbClr val="7F0055"/>
                </a:solidFill>
              </a:rPr>
              <a:t>float</a:t>
            </a:r>
            <a:r>
              <a:rPr lang="en-US" altLang="zh-CN" sz="2000" dirty="0">
                <a:solidFill>
                  <a:srgbClr val="000000"/>
                </a:solidFill>
              </a:rPr>
              <a:t>) </a:t>
            </a:r>
            <a:r>
              <a:rPr lang="en-US" altLang="zh-CN" sz="2000" dirty="0">
                <a:solidFill>
                  <a:srgbClr val="7F0055"/>
                </a:solidFill>
              </a:rPr>
              <a:t>override</a:t>
            </a:r>
            <a:r>
              <a:rPr lang="en-US" altLang="zh-CN" sz="2000" dirty="0">
                <a:solidFill>
                  <a:srgbClr val="000000"/>
                </a:solidFill>
              </a:rPr>
              <a:t>; </a:t>
            </a:r>
            <a:r>
              <a:rPr lang="en-US" altLang="zh-CN" sz="2000" dirty="0">
                <a:solidFill>
                  <a:srgbClr val="3F7F5F"/>
                </a:solidFill>
              </a:rPr>
              <a:t>// </a:t>
            </a:r>
            <a:r>
              <a:rPr lang="zh-CN" altLang="en-US" sz="2000" dirty="0">
                <a:solidFill>
                  <a:srgbClr val="3F7F5F"/>
                </a:solidFill>
              </a:rPr>
              <a:t>正确</a:t>
            </a:r>
          </a:p>
          <a:p>
            <a:pPr marL="411162" lvl="1" indent="0">
              <a:buNone/>
            </a:pPr>
            <a:r>
              <a:rPr lang="en-US" altLang="zh-CN" sz="2000" dirty="0">
                <a:solidFill>
                  <a:srgbClr val="000000"/>
                </a:solidFill>
              </a:rPr>
              <a:t>};</a:t>
            </a:r>
            <a:endParaRPr lang="zh-CN" altLang="en-US" sz="2000" dirty="0"/>
          </a:p>
          <a:p>
            <a:endParaRPr lang="zh-CN" altLang="en-US" sz="2400" dirty="0"/>
          </a:p>
        </p:txBody>
      </p:sp>
      <p:sp>
        <p:nvSpPr>
          <p:cNvPr id="2" name="灯片编号占位符 1">
            <a:extLst>
              <a:ext uri="{FF2B5EF4-FFF2-40B4-BE49-F238E27FC236}">
                <a16:creationId xmlns:a16="http://schemas.microsoft.com/office/drawing/2014/main" id="{76F5864E-960E-40C5-8B19-82015E0281AC}"/>
              </a:ext>
            </a:extLst>
          </p:cNvPr>
          <p:cNvSpPr>
            <a:spLocks noGrp="1"/>
          </p:cNvSpPr>
          <p:nvPr>
            <p:ph type="sldNum" sz="quarter" idx="4"/>
          </p:nvPr>
        </p:nvSpPr>
        <p:spPr/>
        <p:txBody>
          <a:bodyPr/>
          <a:lstStyle/>
          <a:p>
            <a:fld id="{C42A670E-4250-4C14-8323-982480E0B347}" type="slidenum">
              <a:rPr lang="zh-CN" altLang="en-US" smtClean="0"/>
              <a:pPr/>
              <a:t>53</a:t>
            </a:fld>
            <a:endParaRPr lang="zh-CN" altLang="en-US"/>
          </a:p>
        </p:txBody>
      </p:sp>
    </p:spTree>
    <p:extLst>
      <p:ext uri="{BB962C8B-B14F-4D97-AF65-F5344CB8AC3E}">
        <p14:creationId xmlns:p14="http://schemas.microsoft.com/office/powerpoint/2010/main" val="4391156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final</a:t>
            </a:r>
            <a:endParaRPr lang="zh-CN" altLang="en-US" dirty="0"/>
          </a:p>
        </p:txBody>
      </p:sp>
      <p:sp>
        <p:nvSpPr>
          <p:cNvPr id="3" name="内容占位符 2"/>
          <p:cNvSpPr>
            <a:spLocks noGrp="1"/>
          </p:cNvSpPr>
          <p:nvPr>
            <p:ph idx="1"/>
          </p:nvPr>
        </p:nvSpPr>
        <p:spPr/>
        <p:txBody>
          <a:bodyPr/>
          <a:lstStyle/>
          <a:p>
            <a:pPr marL="109537" indent="0">
              <a:buNone/>
            </a:pPr>
            <a:r>
              <a:rPr lang="zh-CN" altLang="en-US" dirty="0"/>
              <a:t>用来避免类被继承，或是基类的函数被覆盖</a:t>
            </a:r>
            <a:endParaRPr lang="en-US" altLang="zh-CN" dirty="0"/>
          </a:p>
        </p:txBody>
      </p:sp>
      <p:sp>
        <p:nvSpPr>
          <p:cNvPr id="4" name="灯片编号占位符 3">
            <a:extLst>
              <a:ext uri="{FF2B5EF4-FFF2-40B4-BE49-F238E27FC236}">
                <a16:creationId xmlns:a16="http://schemas.microsoft.com/office/drawing/2014/main" id="{C877434D-CF33-4379-A07B-8032FA21AE75}"/>
              </a:ext>
            </a:extLst>
          </p:cNvPr>
          <p:cNvSpPr>
            <a:spLocks noGrp="1"/>
          </p:cNvSpPr>
          <p:nvPr>
            <p:ph type="sldNum" sz="quarter" idx="4"/>
          </p:nvPr>
        </p:nvSpPr>
        <p:spPr/>
        <p:txBody>
          <a:bodyPr/>
          <a:lstStyle/>
          <a:p>
            <a:fld id="{C42A670E-4250-4C14-8323-982480E0B347}" type="slidenum">
              <a:rPr lang="zh-CN" altLang="en-US" smtClean="0"/>
              <a:pPr/>
              <a:t>54</a:t>
            </a:fld>
            <a:endParaRPr lang="zh-CN" altLang="en-US"/>
          </a:p>
        </p:txBody>
      </p:sp>
    </p:spTree>
    <p:extLst>
      <p:ext uri="{BB962C8B-B14F-4D97-AF65-F5344CB8AC3E}">
        <p14:creationId xmlns:p14="http://schemas.microsoft.com/office/powerpoint/2010/main" val="13963228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9BFB081E-C528-4BA1-837C-9D19A20D8B85}"/>
              </a:ext>
            </a:extLst>
          </p:cNvPr>
          <p:cNvSpPr>
            <a:spLocks noGrp="1"/>
          </p:cNvSpPr>
          <p:nvPr>
            <p:ph type="title"/>
          </p:nvPr>
        </p:nvSpPr>
        <p:spPr/>
        <p:txBody>
          <a:bodyPr/>
          <a:lstStyle/>
          <a:p>
            <a:r>
              <a:rPr lang="zh-CN" altLang="en-US" dirty="0"/>
              <a:t>例：</a:t>
            </a:r>
            <a:r>
              <a:rPr lang="en-US" altLang="zh-CN" dirty="0"/>
              <a:t>final</a:t>
            </a:r>
            <a:r>
              <a:rPr lang="zh-CN" altLang="en-US" dirty="0"/>
              <a:t>类和</a:t>
            </a:r>
            <a:r>
              <a:rPr lang="en-US" altLang="zh-CN" dirty="0"/>
              <a:t>final</a:t>
            </a:r>
            <a:r>
              <a:rPr lang="zh-CN" altLang="en-US" dirty="0"/>
              <a:t>函数</a:t>
            </a:r>
          </a:p>
        </p:txBody>
      </p:sp>
      <p:sp>
        <p:nvSpPr>
          <p:cNvPr id="8" name="内容占位符 7">
            <a:extLst>
              <a:ext uri="{FF2B5EF4-FFF2-40B4-BE49-F238E27FC236}">
                <a16:creationId xmlns:a16="http://schemas.microsoft.com/office/drawing/2014/main" id="{E9C7BA94-F3D1-495E-9FDC-82A4219DE7D8}"/>
              </a:ext>
            </a:extLst>
          </p:cNvPr>
          <p:cNvSpPr>
            <a:spLocks noGrp="1"/>
          </p:cNvSpPr>
          <p:nvPr>
            <p:ph idx="1"/>
          </p:nvPr>
        </p:nvSpPr>
        <p:spPr>
          <a:xfrm>
            <a:off x="1201043" y="1196752"/>
            <a:ext cx="10384532" cy="5377086"/>
          </a:xfrm>
        </p:spPr>
        <p:txBody>
          <a:bodyPr/>
          <a:lstStyle/>
          <a:p>
            <a:r>
              <a:rPr lang="en-US" altLang="zh-CN" dirty="0"/>
              <a:t>struct Base1 final { };</a:t>
            </a:r>
          </a:p>
          <a:p>
            <a:r>
              <a:rPr lang="en-US" altLang="zh-CN" dirty="0"/>
              <a:t> </a:t>
            </a:r>
          </a:p>
          <a:p>
            <a:r>
              <a:rPr lang="en-US" altLang="zh-CN" dirty="0"/>
              <a:t>struct Derived1 : Base1 { }; // </a:t>
            </a:r>
            <a:r>
              <a:rPr lang="zh-CN" altLang="en-US" dirty="0"/>
              <a:t>编译错误：</a:t>
            </a:r>
            <a:r>
              <a:rPr lang="en-US" altLang="zh-CN" dirty="0"/>
              <a:t>Base1</a:t>
            </a:r>
            <a:r>
              <a:rPr lang="zh-CN" altLang="en-US" dirty="0"/>
              <a:t>为</a:t>
            </a:r>
            <a:r>
              <a:rPr lang="en-US" altLang="zh-CN" dirty="0"/>
              <a:t>final</a:t>
            </a:r>
            <a:r>
              <a:rPr lang="zh-CN" altLang="en-US" dirty="0"/>
              <a:t>，不允许被继承</a:t>
            </a:r>
          </a:p>
          <a:p>
            <a:r>
              <a:rPr lang="zh-CN" altLang="en-US" dirty="0"/>
              <a:t> </a:t>
            </a:r>
          </a:p>
          <a:p>
            <a:r>
              <a:rPr lang="en-US" altLang="zh-CN" dirty="0"/>
              <a:t>struct Base2 {</a:t>
            </a:r>
          </a:p>
          <a:p>
            <a:r>
              <a:rPr lang="en-US" altLang="zh-CN" dirty="0"/>
              <a:t>    virtual void f() final;</a:t>
            </a:r>
          </a:p>
          <a:p>
            <a:r>
              <a:rPr lang="en-US" altLang="zh-CN" dirty="0"/>
              <a:t>};</a:t>
            </a:r>
          </a:p>
          <a:p>
            <a:r>
              <a:rPr lang="en-US" altLang="zh-CN" dirty="0"/>
              <a:t> </a:t>
            </a:r>
          </a:p>
          <a:p>
            <a:r>
              <a:rPr lang="en-US" altLang="zh-CN" dirty="0"/>
              <a:t>struct Derived2 : Base2 {</a:t>
            </a:r>
          </a:p>
          <a:p>
            <a:r>
              <a:rPr lang="en-US" altLang="zh-CN" dirty="0"/>
              <a:t>    void f(); // </a:t>
            </a:r>
            <a:r>
              <a:rPr lang="zh-CN" altLang="en-US" dirty="0"/>
              <a:t>编译错误：</a:t>
            </a:r>
            <a:r>
              <a:rPr lang="en-US" altLang="zh-CN" dirty="0"/>
              <a:t>Base2::f </a:t>
            </a:r>
            <a:r>
              <a:rPr lang="zh-CN" altLang="en-US" dirty="0"/>
              <a:t>为</a:t>
            </a:r>
            <a:r>
              <a:rPr lang="en-US" altLang="zh-CN" dirty="0"/>
              <a:t>final</a:t>
            </a:r>
            <a:r>
              <a:rPr lang="zh-CN" altLang="en-US" dirty="0"/>
              <a:t>，不允许被覆盖</a:t>
            </a:r>
          </a:p>
          <a:p>
            <a:r>
              <a:rPr lang="en-US" altLang="zh-CN" dirty="0"/>
              <a:t>};</a:t>
            </a:r>
            <a:endParaRPr lang="zh-CN" altLang="en-US" dirty="0"/>
          </a:p>
          <a:p>
            <a:endParaRPr lang="zh-CN" altLang="en-US" dirty="0"/>
          </a:p>
        </p:txBody>
      </p:sp>
    </p:spTree>
    <p:extLst>
      <p:ext uri="{BB962C8B-B14F-4D97-AF65-F5344CB8AC3E}">
        <p14:creationId xmlns:p14="http://schemas.microsoft.com/office/powerpoint/2010/main" val="29462069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xfrm>
            <a:off x="609600" y="1412875"/>
            <a:ext cx="2751138" cy="590550"/>
          </a:xfrm>
        </p:spPr>
        <p:txBody>
          <a:bodyPr/>
          <a:lstStyle/>
          <a:p>
            <a:pPr eaLnBrk="1" hangingPunct="1"/>
            <a:r>
              <a:rPr lang="zh-CN" altLang="en-US">
                <a:solidFill>
                  <a:srgbClr val="003399"/>
                </a:solidFill>
              </a:rPr>
              <a:t>小结</a:t>
            </a:r>
          </a:p>
        </p:txBody>
      </p:sp>
      <p:sp>
        <p:nvSpPr>
          <p:cNvPr id="51203" name="内容占位符 2"/>
          <p:cNvSpPr>
            <a:spLocks noGrp="1"/>
          </p:cNvSpPr>
          <p:nvPr>
            <p:ph idx="1"/>
          </p:nvPr>
        </p:nvSpPr>
        <p:spPr>
          <a:xfrm>
            <a:off x="609599" y="2349500"/>
            <a:ext cx="10384531" cy="3671888"/>
          </a:xfrm>
        </p:spPr>
        <p:txBody>
          <a:bodyPr/>
          <a:lstStyle/>
          <a:p>
            <a:pPr eaLnBrk="1" hangingPunct="1">
              <a:spcBef>
                <a:spcPts val="1200"/>
              </a:spcBef>
            </a:pPr>
            <a:r>
              <a:rPr lang="zh-CN" altLang="en-US" sz="2400"/>
              <a:t>主要内容</a:t>
            </a:r>
          </a:p>
          <a:p>
            <a:pPr lvl="1" eaLnBrk="1" hangingPunct="1">
              <a:spcBef>
                <a:spcPts val="1200"/>
              </a:spcBef>
            </a:pPr>
            <a:r>
              <a:rPr lang="zh-CN" altLang="en-US" sz="2000"/>
              <a:t>多态性的概念、运算符重载、虚函数、纯虚函数、抽象类、</a:t>
            </a:r>
            <a:r>
              <a:rPr lang="en-US" altLang="zh-CN" sz="2000"/>
              <a:t>override </a:t>
            </a:r>
            <a:r>
              <a:rPr lang="zh-CN" altLang="en-US" sz="2000"/>
              <a:t>和 </a:t>
            </a:r>
            <a:r>
              <a:rPr lang="en-US" altLang="zh-CN" sz="2000"/>
              <a:t>final</a:t>
            </a:r>
            <a:endParaRPr lang="en-US" altLang="zh-CN" sz="2400"/>
          </a:p>
          <a:p>
            <a:pPr eaLnBrk="1" hangingPunct="1">
              <a:spcBef>
                <a:spcPts val="1200"/>
              </a:spcBef>
            </a:pPr>
            <a:r>
              <a:rPr lang="zh-CN" altLang="en-US" sz="2400"/>
              <a:t>达到的目标</a:t>
            </a:r>
          </a:p>
          <a:p>
            <a:pPr lvl="1" eaLnBrk="1" hangingPunct="1">
              <a:spcBef>
                <a:spcPts val="1200"/>
              </a:spcBef>
            </a:pPr>
            <a:r>
              <a:rPr lang="zh-CN" altLang="en-US" sz="2000"/>
              <a:t>掌握运算符重载原理和方法</a:t>
            </a:r>
          </a:p>
          <a:p>
            <a:pPr lvl="1" eaLnBrk="1" hangingPunct="1">
              <a:spcBef>
                <a:spcPts val="1200"/>
              </a:spcBef>
            </a:pPr>
            <a:r>
              <a:rPr lang="zh-CN" altLang="en-US" sz="2000"/>
              <a:t>理解动态多态性的原理，掌握通过虚函数实现的多态性的方法</a:t>
            </a:r>
          </a:p>
          <a:p>
            <a:pPr lvl="1" eaLnBrk="1" hangingPunct="1">
              <a:spcBef>
                <a:spcPts val="1200"/>
              </a:spcBef>
            </a:pPr>
            <a:r>
              <a:rPr lang="zh-CN" altLang="en-US" sz="2000"/>
              <a:t>掌握纯虚函数和抽象类的概念和设计方法</a:t>
            </a:r>
          </a:p>
        </p:txBody>
      </p:sp>
      <p:sp>
        <p:nvSpPr>
          <p:cNvPr id="2" name="灯片编号占位符 1">
            <a:extLst>
              <a:ext uri="{FF2B5EF4-FFF2-40B4-BE49-F238E27FC236}">
                <a16:creationId xmlns:a16="http://schemas.microsoft.com/office/drawing/2014/main" id="{7A10BC6D-6C0F-405A-B209-5EA77C8C75B8}"/>
              </a:ext>
            </a:extLst>
          </p:cNvPr>
          <p:cNvSpPr>
            <a:spLocks noGrp="1"/>
          </p:cNvSpPr>
          <p:nvPr>
            <p:ph type="sldNum" sz="quarter" idx="12"/>
          </p:nvPr>
        </p:nvSpPr>
        <p:spPr/>
        <p:txBody>
          <a:bodyPr/>
          <a:lstStyle/>
          <a:p>
            <a:fld id="{F800F21B-5F9E-4DB6-92EB-09A53204F80C}" type="slidenum">
              <a:rPr lang="en-US" altLang="zh-CN" smtClean="0"/>
              <a:pPr/>
              <a:t>56</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语言程序设计V4">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都市">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1_C++语言程序设计V4">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都市">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C++语言程序设计V4</Template>
  <TotalTime>5699</TotalTime>
  <Words>4240</Words>
  <Application>Microsoft Office PowerPoint</Application>
  <PresentationFormat>自定义</PresentationFormat>
  <Paragraphs>602</Paragraphs>
  <Slides>56</Slides>
  <Notes>13</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56</vt:i4>
      </vt:variant>
    </vt:vector>
  </HeadingPairs>
  <TitlesOfParts>
    <vt:vector size="70" baseType="lpstr">
      <vt:lpstr>方正姚体</vt:lpstr>
      <vt:lpstr>隶书</vt:lpstr>
      <vt:lpstr>宋体</vt:lpstr>
      <vt:lpstr>微软雅黑</vt:lpstr>
      <vt:lpstr>Arial</vt:lpstr>
      <vt:lpstr>Consolas</vt:lpstr>
      <vt:lpstr>Courier New</vt:lpstr>
      <vt:lpstr>Georgia</vt:lpstr>
      <vt:lpstr>Times New Roman</vt:lpstr>
      <vt:lpstr>Trebuchet MS</vt:lpstr>
      <vt:lpstr>Wingdings</vt:lpstr>
      <vt:lpstr>Wingdings 2</vt:lpstr>
      <vt:lpstr>C++语言程序设计V4</vt:lpstr>
      <vt:lpstr>1_C++语言程序设计V4</vt:lpstr>
      <vt:lpstr>第 8 章 多态性</vt:lpstr>
      <vt:lpstr>目录</vt:lpstr>
      <vt:lpstr>运算符重载概述</vt:lpstr>
      <vt:lpstr>思考</vt:lpstr>
      <vt:lpstr>运算符重载的意义</vt:lpstr>
      <vt:lpstr>运算符重载的规定</vt:lpstr>
      <vt:lpstr>运算符重载为成员函数</vt:lpstr>
      <vt:lpstr>例8-1 复数类加减法运算重载为成员函数</vt:lpstr>
      <vt:lpstr>例8-1复数类加减法运算重载为成员函数</vt:lpstr>
      <vt:lpstr>例8-1复数类加减法运算重载为成员函数</vt:lpstr>
      <vt:lpstr>例8-1复数类加减法运算重载为成员函数</vt:lpstr>
      <vt:lpstr>重载为类成员的运算符函数定义形式</vt:lpstr>
      <vt:lpstr>双目运算符重载规则</vt:lpstr>
      <vt:lpstr>思考：</vt:lpstr>
      <vt:lpstr>例8-2重载前置++和后置++为时钟类成员函数</vt:lpstr>
      <vt:lpstr>例8-2重载前置++和后置++为时钟类成员函数</vt:lpstr>
      <vt:lpstr>例8-2重载前置++和后置++为时钟类成员函数</vt:lpstr>
      <vt:lpstr>例8-2重载前置++和后置++为时钟类成员函数</vt:lpstr>
      <vt:lpstr>例8-2重载前置++和后置++为时钟类成员函数</vt:lpstr>
      <vt:lpstr>前置单目运算符重载规则</vt:lpstr>
      <vt:lpstr>后置单目运算符 ++和--重载规则</vt:lpstr>
      <vt:lpstr>运算符重载为非成员函数</vt:lpstr>
      <vt:lpstr>例8-3  重载Complex的加减法和“&lt;&lt;”运算符为非成员函数</vt:lpstr>
      <vt:lpstr>例8-3 重载复数的加减法和“&lt;&lt;”运算符为非成员函数</vt:lpstr>
      <vt:lpstr>例8-3 重载复数的加减法和“&lt;&lt;”运算符为非成员函数</vt:lpstr>
      <vt:lpstr>例8-3 重载复数的加减法和“&lt;&lt;”运算符为非成员函数</vt:lpstr>
      <vt:lpstr>运算符重载为非成员函数的规则</vt:lpstr>
      <vt:lpstr>运算符重载为非成员函数的规则</vt:lpstr>
      <vt:lpstr>虚函数</vt:lpstr>
      <vt:lpstr>例8-4通过虚函数实现运行时多态</vt:lpstr>
      <vt:lpstr>例8-4通过虚函数实现运行时多态</vt:lpstr>
      <vt:lpstr>例8-4通过虚函数实现运行时多态</vt:lpstr>
      <vt:lpstr>例8-4通过虚函数实现运行时多态</vt:lpstr>
      <vt:lpstr>初识虚函数</vt:lpstr>
      <vt:lpstr>虚表与动态绑定</vt:lpstr>
      <vt:lpstr>PowerPoint 演示文稿</vt:lpstr>
      <vt:lpstr>virtual 关键字</vt:lpstr>
      <vt:lpstr>哪些成员函数可以是虚函数</vt:lpstr>
      <vt:lpstr>一般虚函数成员</vt:lpstr>
      <vt:lpstr>虚析构函数</vt:lpstr>
      <vt:lpstr>PowerPoint 演示文稿</vt:lpstr>
      <vt:lpstr>PowerPoint 演示文稿</vt:lpstr>
      <vt:lpstr>PowerPoint 演示文稿</vt:lpstr>
      <vt:lpstr>抽象类</vt:lpstr>
      <vt:lpstr>例8-6 抽象类举例</vt:lpstr>
      <vt:lpstr>例8-6 抽象类举例</vt:lpstr>
      <vt:lpstr>纯虚函数</vt:lpstr>
      <vt:lpstr>抽象类</vt:lpstr>
      <vt:lpstr>抽象类的作用</vt:lpstr>
      <vt:lpstr>override  与 final</vt:lpstr>
      <vt:lpstr>override</vt:lpstr>
      <vt:lpstr>例：因为漏写了const导致未成功覆盖</vt:lpstr>
      <vt:lpstr>显式覆盖的作用</vt:lpstr>
      <vt:lpstr>final</vt:lpstr>
      <vt:lpstr>例：final类和final函数</vt:lpstr>
      <vt:lpstr>小结</vt:lpstr>
    </vt:vector>
  </TitlesOfParts>
  <Company>Tsinghua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第十章 多态性</dc:title>
  <dc:creator>Li Yushan</dc:creator>
  <cp:lastModifiedBy>admin</cp:lastModifiedBy>
  <cp:revision>246</cp:revision>
  <dcterms:created xsi:type="dcterms:W3CDTF">2010-07-23T07:00:59Z</dcterms:created>
  <dcterms:modified xsi:type="dcterms:W3CDTF">2021-03-07T16:39:42Z</dcterms:modified>
</cp:coreProperties>
</file>